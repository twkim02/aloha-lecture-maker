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sldIdLst>
    <p:sldId id="258" r:id="rId2"/>
    <p:sldId id="278" r:id="rId3"/>
    <p:sldId id="282" r:id="rId4"/>
    <p:sldId id="279" r:id="rId5"/>
    <p:sldId id="280" r:id="rId6"/>
    <p:sldId id="283" r:id="rId7"/>
    <p:sldId id="284" r:id="rId8"/>
    <p:sldId id="298" r:id="rId9"/>
    <p:sldId id="303" r:id="rId10"/>
    <p:sldId id="304" r:id="rId11"/>
    <p:sldId id="305" r:id="rId12"/>
    <p:sldId id="306" r:id="rId13"/>
    <p:sldId id="285" r:id="rId14"/>
    <p:sldId id="286" r:id="rId15"/>
    <p:sldId id="287" r:id="rId16"/>
    <p:sldId id="288" r:id="rId17"/>
    <p:sldId id="289" r:id="rId18"/>
    <p:sldId id="307" r:id="rId19"/>
    <p:sldId id="309" r:id="rId20"/>
    <p:sldId id="310" r:id="rId21"/>
    <p:sldId id="316" r:id="rId22"/>
    <p:sldId id="290" r:id="rId23"/>
    <p:sldId id="292" r:id="rId24"/>
    <p:sldId id="293" r:id="rId25"/>
    <p:sldId id="294" r:id="rId26"/>
    <p:sldId id="311" r:id="rId27"/>
    <p:sldId id="312" r:id="rId28"/>
    <p:sldId id="313" r:id="rId29"/>
    <p:sldId id="314" r:id="rId30"/>
    <p:sldId id="315" r:id="rId31"/>
    <p:sldId id="266" r:id="rId32"/>
    <p:sldId id="317" r:id="rId33"/>
    <p:sldId id="267" r:id="rId34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마루 부리OTF 가는" panose="020B0600000101010101" pitchFamily="34" charset="-127"/>
      <p:regular r:id="rId41"/>
    </p:embeddedFont>
    <p:embeddedFont>
      <p:font typeface="마루 부리OTF 굵은" panose="020B0600000101010101" pitchFamily="34" charset="-127"/>
      <p:bold r:id="rId42"/>
    </p:embeddedFont>
    <p:embeddedFont>
      <p:font typeface="마루 부리OTF 아주가는" panose="020B0600000101010101" pitchFamily="34" charset="-127"/>
      <p:regular r:id="rId43"/>
    </p:embeddedFont>
    <p:embeddedFont>
      <p:font typeface="마루 부리OTF 중간" panose="020B0600000101010101" pitchFamily="34" charset="-127"/>
      <p:regular r:id="rId44"/>
    </p:embeddedFont>
    <p:embeddedFont>
      <p:font typeface="맑은 고딕" panose="020B0503020000020004" pitchFamily="34" charset="-127"/>
      <p:regular r:id="rId45"/>
      <p:bold r:id="rId4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C6"/>
    <a:srgbClr val="ECE4F9"/>
    <a:srgbClr val="6826C0"/>
    <a:srgbClr val="F1D9F7"/>
    <a:srgbClr val="A281E3"/>
    <a:srgbClr val="D8D8F0"/>
    <a:srgbClr val="DFF0F0"/>
    <a:srgbClr val="411E86"/>
    <a:srgbClr val="E6E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5E8AC-D12D-4CDF-AB48-9FB9106B15D7}" v="50" dt="2025-05-10T15:58:00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4" autoAdjust="0"/>
  </p:normalViewPr>
  <p:slideViewPr>
    <p:cSldViewPr snapToGrid="0">
      <p:cViewPr>
        <p:scale>
          <a:sx n="75" d="100"/>
          <a:sy n="75" d="100"/>
        </p:scale>
        <p:origin x="97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300" d="100"/>
          <a:sy n="300" d="100"/>
        </p:scale>
        <p:origin x="1152" y="-15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035CC-7918-48BD-BA57-57F0E2EF3882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94BBA-063B-483F-AD13-0B789DD50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08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908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11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94BBA-063B-483F-AD13-0B789DD504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09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F63A8-972B-ECC2-BFF9-57AA5D7DA1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1CAAA-13CE-86E2-9CAC-F9EA5625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4A81B2-C6F3-F12C-506B-D4C59CBD95B2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6D09339-08DF-FB29-D024-5F7FB628FBD2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22D98D-6BA8-70E2-6007-7BBD41B48EF0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5F06D8-3CB9-0691-A0AF-A1931AF7C8C1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22511F4-9359-2FAE-041A-325A2BC10867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76E7DD0-E965-F1D7-10C5-4D58405D6209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ADC4BF-FE32-584A-3BC3-0B1DFB87B194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8295AD6-1EA1-D8F7-7C92-B18363EF00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3FE0DE-AF28-31A2-02B0-E48F52B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5F046-FB8B-E15D-481E-1199DD49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413" y="260289"/>
            <a:ext cx="543465" cy="395319"/>
          </a:xfrm>
        </p:spPr>
        <p:txBody>
          <a:bodyPr/>
          <a:lstStyle/>
          <a:p>
            <a:fld id="{799F3C2E-C46B-4DBF-95A4-B7A6069EE5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6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3EE82-BAA9-28ED-53F9-4F931A8A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749" y="6356349"/>
            <a:ext cx="11545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r>
              <a:rPr lang="en-US" altLang="ko-KR" dirty="0"/>
              <a:t>2023 ALOHA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F162B-8A73-F673-A4AD-AAE8E550C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879" y="192775"/>
            <a:ext cx="510396" cy="38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defRPr>
            </a:lvl1pPr>
          </a:lstStyle>
          <a:p>
            <a:fld id="{799F3C2E-C46B-4DBF-95A4-B7A6069EE53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C74D6D9-55CE-5D6B-3663-19F0ACEE75D5}"/>
              </a:ext>
            </a:extLst>
          </p:cNvPr>
          <p:cNvGrpSpPr/>
          <p:nvPr userDrawn="1"/>
        </p:nvGrpSpPr>
        <p:grpSpPr>
          <a:xfrm>
            <a:off x="225725" y="191278"/>
            <a:ext cx="733245" cy="733245"/>
            <a:chOff x="225725" y="191278"/>
            <a:chExt cx="733245" cy="73324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6FE59A8-3A13-4DBF-848D-0A4B5F9B8F04}"/>
                </a:ext>
              </a:extLst>
            </p:cNvPr>
            <p:cNvCxnSpPr/>
            <p:nvPr userDrawn="1"/>
          </p:nvCxnSpPr>
          <p:spPr>
            <a:xfrm flipV="1">
              <a:off x="353684" y="191278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5A518FA-5657-6C47-1D47-B2BFC20026AC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-53136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321921-3606-5ADE-F485-50A4B9E6E1C8}"/>
              </a:ext>
            </a:extLst>
          </p:cNvPr>
          <p:cNvGrpSpPr/>
          <p:nvPr userDrawn="1"/>
        </p:nvGrpSpPr>
        <p:grpSpPr>
          <a:xfrm rot="10800000">
            <a:off x="11233030" y="5988229"/>
            <a:ext cx="733245" cy="733245"/>
            <a:chOff x="225725" y="2494533"/>
            <a:chExt cx="733245" cy="733245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A82FE0F-27D4-74D7-332C-5C9331F832CD}"/>
                </a:ext>
              </a:extLst>
            </p:cNvPr>
            <p:cNvCxnSpPr/>
            <p:nvPr userDrawn="1"/>
          </p:nvCxnSpPr>
          <p:spPr>
            <a:xfrm flipV="1">
              <a:off x="353684" y="2494533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96DE33B7-835C-5480-6E5F-7A74EEADE2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 flipV="1">
              <a:off x="592348" y="2250119"/>
              <a:ext cx="0" cy="7332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6AD6205D-B609-2452-D290-A4DE110C8E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6" b="10603"/>
          <a:stretch/>
        </p:blipFill>
        <p:spPr>
          <a:xfrm>
            <a:off x="225725" y="6209799"/>
            <a:ext cx="470317" cy="456923"/>
          </a:xfrm>
          <a:prstGeom prst="rect">
            <a:avLst/>
          </a:prstGeom>
        </p:spPr>
      </p:pic>
      <p:sp>
        <p:nvSpPr>
          <p:cNvPr id="38" name="바닥글 개체 틀 4">
            <a:extLst>
              <a:ext uri="{FF2B5EF4-FFF2-40B4-BE49-F238E27FC236}">
                <a16:creationId xmlns:a16="http://schemas.microsoft.com/office/drawing/2014/main" id="{C0E0A9F9-BFED-2416-F40F-DD106DA58DA1}"/>
              </a:ext>
            </a:extLst>
          </p:cNvPr>
          <p:cNvSpPr txBox="1">
            <a:spLocks/>
          </p:cNvSpPr>
          <p:nvPr userDrawn="1"/>
        </p:nvSpPr>
        <p:spPr>
          <a:xfrm>
            <a:off x="5061909" y="136526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4350478-F844-BB21-FA6C-3CC25C1073D8}"/>
              </a:ext>
            </a:extLst>
          </p:cNvPr>
          <p:cNvCxnSpPr>
            <a:cxnSpLocks/>
          </p:cNvCxnSpPr>
          <p:nvPr userDrawn="1"/>
        </p:nvCxnSpPr>
        <p:spPr>
          <a:xfrm>
            <a:off x="3094727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AA7F571-F1CD-87DD-6713-9CCF463C44AB}"/>
              </a:ext>
            </a:extLst>
          </p:cNvPr>
          <p:cNvCxnSpPr>
            <a:cxnSpLocks/>
          </p:cNvCxnSpPr>
          <p:nvPr userDrawn="1"/>
        </p:nvCxnSpPr>
        <p:spPr>
          <a:xfrm flipH="1">
            <a:off x="6673251" y="6547509"/>
            <a:ext cx="2415396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5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94019-F726-1E6D-0E88-10F4330AF42D}"/>
              </a:ext>
            </a:extLst>
          </p:cNvPr>
          <p:cNvSpPr/>
          <p:nvPr/>
        </p:nvSpPr>
        <p:spPr>
          <a:xfrm>
            <a:off x="833536" y="4234933"/>
            <a:ext cx="6420703" cy="267422"/>
          </a:xfrm>
          <a:prstGeom prst="rect">
            <a:avLst/>
          </a:prstGeom>
          <a:gradFill flip="none" rotWithShape="1">
            <a:gsLst>
              <a:gs pos="0">
                <a:srgbClr val="DFF0F0"/>
              </a:gs>
              <a:gs pos="50000">
                <a:srgbClr val="D8D8F0"/>
              </a:gs>
              <a:gs pos="100000">
                <a:srgbClr val="F1D9F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30E43B8-2951-E15D-BD76-7F35D61508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2047305-A02C-DD1E-B312-F3215FD81342}"/>
              </a:ext>
            </a:extLst>
          </p:cNvPr>
          <p:cNvGrpSpPr/>
          <p:nvPr/>
        </p:nvGrpSpPr>
        <p:grpSpPr>
          <a:xfrm>
            <a:off x="722811" y="577310"/>
            <a:ext cx="1932058" cy="533821"/>
            <a:chOff x="1271451" y="2719618"/>
            <a:chExt cx="1932058" cy="53382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7C9B61-52A7-B26F-60AA-D2DC1991375C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001C9F-D26D-C499-FAE9-918B1981B58A}"/>
                </a:ext>
              </a:extLst>
            </p:cNvPr>
            <p:cNvSpPr txBox="1"/>
            <p:nvPr/>
          </p:nvSpPr>
          <p:spPr>
            <a:xfrm>
              <a:off x="1382177" y="2853329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 err="1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중급반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 </a:t>
              </a:r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주차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99FB9E-EA1E-734D-F71F-83B64E922638}"/>
              </a:ext>
            </a:extLst>
          </p:cNvPr>
          <p:cNvSpPr txBox="1"/>
          <p:nvPr/>
        </p:nvSpPr>
        <p:spPr>
          <a:xfrm>
            <a:off x="833537" y="2967335"/>
            <a:ext cx="6532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너비 우선 탐색 </a:t>
            </a:r>
            <a:r>
              <a:rPr lang="en-US" altLang="ko-KR" sz="5400" dirty="0">
                <a:latin typeface="마루 부리OTF 굵은" panose="020B0600000101010101" pitchFamily="34" charset="-127"/>
                <a:ea typeface="마루 부리OTF 굵은" panose="020B0600000101010101" pitchFamily="34" charset="-127"/>
              </a:rPr>
              <a:t>(BFS)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3DC33-A844-11CC-894B-5415B8862189}"/>
              </a:ext>
            </a:extLst>
          </p:cNvPr>
          <p:cNvSpPr txBox="1"/>
          <p:nvPr/>
        </p:nvSpPr>
        <p:spPr>
          <a:xfrm>
            <a:off x="833537" y="3888377"/>
            <a:ext cx="4515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&lt;Breadth First Search&gt;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258861-5C4F-CC0A-9440-242C4BA7EC3B}"/>
              </a:ext>
            </a:extLst>
          </p:cNvPr>
          <p:cNvGrpSpPr/>
          <p:nvPr/>
        </p:nvGrpSpPr>
        <p:grpSpPr>
          <a:xfrm>
            <a:off x="8451668" y="2457795"/>
            <a:ext cx="252549" cy="2044560"/>
            <a:chOff x="8451668" y="2457795"/>
            <a:chExt cx="252549" cy="204456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8E27AB33-5A6B-4634-15D2-D6A12A1E8853}"/>
                </a:ext>
              </a:extLst>
            </p:cNvPr>
            <p:cNvCxnSpPr>
              <a:cxnSpLocks/>
            </p:cNvCxnSpPr>
            <p:nvPr/>
          </p:nvCxnSpPr>
          <p:spPr>
            <a:xfrm>
              <a:off x="8577943" y="2457795"/>
              <a:ext cx="0" cy="204456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759ECAA-C41B-C794-AED6-51B7894A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4368668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8FB0FDD-40B6-D13A-F44C-8817C07CD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1668" y="2592120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3D0126-4B0E-B50A-E06F-BA518166AA18}"/>
              </a:ext>
            </a:extLst>
          </p:cNvPr>
          <p:cNvGrpSpPr/>
          <p:nvPr/>
        </p:nvGrpSpPr>
        <p:grpSpPr>
          <a:xfrm>
            <a:off x="8914323" y="2545157"/>
            <a:ext cx="2324034" cy="422178"/>
            <a:chOff x="8925898" y="2204895"/>
            <a:chExt cx="2324034" cy="42217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297504-9286-A4C0-50E2-E179B34DD0BD}"/>
                </a:ext>
              </a:extLst>
            </p:cNvPr>
            <p:cNvSpPr txBox="1"/>
            <p:nvPr/>
          </p:nvSpPr>
          <p:spPr>
            <a:xfrm>
              <a:off x="9124029" y="2226963"/>
              <a:ext cx="21259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/&lt;</a:t>
              </a:r>
              <a:r>
                <a:rPr lang="ko-KR" altLang="en-US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복습 </a:t>
              </a:r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- </a:t>
              </a:r>
              <a:r>
                <a:rPr lang="ko-KR" altLang="en-US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그래프</a:t>
              </a:r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&gt;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FEE29A-D9E9-DA92-A526-15ACEE0A665F}"/>
                </a:ext>
              </a:extLst>
            </p:cNvPr>
            <p:cNvSpPr txBox="1"/>
            <p:nvPr/>
          </p:nvSpPr>
          <p:spPr>
            <a:xfrm>
              <a:off x="8925898" y="2204895"/>
              <a:ext cx="3465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2p</a:t>
              </a:r>
              <a:endParaRPr lang="ko-KR" altLang="en-US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3113BE-1257-0076-4C02-FA9254B94B58}"/>
              </a:ext>
            </a:extLst>
          </p:cNvPr>
          <p:cNvGrpSpPr/>
          <p:nvPr/>
        </p:nvGrpSpPr>
        <p:grpSpPr>
          <a:xfrm>
            <a:off x="8910316" y="3021267"/>
            <a:ext cx="2057133" cy="449945"/>
            <a:chOff x="8921891" y="2855266"/>
            <a:chExt cx="2057133" cy="44994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6FCEE5E-885A-C1E9-5E11-79268F7A9F64}"/>
                </a:ext>
              </a:extLst>
            </p:cNvPr>
            <p:cNvSpPr txBox="1"/>
            <p:nvPr/>
          </p:nvSpPr>
          <p:spPr>
            <a:xfrm>
              <a:off x="9124029" y="2905101"/>
              <a:ext cx="1854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/&lt;</a:t>
              </a:r>
              <a:r>
                <a:rPr lang="ko-KR" altLang="en-US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복습 </a:t>
              </a:r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- DFS&gt;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1D97A53-70B9-3966-AB5D-07ED56F18C5F}"/>
                </a:ext>
              </a:extLst>
            </p:cNvPr>
            <p:cNvSpPr txBox="1"/>
            <p:nvPr/>
          </p:nvSpPr>
          <p:spPr>
            <a:xfrm>
              <a:off x="8921891" y="2855266"/>
              <a:ext cx="3449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6p</a:t>
              </a:r>
              <a:endParaRPr lang="ko-KR" altLang="en-US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3FA0DCB-837F-EFF8-56E9-BC52A2DC822F}"/>
              </a:ext>
            </a:extLst>
          </p:cNvPr>
          <p:cNvGrpSpPr/>
          <p:nvPr/>
        </p:nvGrpSpPr>
        <p:grpSpPr>
          <a:xfrm>
            <a:off x="8910316" y="3525144"/>
            <a:ext cx="1279677" cy="445154"/>
            <a:chOff x="8921891" y="3538195"/>
            <a:chExt cx="1279677" cy="44515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870063-8E01-A127-F685-6C6CD52D9B60}"/>
                </a:ext>
              </a:extLst>
            </p:cNvPr>
            <p:cNvSpPr txBox="1"/>
            <p:nvPr/>
          </p:nvSpPr>
          <p:spPr>
            <a:xfrm>
              <a:off x="9124029" y="3583239"/>
              <a:ext cx="10775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/&lt;BFS&gt;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C1605-8F38-93BC-63F7-222E9B54CCCE}"/>
                </a:ext>
              </a:extLst>
            </p:cNvPr>
            <p:cNvSpPr txBox="1"/>
            <p:nvPr/>
          </p:nvSpPr>
          <p:spPr>
            <a:xfrm>
              <a:off x="8921891" y="3538195"/>
              <a:ext cx="4010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16p</a:t>
              </a:r>
              <a:endParaRPr lang="ko-KR" altLang="en-US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48" name="바닥글 개체 틀 4">
            <a:extLst>
              <a:ext uri="{FF2B5EF4-FFF2-40B4-BE49-F238E27FC236}">
                <a16:creationId xmlns:a16="http://schemas.microsoft.com/office/drawing/2014/main" id="{1776CB56-E99B-DBFF-D8EA-E49C7345FACA}"/>
              </a:ext>
            </a:extLst>
          </p:cNvPr>
          <p:cNvSpPr txBox="1">
            <a:spLocks/>
          </p:cNvSpPr>
          <p:nvPr/>
        </p:nvSpPr>
        <p:spPr>
          <a:xfrm>
            <a:off x="9387697" y="385042"/>
            <a:ext cx="20681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2026 ALOHA 1</a:t>
            </a:r>
            <a:r>
              <a:rPr lang="ko-KR" altLang="en-US" dirty="0"/>
              <a:t>학기 멘토링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85FC65-03E2-3839-C1C9-A7EE1BA18BCB}"/>
              </a:ext>
            </a:extLst>
          </p:cNvPr>
          <p:cNvGrpSpPr/>
          <p:nvPr/>
        </p:nvGrpSpPr>
        <p:grpSpPr>
          <a:xfrm>
            <a:off x="8910316" y="4024230"/>
            <a:ext cx="1900039" cy="445154"/>
            <a:chOff x="8921891" y="3538195"/>
            <a:chExt cx="1900039" cy="44515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1CA471-763E-5C4D-759B-FF4015B21782}"/>
                </a:ext>
              </a:extLst>
            </p:cNvPr>
            <p:cNvSpPr txBox="1"/>
            <p:nvPr/>
          </p:nvSpPr>
          <p:spPr>
            <a:xfrm>
              <a:off x="9124029" y="3583239"/>
              <a:ext cx="16979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/&lt;</a:t>
              </a:r>
              <a:r>
                <a:rPr lang="ko-KR" altLang="en-US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연습 문제</a:t>
              </a:r>
              <a:r>
                <a:rPr lang="en-US" altLang="ko-KR" sz="2000" dirty="0">
                  <a:latin typeface="마루 부리OTF 가는" panose="020B0600000101010101" pitchFamily="34" charset="-127"/>
                  <a:ea typeface="마루 부리OTF 가는" panose="020B0600000101010101" pitchFamily="34" charset="-127"/>
                </a:rPr>
                <a:t>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04A94F-1EA1-9089-F82C-6E1E9CF3C039}"/>
                </a:ext>
              </a:extLst>
            </p:cNvPr>
            <p:cNvSpPr txBox="1"/>
            <p:nvPr/>
          </p:nvSpPr>
          <p:spPr>
            <a:xfrm>
              <a:off x="8921891" y="3538195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30p</a:t>
              </a:r>
              <a:endParaRPr lang="ko-KR" altLang="en-US" sz="11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2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12634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그래프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2101573" y="2051295"/>
            <a:ext cx="7988854" cy="1065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그래프를 표현하는 방식으로는 대표적으로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2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가지가 있습니다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200" dirty="0">
                <a:solidFill>
                  <a:srgbClr val="5F2CC6"/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리스트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(Adjacency List) 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와 </a:t>
            </a:r>
            <a:r>
              <a:rPr lang="ko-KR" altLang="en-US" sz="2200" dirty="0">
                <a:solidFill>
                  <a:srgbClr val="5F2CC6"/>
                </a:solidFill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행렬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(Adjacency Matrix)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8FBE-FA7A-3A53-CB0D-15563B3FF2A1}"/>
              </a:ext>
            </a:extLst>
          </p:cNvPr>
          <p:cNvSpPr txBox="1"/>
          <p:nvPr/>
        </p:nvSpPr>
        <p:spPr>
          <a:xfrm>
            <a:off x="3484059" y="3340139"/>
            <a:ext cx="526627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리스트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는 각각 정점들에 대해 간선으로 연결되어 있는 정점들을 각각의 리스트로 표현하는 방식입니다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인접 행렬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은 </a:t>
            </a:r>
            <a:r>
              <a:rPr lang="en-US" altLang="ko-KR" sz="16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 정점에서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j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 간선으로 가는 정점이 존재할 경우 행렬의 </a:t>
            </a:r>
            <a:r>
              <a:rPr lang="en-US" altLang="ko-KR" sz="1600" dirty="0" err="1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i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번째 행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j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번째 열의 값을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1, 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존재하지 않을 경우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0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으로 설정해 표현하는 방식입니다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17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311CF8-5B1C-3BA0-9185-781D67A5610E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D4671C-F1FE-1677-323E-9E1420FB575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E33836-B5B3-A0F7-CE23-F334071C376F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B271A-E3E2-E9D9-B6C9-C9D556FAE55A}"/>
                </a:ext>
              </a:extLst>
            </p:cNvPr>
            <p:cNvSpPr txBox="1"/>
            <p:nvPr/>
          </p:nvSpPr>
          <p:spPr>
            <a:xfrm>
              <a:off x="1382177" y="3192716"/>
              <a:ext cx="12634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그래프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50394E2-DB93-A6BF-1BE3-B0937171CCB1}"/>
              </a:ext>
            </a:extLst>
          </p:cNvPr>
          <p:cNvGrpSpPr/>
          <p:nvPr/>
        </p:nvGrpSpPr>
        <p:grpSpPr>
          <a:xfrm>
            <a:off x="6096000" y="2545934"/>
            <a:ext cx="4777029" cy="2637611"/>
            <a:chOff x="6096000" y="791367"/>
            <a:chExt cx="5008157" cy="283186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78FE2E9-68B6-8E1B-5087-5A977E3F6449}"/>
                </a:ext>
              </a:extLst>
            </p:cNvPr>
            <p:cNvSpPr/>
            <p:nvPr/>
          </p:nvSpPr>
          <p:spPr>
            <a:xfrm>
              <a:off x="6096000" y="794139"/>
              <a:ext cx="814647" cy="814647"/>
            </a:xfrm>
            <a:prstGeom prst="ellipse">
              <a:avLst/>
            </a:prstGeom>
            <a:solidFill>
              <a:srgbClr val="ECE4F9">
                <a:alpha val="60000"/>
              </a:srgbClr>
            </a:solidFill>
            <a:ln w="28575">
              <a:solidFill>
                <a:srgbClr val="5F2C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4" name="제목 2">
              <a:extLst>
                <a:ext uri="{FF2B5EF4-FFF2-40B4-BE49-F238E27FC236}">
                  <a16:creationId xmlns:a16="http://schemas.microsoft.com/office/drawing/2014/main" id="{1A96D193-B7BA-A324-6070-469BCB350C52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891120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solidFill>
                    <a:srgbClr val="5F2CC6"/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1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17E259D-6E4A-B185-F235-2034CD991FF3}"/>
                </a:ext>
              </a:extLst>
            </p:cNvPr>
            <p:cNvSpPr/>
            <p:nvPr/>
          </p:nvSpPr>
          <p:spPr>
            <a:xfrm>
              <a:off x="8192755" y="794139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6" name="제목 2">
              <a:extLst>
                <a:ext uri="{FF2B5EF4-FFF2-40B4-BE49-F238E27FC236}">
                  <a16:creationId xmlns:a16="http://schemas.microsoft.com/office/drawing/2014/main" id="{114B8809-82B1-76A7-E33B-767E6D835D5E}"/>
                </a:ext>
              </a:extLst>
            </p:cNvPr>
            <p:cNvSpPr txBox="1">
              <a:spLocks/>
            </p:cNvSpPr>
            <p:nvPr/>
          </p:nvSpPr>
          <p:spPr>
            <a:xfrm>
              <a:off x="8192755" y="891120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2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A38F4ED-E7EA-8AC5-C7B1-3CB76015C0D7}"/>
                </a:ext>
              </a:extLst>
            </p:cNvPr>
            <p:cNvSpPr/>
            <p:nvPr/>
          </p:nvSpPr>
          <p:spPr>
            <a:xfrm>
              <a:off x="10289509" y="791367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2" name="제목 2">
              <a:extLst>
                <a:ext uri="{FF2B5EF4-FFF2-40B4-BE49-F238E27FC236}">
                  <a16:creationId xmlns:a16="http://schemas.microsoft.com/office/drawing/2014/main" id="{490EA633-D833-4BE5-07E4-3F8941E2FBC3}"/>
                </a:ext>
              </a:extLst>
            </p:cNvPr>
            <p:cNvSpPr txBox="1">
              <a:spLocks/>
            </p:cNvSpPr>
            <p:nvPr/>
          </p:nvSpPr>
          <p:spPr>
            <a:xfrm>
              <a:off x="10289510" y="924370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3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E682F898-2DCC-9D7F-6241-C584612C9B20}"/>
                </a:ext>
              </a:extLst>
            </p:cNvPr>
            <p:cNvSpPr/>
            <p:nvPr/>
          </p:nvSpPr>
          <p:spPr>
            <a:xfrm>
              <a:off x="6096000" y="277533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7" name="제목 2">
              <a:extLst>
                <a:ext uri="{FF2B5EF4-FFF2-40B4-BE49-F238E27FC236}">
                  <a16:creationId xmlns:a16="http://schemas.microsoft.com/office/drawing/2014/main" id="{54C2E501-D9BE-F935-E0D5-9F6ADEA98A6A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905567"/>
              <a:ext cx="814647" cy="68441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4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6C023A5-B895-4820-E2DF-34910F6235AF}"/>
                </a:ext>
              </a:extLst>
            </p:cNvPr>
            <p:cNvSpPr/>
            <p:nvPr/>
          </p:nvSpPr>
          <p:spPr>
            <a:xfrm>
              <a:off x="8192755" y="2775336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29" name="제목 2">
              <a:extLst>
                <a:ext uri="{FF2B5EF4-FFF2-40B4-BE49-F238E27FC236}">
                  <a16:creationId xmlns:a16="http://schemas.microsoft.com/office/drawing/2014/main" id="{4022B578-515E-B206-2162-441CBA6D98E6}"/>
                </a:ext>
              </a:extLst>
            </p:cNvPr>
            <p:cNvSpPr txBox="1">
              <a:spLocks/>
            </p:cNvSpPr>
            <p:nvPr/>
          </p:nvSpPr>
          <p:spPr>
            <a:xfrm>
              <a:off x="8192755" y="287231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5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D2E9D93F-9337-9566-5BF0-6EBF35C9BF70}"/>
                </a:ext>
              </a:extLst>
            </p:cNvPr>
            <p:cNvSpPr/>
            <p:nvPr/>
          </p:nvSpPr>
          <p:spPr>
            <a:xfrm>
              <a:off x="10289509" y="2772564"/>
              <a:ext cx="814647" cy="8146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31" name="제목 2">
              <a:extLst>
                <a:ext uri="{FF2B5EF4-FFF2-40B4-BE49-F238E27FC236}">
                  <a16:creationId xmlns:a16="http://schemas.microsoft.com/office/drawing/2014/main" id="{FD231505-72D1-B1A6-0B1A-309F361AB64E}"/>
                </a:ext>
              </a:extLst>
            </p:cNvPr>
            <p:cNvSpPr txBox="1">
              <a:spLocks/>
            </p:cNvSpPr>
            <p:nvPr/>
          </p:nvSpPr>
          <p:spPr>
            <a:xfrm>
              <a:off x="10289510" y="2905567"/>
              <a:ext cx="814647" cy="717666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ko-KR" sz="14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6</a:t>
              </a:r>
            </a:p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604F283D-A9BA-79E4-1048-0607608A8AC4}"/>
                </a:ext>
              </a:extLst>
            </p:cNvPr>
            <p:cNvCxnSpPr>
              <a:stCxn id="12" idx="6"/>
              <a:endCxn id="15" idx="2"/>
            </p:cNvCxnSpPr>
            <p:nvPr/>
          </p:nvCxnSpPr>
          <p:spPr>
            <a:xfrm>
              <a:off x="6910647" y="1201463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6B14E78A-560B-E818-6C78-59CDDF694F62}"/>
                </a:ext>
              </a:extLst>
            </p:cNvPr>
            <p:cNvCxnSpPr>
              <a:cxnSpLocks/>
            </p:cNvCxnSpPr>
            <p:nvPr/>
          </p:nvCxnSpPr>
          <p:spPr>
            <a:xfrm>
              <a:off x="9007402" y="1201463"/>
              <a:ext cx="12821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DBF09F4-4FD8-E775-F548-CEFBE9E3DF76}"/>
                </a:ext>
              </a:extLst>
            </p:cNvPr>
            <p:cNvCxnSpPr>
              <a:stCxn id="12" idx="5"/>
              <a:endCxn id="28" idx="1"/>
            </p:cNvCxnSpPr>
            <p:nvPr/>
          </p:nvCxnSpPr>
          <p:spPr>
            <a:xfrm>
              <a:off x="6791345" y="1489484"/>
              <a:ext cx="1520712" cy="1405154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9EF2889B-7372-933A-C731-FEBC795D9F6F}"/>
                </a:ext>
              </a:extLst>
            </p:cNvPr>
            <p:cNvCxnSpPr>
              <a:stCxn id="15" idx="4"/>
              <a:endCxn id="28" idx="0"/>
            </p:cNvCxnSpPr>
            <p:nvPr/>
          </p:nvCxnSpPr>
          <p:spPr>
            <a:xfrm>
              <a:off x="8600079" y="1608786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B5921F48-631D-5F92-9792-C713E66B2D06}"/>
                </a:ext>
              </a:extLst>
            </p:cNvPr>
            <p:cNvCxnSpPr>
              <a:stCxn id="28" idx="6"/>
              <a:endCxn id="30" idx="2"/>
            </p:cNvCxnSpPr>
            <p:nvPr/>
          </p:nvCxnSpPr>
          <p:spPr>
            <a:xfrm flipV="1">
              <a:off x="9007402" y="3179888"/>
              <a:ext cx="1282107" cy="27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8FC26465-0500-0BC8-F230-9808DA7C356F}"/>
                </a:ext>
              </a:extLst>
            </p:cNvPr>
            <p:cNvCxnSpPr>
              <a:stCxn id="30" idx="0"/>
              <a:endCxn id="18" idx="4"/>
            </p:cNvCxnSpPr>
            <p:nvPr/>
          </p:nvCxnSpPr>
          <p:spPr>
            <a:xfrm flipV="1">
              <a:off x="10696833" y="1606014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D3BB150F-CB33-F781-2EE1-5E21CBDFD90A}"/>
                </a:ext>
              </a:extLst>
            </p:cNvPr>
            <p:cNvCxnSpPr>
              <a:stCxn id="25" idx="0"/>
              <a:endCxn id="12" idx="4"/>
            </p:cNvCxnSpPr>
            <p:nvPr/>
          </p:nvCxnSpPr>
          <p:spPr>
            <a:xfrm flipV="1">
              <a:off x="6503324" y="1608786"/>
              <a:ext cx="0" cy="11665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제목 2">
              <a:extLst>
                <a:ext uri="{FF2B5EF4-FFF2-40B4-BE49-F238E27FC236}">
                  <a16:creationId xmlns:a16="http://schemas.microsoft.com/office/drawing/2014/main" id="{2B439825-34D8-FD36-671F-2C9F3AC69CD5}"/>
                </a:ext>
              </a:extLst>
            </p:cNvPr>
            <p:cNvSpPr txBox="1">
              <a:spLocks/>
            </p:cNvSpPr>
            <p:nvPr/>
          </p:nvSpPr>
          <p:spPr>
            <a:xfrm>
              <a:off x="7438180" y="1843718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 fontScale="92500"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42" name="제목 2">
              <a:extLst>
                <a:ext uri="{FF2B5EF4-FFF2-40B4-BE49-F238E27FC236}">
                  <a16:creationId xmlns:a16="http://schemas.microsoft.com/office/drawing/2014/main" id="{9A02DF25-A673-FCD2-0274-10492DFFC626}"/>
                </a:ext>
              </a:extLst>
            </p:cNvPr>
            <p:cNvSpPr txBox="1">
              <a:spLocks/>
            </p:cNvSpPr>
            <p:nvPr/>
          </p:nvSpPr>
          <p:spPr>
            <a:xfrm>
              <a:off x="6457063" y="2034364"/>
              <a:ext cx="334285" cy="345571"/>
            </a:xfrm>
            <a:prstGeom prst="rect">
              <a:avLst/>
            </a:prstGeom>
            <a:ln w="12700">
              <a:noFill/>
            </a:ln>
          </p:spPr>
          <p:txBody>
            <a:bodyPr>
              <a:normAutofit fontScale="92500"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20000"/>
                </a:lnSpc>
              </a:pPr>
              <a:endPara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</p:grpSp>
      <p:graphicFrame>
        <p:nvGraphicFramePr>
          <p:cNvPr id="4" name="표 65">
            <a:extLst>
              <a:ext uri="{FF2B5EF4-FFF2-40B4-BE49-F238E27FC236}">
                <a16:creationId xmlns:a16="http://schemas.microsoft.com/office/drawing/2014/main" id="{6570EB50-35CC-63D8-692B-486D08015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291101"/>
              </p:ext>
            </p:extLst>
          </p:nvPr>
        </p:nvGraphicFramePr>
        <p:xfrm>
          <a:off x="339138" y="1917294"/>
          <a:ext cx="4778608" cy="1862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607">
                  <a:extLst>
                    <a:ext uri="{9D8B030D-6E8A-4147-A177-3AD203B41FA5}">
                      <a16:colId xmlns:a16="http://schemas.microsoft.com/office/drawing/2014/main" val="2889993197"/>
                    </a:ext>
                  </a:extLst>
                </a:gridCol>
                <a:gridCol w="2422001">
                  <a:extLst>
                    <a:ext uri="{9D8B030D-6E8A-4147-A177-3AD203B41FA5}">
                      <a16:colId xmlns:a16="http://schemas.microsoft.com/office/drawing/2014/main" val="3020899238"/>
                    </a:ext>
                  </a:extLst>
                </a:gridCol>
              </a:tblGrid>
              <a:tr h="308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1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2, 5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13978"/>
                  </a:ext>
                </a:extLst>
              </a:tr>
              <a:tr h="3203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2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3, 5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540089"/>
                  </a:ext>
                </a:extLst>
              </a:tr>
              <a:tr h="308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95840"/>
                  </a:ext>
                </a:extLst>
              </a:tr>
              <a:tr h="308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4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894325"/>
                  </a:ext>
                </a:extLst>
              </a:tr>
              <a:tr h="308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5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1, 6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223069"/>
                  </a:ext>
                </a:extLst>
              </a:tr>
              <a:tr h="308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6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5F2CC6"/>
                          </a:solidFill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200" b="0" dirty="0">
                        <a:solidFill>
                          <a:srgbClr val="5F2CC6"/>
                        </a:solidFill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4372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293F2A2-730B-7FDC-0B27-A8539DD9D7CA}"/>
              </a:ext>
            </a:extLst>
          </p:cNvPr>
          <p:cNvSpPr txBox="1"/>
          <p:nvPr/>
        </p:nvSpPr>
        <p:spPr>
          <a:xfrm>
            <a:off x="417860" y="1640294"/>
            <a:ext cx="1156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</a:t>
            </a:r>
            <a:r>
              <a: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인접 리스트</a:t>
            </a:r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  <p:graphicFrame>
        <p:nvGraphicFramePr>
          <p:cNvPr id="13" name="표 16">
            <a:extLst>
              <a:ext uri="{FF2B5EF4-FFF2-40B4-BE49-F238E27FC236}">
                <a16:creationId xmlns:a16="http://schemas.microsoft.com/office/drawing/2014/main" id="{06A0A907-32D5-165C-1ED5-1C6FB44E7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625450"/>
              </p:ext>
            </p:extLst>
          </p:nvPr>
        </p:nvGraphicFramePr>
        <p:xfrm>
          <a:off x="1599245" y="4161789"/>
          <a:ext cx="2223552" cy="20421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592">
                  <a:extLst>
                    <a:ext uri="{9D8B030D-6E8A-4147-A177-3AD203B41FA5}">
                      <a16:colId xmlns:a16="http://schemas.microsoft.com/office/drawing/2014/main" val="1050838898"/>
                    </a:ext>
                  </a:extLst>
                </a:gridCol>
                <a:gridCol w="370592">
                  <a:extLst>
                    <a:ext uri="{9D8B030D-6E8A-4147-A177-3AD203B41FA5}">
                      <a16:colId xmlns:a16="http://schemas.microsoft.com/office/drawing/2014/main" val="2967874682"/>
                    </a:ext>
                  </a:extLst>
                </a:gridCol>
                <a:gridCol w="370592">
                  <a:extLst>
                    <a:ext uri="{9D8B030D-6E8A-4147-A177-3AD203B41FA5}">
                      <a16:colId xmlns:a16="http://schemas.microsoft.com/office/drawing/2014/main" val="4041584272"/>
                    </a:ext>
                  </a:extLst>
                </a:gridCol>
                <a:gridCol w="370592">
                  <a:extLst>
                    <a:ext uri="{9D8B030D-6E8A-4147-A177-3AD203B41FA5}">
                      <a16:colId xmlns:a16="http://schemas.microsoft.com/office/drawing/2014/main" val="3668773931"/>
                    </a:ext>
                  </a:extLst>
                </a:gridCol>
                <a:gridCol w="370592">
                  <a:extLst>
                    <a:ext uri="{9D8B030D-6E8A-4147-A177-3AD203B41FA5}">
                      <a16:colId xmlns:a16="http://schemas.microsoft.com/office/drawing/2014/main" val="75801763"/>
                    </a:ext>
                  </a:extLst>
                </a:gridCol>
                <a:gridCol w="370592">
                  <a:extLst>
                    <a:ext uri="{9D8B030D-6E8A-4147-A177-3AD203B41FA5}">
                      <a16:colId xmlns:a16="http://schemas.microsoft.com/office/drawing/2014/main" val="1309633364"/>
                    </a:ext>
                  </a:extLst>
                </a:gridCol>
              </a:tblGrid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97719"/>
                  </a:ext>
                </a:extLst>
              </a:tr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40528"/>
                  </a:ext>
                </a:extLst>
              </a:tr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1909"/>
                  </a:ext>
                </a:extLst>
              </a:tr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426685"/>
                  </a:ext>
                </a:extLst>
              </a:tr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427243"/>
                  </a:ext>
                </a:extLst>
              </a:tr>
              <a:tr h="340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1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5F2CC6"/>
                          </a:solidFill>
                          <a:latin typeface="마루 부리OTF 아주가는" panose="020B0600000101010101" charset="-127"/>
                          <a:ea typeface="마루 부리OTF 아주가는" panose="020B0600000101010101" charset="-127"/>
                        </a:rPr>
                        <a:t>0</a:t>
                      </a:r>
                      <a:endParaRPr lang="ko-KR" altLang="en-US" sz="1200" dirty="0">
                        <a:solidFill>
                          <a:srgbClr val="5F2CC6"/>
                        </a:solidFill>
                        <a:latin typeface="마루 부리OTF 아주가는" panose="020B0600000101010101" charset="-127"/>
                        <a:ea typeface="마루 부리OTF 아주가는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4546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D7E7FA1-6BEC-F5BB-53CE-4A65D2AB1B8F}"/>
              </a:ext>
            </a:extLst>
          </p:cNvPr>
          <p:cNvSpPr txBox="1"/>
          <p:nvPr/>
        </p:nvSpPr>
        <p:spPr>
          <a:xfrm>
            <a:off x="417860" y="3847963"/>
            <a:ext cx="1007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&lt;</a:t>
            </a:r>
            <a:r>
              <a: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인접 행렬</a:t>
            </a:r>
            <a:r>
              <a:rPr lang="en-US" altLang="ko-KR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rPr>
              <a:t>&gt;</a:t>
            </a:r>
            <a:endParaRPr lang="ko-KR" altLang="en-US" sz="1200" dirty="0">
              <a:latin typeface="마루 부리OTF 아주가는" panose="020B0600000101010101" pitchFamily="34" charset="-127"/>
              <a:ea typeface="마루 부리OTF 아주가는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43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BFCD15-0717-C25C-0BE2-E4826CF81440}"/>
              </a:ext>
            </a:extLst>
          </p:cNvPr>
          <p:cNvSpPr txBox="1"/>
          <p:nvPr/>
        </p:nvSpPr>
        <p:spPr>
          <a:xfrm>
            <a:off x="5885016" y="3298379"/>
            <a:ext cx="6096000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u, v;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u &gt;&gt; v;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edges[u].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(v);</a:t>
            </a:r>
          </a:p>
          <a:p>
            <a:pPr>
              <a:lnSpc>
                <a:spcPts val="180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2" y="2159606"/>
            <a:ext cx="454338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C++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인접 리스트를 어떻게 구현할 수 있는지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인접 리스트의 구현 자체는 한 줄로 충분합니다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최대 정점 개수 만큼의 정수형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vector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배열을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만들어 주면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u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정점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가는 간선을 추가하기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위해서는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u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vector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추가해주면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0F2238-7A6C-BE26-0F8E-910DE52699AF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7E9BB4A-3D7E-20CF-B361-B5DB4CA4492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CF1574-7A13-44FD-C74A-4347332688D7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5901E-586E-1F5F-1716-785059AD85A3}"/>
                </a:ext>
              </a:extLst>
            </p:cNvPr>
            <p:cNvSpPr txBox="1"/>
            <p:nvPr/>
          </p:nvSpPr>
          <p:spPr>
            <a:xfrm>
              <a:off x="1382177" y="3192716"/>
              <a:ext cx="12634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그래프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858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BFCD15-0717-C25C-0BE2-E4826CF81440}"/>
              </a:ext>
            </a:extLst>
          </p:cNvPr>
          <p:cNvSpPr txBox="1"/>
          <p:nvPr/>
        </p:nvSpPr>
        <p:spPr>
          <a:xfrm>
            <a:off x="5885016" y="3298379"/>
            <a:ext cx="60960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graph[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u, v;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u &gt;&gt; v;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graph[u][v]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b="0" dirty="0">
              <a:solidFill>
                <a:srgbClr val="ABB2BF"/>
              </a:solidFill>
              <a:effectLst/>
              <a:latin typeface="Courier New" panose="020703090202050204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2159606"/>
            <a:ext cx="43063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다음은 인접 행렬의 구현을 알아봅시다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인접 행렬의 구현도 간단히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차원 배열 하나로 끝납니다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정점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u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정점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가는 간선을 추가하기 위해서는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u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행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열을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바꾸면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DF7EA2-376E-BFCE-4283-93001043421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08A5B9-078B-D25D-6172-7A192C1D4F2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81F97-A36E-2ABF-95FA-E721F3774457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EB5220-16F1-F7F9-25EC-419BC7D372BE}"/>
                </a:ext>
              </a:extLst>
            </p:cNvPr>
            <p:cNvSpPr txBox="1"/>
            <p:nvPr/>
          </p:nvSpPr>
          <p:spPr>
            <a:xfrm>
              <a:off x="1382177" y="3192716"/>
              <a:ext cx="12634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그래프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977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3378974" y="2292146"/>
            <a:ext cx="5434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DFS/Depth-First-Search -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깊이 우선 탐색</a:t>
            </a:r>
            <a:endParaRPr lang="en-US" altLang="ko-KR" sz="22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8FBE-FA7A-3A53-CB0D-15563B3FF2A1}"/>
              </a:ext>
            </a:extLst>
          </p:cNvPr>
          <p:cNvSpPr txBox="1"/>
          <p:nvPr/>
        </p:nvSpPr>
        <p:spPr>
          <a:xfrm>
            <a:off x="3484059" y="3340139"/>
            <a:ext cx="526627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깊이 우선 탐색은 그래프에서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 가지로 최대한 깊이 들어가서 탐색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한후 더 이상 탐색할 수 없을 경우 돌아와서 다음 가지를 탐색하는 방식입니다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878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311CF8-5B1C-3BA0-9185-781D67A5610E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D4671C-F1FE-1677-323E-9E1420FB575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E33836-B5B3-A0F7-CE23-F334071C376F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B271A-E3E2-E9D9-B6C9-C9D556FAE55A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8108F682-93E2-9AA7-1965-86B1C486716F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258059F4-1F0A-BE34-15E0-1C6DBF719049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84EB628-5D7E-E3F8-46E1-E792157D851B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7761544B-F6E7-6DD0-61E7-63452CBC37AF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279ACE4-166B-61D9-E8D0-754D0DCE37BD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D3B018DC-14E7-E65B-6400-FB5D31DE2F2C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C365AF66-30A8-E680-5CDE-79CD0DD70A8E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CEB93FF5-EA67-814A-969B-25F71DC6F85F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A676970-4870-90BB-0185-2FB3B89B672D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3E984F52-1FFA-5C3B-B97F-38BF064EECD4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118FFA6-3FF3-6F91-C730-A51E82861496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59D20C77-36D4-AC23-339A-AFA55DF60DB2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D8B08F5-1AB4-8092-1631-8CBEB6F7343D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019C52D-BFA6-6157-9A18-A9A8441BE2D4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1002311-CE3F-CB7C-3511-E4FB635E4E77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C054AC8-C7AB-D58B-BAB8-0F628DA03C17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5E54726-7AA6-3E26-A07E-96101254587C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F6EDDBC-4BB3-6211-A5B5-8605C9C83582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2E77C12C-03C1-AB25-83EA-813F35488039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DF20CC0A-B40B-2289-111E-9630D01E6F17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39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6D8A-AE6D-BF95-85C2-4E20BE9D8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F78FA92-7EAE-E83D-8F10-ED1D898D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A57591-BD30-192C-6D5B-12EC53A5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9B281BC-E8F7-ADEE-487A-9A0E664AB3FE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27D5117-948E-1313-5463-6E3FE5115FC4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CE1EDC07-BA02-A970-4BEA-BB4016E80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1B50837-F7D5-39DE-0987-8A7F7224A3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E57F799-6234-0213-8EE3-56A2F84D60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B2465C4-FE8B-D3B4-F09D-E4173C3F8A47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2D5BAA-76DF-F98B-EB3D-94874E82899A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BC26BB-7AD7-BF69-1CFB-68E984C9F6D8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8B2D9E-6C67-E981-0C75-9BB104023014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6ADFF307-FC4D-78C8-7AEA-FE0CF94304B1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873FF9CE-E190-630D-CD37-26ACC1774A4A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9BC90CA-8E83-6DF2-075F-81C085FEC670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353853FB-5E84-27CC-B8AB-91F86F0800F7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0DF7C15-0EF4-239E-09F4-9F531AA095A1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BE885D01-B22F-0602-7A2B-818E1A98E64D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14E597B3-81FE-F6DE-9EF3-2F300695C9DD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DB246C19-3CB2-1086-17A1-180DA8A3EEA8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6688649C-90F5-E536-D52B-512FDCA4F43A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6286E095-A5E6-BA05-394D-4D566AB5A12E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117164E2-B16B-7C34-1516-1684BA57A031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16A648D6-B7CC-F691-26FD-6813D981D8AF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6654A14D-583C-D95D-CBB4-7ACBE8754BD3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C502897D-6A04-8ECA-09FF-B8DF2685B537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A2258B7D-EBC7-2269-2F34-CEB2C2B41792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45004C2F-D9A7-8ADA-FE4F-441BC761D448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8C7BB45-F105-9F99-C3D7-B026772E4C73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68D649D-3E46-CBA3-9A7A-21448DA84859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A0105060-84FE-8FEB-C741-EC83A22DE1B8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94C710A9-BF95-7D09-C54E-7C50A56CD7F6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8302B25-8DE5-7281-83C5-A9F7898C3828}"/>
              </a:ext>
            </a:extLst>
          </p:cNvPr>
          <p:cNvSpPr/>
          <p:nvPr/>
        </p:nvSpPr>
        <p:spPr>
          <a:xfrm>
            <a:off x="8095987" y="251124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3337B-0995-F64C-8C27-994ED2E1EFE2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367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EA7A-D1DF-872D-F5B7-5FE9EBD5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0B4D149F-3CC1-4166-4454-EA721E5D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8178AE-FBB9-55A0-63C0-AFDB8AED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9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382CCCF-1315-F7B6-1A45-6D8D7171B3BA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12B3736-96E3-1E0A-75A9-5B58E69CF538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36CB15AC-9CC1-5E77-151C-BED205EC9F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EC08877-5BAA-1BF1-9113-E9DE20037A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CEBD0FF-5C2B-CA8D-148D-4EC151379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F915C5-BE5F-2473-3D5E-52ADE6B72B50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4B4AAE-77AE-7E93-404F-E8EDC4185C38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3FDB49-571F-B578-FE48-9CCEC3AAA74C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6349D1-3FEB-A707-655A-31B67E54AE74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1022FE11-DA30-8E5D-582F-8C579EECDECA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B35D8884-A361-88BE-C2DA-80428950E986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D118D118-E50C-4D6E-C872-61770D8DAF64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36D7FE48-8F1C-01F7-2BE2-9917FDB801BD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AFB71C95-521A-AF93-C59B-D8CDED66401B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944C3DFD-15C4-6EDB-D311-78ABC6B1846D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2B4CC1E-03C6-EDA6-4676-080B83A3B99D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BAE33420-F387-27FA-44D3-19CE5FFF5CD4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BE1D737-ECD5-63C6-AC94-BDFACA8159BA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8387817E-18A7-AF94-CD38-DB23A7836F71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EB88C3DD-5B34-EFF5-AE30-7826929CB488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BF0BAC8E-1B4E-1F52-F595-7E6B0052A1BB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DC9E539-F469-7598-2017-B6C7D1E7A244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F3F1D8D-4BD2-CC14-10F6-58DEE5E7756C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C99F61C2-F39A-7055-7AC9-3E058C0E480D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2507539-7DB7-AD8D-F970-0B01CD76A385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EEED7BF-65A2-BCF1-8FF8-0F6AF88C43E6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DAC6A8D-11D1-C1E7-BAAA-CC7F6482F6E9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72C36E91-D203-F2AD-83A3-87D084BFA95D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56B0DC71-C50F-7247-387A-6CE41D3E1303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D8538F1-03C3-45D8-FC50-DC6DC42C2E0E}"/>
              </a:ext>
            </a:extLst>
          </p:cNvPr>
          <p:cNvSpPr/>
          <p:nvPr/>
        </p:nvSpPr>
        <p:spPr>
          <a:xfrm>
            <a:off x="8095987" y="251124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2A962D5-FE4E-C7E2-B522-99FC35E79189}"/>
              </a:ext>
            </a:extLst>
          </p:cNvPr>
          <p:cNvSpPr/>
          <p:nvPr/>
        </p:nvSpPr>
        <p:spPr>
          <a:xfrm>
            <a:off x="10095974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7B83E-BD44-9EC9-0D00-A682B9C22CF7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200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FF6B-F9C4-48CE-64D2-7CDD7A44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F7E9EA1-B695-3968-A4F2-34824665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2F6801-47DC-F536-BADA-2C83F31F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10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539916D-5AA0-4861-C084-6F2201325F45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615E51E-F792-1901-80BC-9C59DCD4CBEE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95E890EA-8590-DE27-AE99-D04777D6C3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709FA5AC-561C-3721-5A7C-295FAAE1F6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304EB32-646C-CD4B-8AAF-60D0D1ED8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00EFAD-74AA-9DEF-5129-573BDC0EC763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1D6CEC-3392-FA8B-5294-F50473FA108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9A8676-6FC1-41B6-7551-E7D0218331DD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10DACF-F643-45A0-8CE8-6EB06F19B585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41059106-32EF-E971-91CB-CC9E12C85F4F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05B18E31-7185-CDD1-ED23-8F06D5280007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763AA10D-233C-AD52-42EA-3E36EC56AFAC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14DC5A15-2D6B-0D86-F6D8-C53DB75DC5D6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8CC4284-CE56-94CB-F89B-1FF364D4F859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374555F2-6A2F-672C-A308-656848503E5B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7CF8AC1A-9D44-A8E4-F20F-AF24FF92B4A3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24FE3D01-1325-E4F6-B921-34FDAADC829A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ABA83BA-C513-33E8-BFD3-4A38A37F9A13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C5A6EF21-4E67-F85D-D9AB-69513D0FE326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0166A1FE-93F8-3E16-9D7A-914C81B81F6E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B1519874-CB53-FA52-5434-D17A0B87547D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6D8C89D-B37F-622F-D903-089986E74D03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446B2E2-E053-DA78-D368-CCD7570AF403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D4AB64B-C2C4-F143-DF9D-B39A3E44D92E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7DF4511-B447-8009-DEFD-4805C503FE82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F307103-C538-4255-9881-7EB0AADBB26E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065DDED-ED99-BC84-2D57-B289A6BBF56C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918855E3-7114-B48C-BBB9-F182F4C220FD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67A898A6-7CEB-79A9-20DE-A97255E80F54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AE4F4AA-4028-BB83-1BF0-6DE18866893D}"/>
              </a:ext>
            </a:extLst>
          </p:cNvPr>
          <p:cNvSpPr/>
          <p:nvPr/>
        </p:nvSpPr>
        <p:spPr>
          <a:xfrm>
            <a:off x="8095987" y="251124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E3D742D-DBAA-41B3-F4A0-4F0016DEF80D}"/>
              </a:ext>
            </a:extLst>
          </p:cNvPr>
          <p:cNvSpPr/>
          <p:nvPr/>
        </p:nvSpPr>
        <p:spPr>
          <a:xfrm>
            <a:off x="10095974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866F11-AC99-3CBE-EF24-E4A814E17317}"/>
              </a:ext>
            </a:extLst>
          </p:cNvPr>
          <p:cNvSpPr/>
          <p:nvPr/>
        </p:nvSpPr>
        <p:spPr>
          <a:xfrm>
            <a:off x="10095973" y="4360660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D5849-C28A-3888-3FAF-FCF3D66DFD00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5237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0748-3FEB-1963-A230-E8215F57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7FB1884-9398-4240-BA91-9B256E53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CC7EB28-704B-CE6E-0270-14C8F14B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7D5B20C-A753-F9D5-C83A-BCE0EE777794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CA4610-C3DA-B711-C2C9-811EB1519D09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B0098B-4804-DCC0-D9D8-10466B359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2B7805B-FB65-50FD-F96A-D16617D8D6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36DEE88-A0B1-C408-6DF5-7BBB4FBC7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9FBF964-7F80-5346-B12E-8687DDF40C69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B51C2B5-54F5-939C-B298-9E94C3F94B2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813566-0980-3617-4D4C-9FBC20E4BAC4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087A70-FC76-FB9A-416F-CC06ECE4A476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ACF250E0-98BC-6A13-20F3-9DFFBE069087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97C847D3-ADCC-EB6C-D1CB-A2E814CF2E4D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7C8514A7-1251-0832-E7A1-2563CBF9A6F8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26FFABE8-0D2D-685C-B047-A3E3C0391395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AE6F5E78-87FF-84F3-EEC2-9D50D47A33CB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0850E2D2-093F-16D1-9574-D45F43DF46B2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7A4C9A8-3791-5E45-C12E-DEEB7CEC57A8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967EB8AE-C85C-41B1-76A3-B35CAAB69C24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C5A566C-6FE7-2198-80F4-A1A90EE05216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BA3B66F1-2D82-1632-7E19-C8409A34165A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A1AEBBE9-888A-05C4-663C-7414E734A4B1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A2A3ACB3-437D-4A83-3E7B-42F5F378AD87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BCFC75D-3410-EDB6-63E9-1E1F53597B61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50064B4-3323-5D97-18CB-1654F6A486CC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3C38D08-21BB-660C-809D-EA21B2F4B862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807AA29-B704-AD88-DCA3-9F0F481F8EDE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73C2398-4275-B94F-AAD0-F4618080A934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9DB00E8-11E6-CCDD-4821-FCBDEC4593D9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13804162-DC4B-6C37-9A78-8104451ED906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93362597-9A14-886C-C8C0-96343E0C691D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24809CB-A468-06CC-0C8F-B71DCEBF6177}"/>
              </a:ext>
            </a:extLst>
          </p:cNvPr>
          <p:cNvSpPr/>
          <p:nvPr/>
        </p:nvSpPr>
        <p:spPr>
          <a:xfrm>
            <a:off x="8095987" y="251124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6407578-E37E-55EA-2D1F-4D84F1C0520E}"/>
              </a:ext>
            </a:extLst>
          </p:cNvPr>
          <p:cNvSpPr/>
          <p:nvPr/>
        </p:nvSpPr>
        <p:spPr>
          <a:xfrm>
            <a:off x="10095974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CB5D8BB-2F4C-186D-80A9-C5D301FAC7DE}"/>
              </a:ext>
            </a:extLst>
          </p:cNvPr>
          <p:cNvSpPr/>
          <p:nvPr/>
        </p:nvSpPr>
        <p:spPr>
          <a:xfrm>
            <a:off x="10095973" y="4360660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4785408-F09C-663C-297E-FF9D302A185B}"/>
              </a:ext>
            </a:extLst>
          </p:cNvPr>
          <p:cNvSpPr/>
          <p:nvPr/>
        </p:nvSpPr>
        <p:spPr>
          <a:xfrm>
            <a:off x="8095982" y="4360659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0DD54-A83B-8426-6F25-714EE182E0F7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81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A3F6-6C58-F545-AC2D-8EE2EDE7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E01A133-5C29-2E4A-F0A4-1DB43CEC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665BF66-A3C6-446F-B8EC-F839DC8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E20B0DC-7C99-EF61-73E6-858CB982BE4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00931A4-E6F8-A69C-B073-C573047934D8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A8B278B-145E-4BA3-B3A5-27C00684C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26100DA9-93CA-753B-BE41-8B8214B5E6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9233B9A-3E87-0210-6566-FFA907A67F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BD5905-4AF8-7273-C3FB-A2E1C948FB3A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B4244FC-1CFB-C4AE-7ACE-B9695E8A51F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BA4047-82E0-BCCA-430E-0E24B462E7E5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FA0806-E335-DF96-C604-658186AFF8C8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436731E2-8301-ACC3-549C-97472D6362FE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117F9BDA-AB11-46E9-8B3E-CF56C402E9C5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A10A9F4-3130-67DE-67B8-3DB5D4F9BF41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0D669EC1-E559-52AB-DED3-F380FDF8EE05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B54DFEB-1FAF-170E-121D-C4FB0E7A61C6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6AB55F3A-8EF7-2170-3548-E8E263352CEC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8C93C64-33AF-29DF-E92E-E3836D56BCCA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BB2684BE-3D93-4EB6-D2B2-5BA370CF2236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C53FCA08-1623-DB70-44D9-B1A638D898BA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326645CF-A969-3FCE-45F0-56532E672734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8CFC12D-685A-EE7A-D2C1-510F2336A91C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19A7564D-34D2-85F4-3496-B27454946F65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680B3AD-0D91-82DB-2EEF-016DB69A77FA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CB2110A-54B2-9762-B391-54CACFE2B607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BAD453E-6555-2542-048F-A2BA3862FFAB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1438E3C-042E-118D-76FD-48BE83439D62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AC1D035-C4F6-8F17-DDD8-1407545C012A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7F7982CF-85E2-B65E-C0C7-C368ADFB3C63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64B56B8E-B2D6-EF66-A005-1DDD3503B82E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FF239C8C-B268-02A0-4FA7-607AA7B158AB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E572C23-B9D2-189F-3FF6-27C1886BD18C}"/>
              </a:ext>
            </a:extLst>
          </p:cNvPr>
          <p:cNvSpPr/>
          <p:nvPr/>
        </p:nvSpPr>
        <p:spPr>
          <a:xfrm>
            <a:off x="8095987" y="251124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7B2C021-AA6D-FB02-AFE6-406C7601BA6F}"/>
              </a:ext>
            </a:extLst>
          </p:cNvPr>
          <p:cNvSpPr/>
          <p:nvPr/>
        </p:nvSpPr>
        <p:spPr>
          <a:xfrm>
            <a:off x="10095974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DEE7A4-484E-A005-BF16-4F2948103787}"/>
              </a:ext>
            </a:extLst>
          </p:cNvPr>
          <p:cNvSpPr/>
          <p:nvPr/>
        </p:nvSpPr>
        <p:spPr>
          <a:xfrm>
            <a:off x="10095973" y="4360660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6C6DBD9-7123-A449-AB59-6F5BAD5DB5B5}"/>
              </a:ext>
            </a:extLst>
          </p:cNvPr>
          <p:cNvSpPr/>
          <p:nvPr/>
        </p:nvSpPr>
        <p:spPr>
          <a:xfrm>
            <a:off x="8095982" y="4360659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64B070E-83D8-723B-257C-875162FD8CF8}"/>
              </a:ext>
            </a:extLst>
          </p:cNvPr>
          <p:cNvSpPr/>
          <p:nvPr/>
        </p:nvSpPr>
        <p:spPr>
          <a:xfrm>
            <a:off x="6095993" y="4364133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54DFD-CFB0-39B8-77B7-80962E68DAB9}"/>
              </a:ext>
            </a:extLst>
          </p:cNvPr>
          <p:cNvSpPr txBox="1"/>
          <p:nvPr/>
        </p:nvSpPr>
        <p:spPr>
          <a:xfrm>
            <a:off x="670819" y="1778960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C F E D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9629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BFCD15-0717-C25C-0BE2-E4826CF81440}"/>
              </a:ext>
            </a:extLst>
          </p:cNvPr>
          <p:cNvSpPr txBox="1"/>
          <p:nvPr/>
        </p:nvSpPr>
        <p:spPr>
          <a:xfrm>
            <a:off x="6096000" y="2156580"/>
            <a:ext cx="6096000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3028231"/>
            <a:ext cx="45433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이제 실제로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구현해볼 차례입니다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재귀함수를 이용해 재귀적으로 구현합니다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2A42316-4EAE-52B0-D51D-EDB3063ED368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1B171C0-27FD-42A3-DCCC-75B0761F642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B6E661-C35F-2CE9-67FB-0301C82A769D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33531B-20A3-283D-1204-FF2FCED5CE2E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60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14B4D9F-73E6-EEA3-3611-899738BEBE6B}"/>
              </a:ext>
            </a:extLst>
          </p:cNvPr>
          <p:cNvSpPr/>
          <p:nvPr/>
        </p:nvSpPr>
        <p:spPr>
          <a:xfrm>
            <a:off x="5392475" y="3568823"/>
            <a:ext cx="6799523" cy="459165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14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1581401"/>
            <a:ext cx="466966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오른쪽은 간단한 재귀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구현입니다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방문한 순서대로 정점 번호를 출력합니다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방문했던 정점은 다시 방문하지 않기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vis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라는 이름의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bool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배열을 만들어줍니다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vis[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]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값이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true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면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i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번째 정점을 이미 방문했다는 뜻입니다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이제 천천히 </a:t>
            </a:r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함수를 살펴보도록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함수의 인자는 현재 정점 번호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(cur)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우선 현재 방문한 정점을 방문했다고 기록해줍니다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 후 그 정점 번호를 출력합니다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1AAB33-5C6D-2616-5B02-F13A198BE92F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1C9DE4-B185-0A9B-5D1A-4205840FC99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309A11-5292-0BBD-AD90-31F56BA7B3B1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8AB47C-7BAF-6458-0738-2AC527DB82C1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83BDF37-AC11-0036-353C-619B36B6075F}"/>
              </a:ext>
            </a:extLst>
          </p:cNvPr>
          <p:cNvSpPr txBox="1"/>
          <p:nvPr/>
        </p:nvSpPr>
        <p:spPr>
          <a:xfrm>
            <a:off x="6096000" y="2156580"/>
            <a:ext cx="6096000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065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98D214A-C0AF-53E0-82F6-53E12DC26824}"/>
              </a:ext>
            </a:extLst>
          </p:cNvPr>
          <p:cNvSpPr/>
          <p:nvPr/>
        </p:nvSpPr>
        <p:spPr>
          <a:xfrm>
            <a:off x="5392477" y="4004845"/>
            <a:ext cx="6799523" cy="1206344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2356635"/>
            <a:ext cx="4306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 후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 정점과 연결된 정점들을 확인합니다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만약 이미 방문한 정점이라면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더 이상 탐색할 수 없으므로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continue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방문하지 않은 정점이라면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endParaRPr lang="en-US" altLang="ko-KR" sz="1600" dirty="0">
              <a:solidFill>
                <a:srgbClr val="5F2CC6"/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 가지로 더 깊이 가기 위해 재귀 호출 인자로 그 정점의 번호를 넘겨줍니다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4D336F3-A8BB-45CA-2EF3-A456BF673E65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ECCC2F-BE0D-ADEC-485D-0A636D01742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8F70A5-C4B3-A10F-4E5C-E61B12486B51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0DBDD0-E1E3-6CA7-A18C-562AD7A06F62}"/>
                </a:ext>
              </a:extLst>
            </p:cNvPr>
            <p:cNvSpPr txBox="1"/>
            <p:nvPr/>
          </p:nvSpPr>
          <p:spPr>
            <a:xfrm>
              <a:off x="1382177" y="3192716"/>
              <a:ext cx="1096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</a:t>
              </a:r>
              <a:r>
                <a:rPr lang="ko-KR" altLang="en-US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복습 </a:t>
              </a:r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- DFS&gt;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31B9599-82DB-39AB-0525-9FBB047FA492}"/>
              </a:ext>
            </a:extLst>
          </p:cNvPr>
          <p:cNvSpPr txBox="1"/>
          <p:nvPr/>
        </p:nvSpPr>
        <p:spPr>
          <a:xfrm>
            <a:off x="6096000" y="2156580"/>
            <a:ext cx="6096000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532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3125325" y="2402105"/>
            <a:ext cx="567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BFS/Breadth-First-Search – </a:t>
            </a:r>
            <a:r>
              <a:rPr lang="ko-KR" altLang="en-US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너비 우선 탐색</a:t>
            </a:r>
            <a:endParaRPr lang="en-US" altLang="ko-KR" sz="22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8FBE-FA7A-3A53-CB0D-15563B3FF2A1}"/>
              </a:ext>
            </a:extLst>
          </p:cNvPr>
          <p:cNvSpPr txBox="1"/>
          <p:nvPr/>
        </p:nvSpPr>
        <p:spPr>
          <a:xfrm>
            <a:off x="3622955" y="3340139"/>
            <a:ext cx="495388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너비 우선 탐색은 </a:t>
            </a:r>
            <a:r>
              <a:rPr lang="ko-KR" altLang="en-US" sz="16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시작 정점으로부터 가장 인접한 정점을 먼저 탐색하는 방식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입니다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거리에 따라 단계별로 그 단계에 속하는 정점들을 방문한다고 생각하면 이해하기 편할 수 있습니다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198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311CF8-5B1C-3BA0-9185-781D67A5610E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D4671C-F1FE-1677-323E-9E1420FB5757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E33836-B5B3-A0F7-CE23-F334071C376F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B271A-E3E2-E9D9-B6C9-C9D556FAE55A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8108F682-93E2-9AA7-1965-86B1C486716F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258059F4-1F0A-BE34-15E0-1C6DBF719049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84EB628-5D7E-E3F8-46E1-E792157D851B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7761544B-F6E7-6DD0-61E7-63452CBC37AF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279ACE4-166B-61D9-E8D0-754D0DCE37BD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D3B018DC-14E7-E65B-6400-FB5D31DE2F2C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C365AF66-30A8-E680-5CDE-79CD0DD70A8E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CEB93FF5-EA67-814A-969B-25F71DC6F85F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4A676970-4870-90BB-0185-2FB3B89B672D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3E984F52-1FFA-5C3B-B97F-38BF064EECD4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118FFA6-3FF3-6F91-C730-A51E82861496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59D20C77-36D4-AC23-339A-AFA55DF60DB2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D8B08F5-1AB4-8092-1631-8CBEB6F7343D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019C52D-BFA6-6157-9A18-A9A8441BE2D4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1002311-CE3F-CB7C-3511-E4FB635E4E77}"/>
              </a:ext>
            </a:extLst>
          </p:cNvPr>
          <p:cNvCxnSpPr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C054AC8-C7AB-D58B-BAB8-0F628DA03C17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5E54726-7AA6-3E26-A07E-96101254587C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F6EDDBC-4BB3-6211-A5B5-8605C9C83582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2E77C12C-03C1-AB25-83EA-813F35488039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DF20CC0A-B40B-2289-111E-9630D01E6F17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6D53B-D85E-3C42-ECD6-AEFB6D54A256}"/>
              </a:ext>
            </a:extLst>
          </p:cNvPr>
          <p:cNvSpPr txBox="1"/>
          <p:nvPr/>
        </p:nvSpPr>
        <p:spPr>
          <a:xfrm>
            <a:off x="670819" y="1668999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이번에도 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D E C F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344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0782-865C-EA32-4849-85075B11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76BC27D-4898-7488-3F38-D05A3694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B5C3BB-FA63-A798-1DCD-33B4698A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5588F7E-AD9F-D79C-5099-E3E646A9FCEB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7E9418A-38A6-F207-32C6-42E84ACBD137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A9928C52-D515-8553-EB83-7EB1BDE78D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3A53F2E9-750D-05EF-B164-0E3ED7725B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4DC7AB-7979-B9AE-BCE1-837F3316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E6A4A29-04FA-5D8C-503B-5DB22F782E25}"/>
              </a:ext>
            </a:extLst>
          </p:cNvPr>
          <p:cNvSpPr txBox="1"/>
          <p:nvPr/>
        </p:nvSpPr>
        <p:spPr>
          <a:xfrm>
            <a:off x="670819" y="1668999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이번에도 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D E C F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F3CC085-2A5F-18CB-9807-E772BC16BC85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4D0DC14-40C3-CFF6-7943-2A7BC411CE99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7190A8-89D4-F21B-8877-996C2E4E27BC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5CBACD-CE1C-8375-79A9-F38CDFA5274C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403DD764-3036-0CBB-C8D9-55B817596D65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C6315985-CD5C-37EB-9672-3087AE877BE2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4CCAA61-7EDE-CF79-66AC-66D5FC973167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A937CF5A-7E66-9117-7CC5-88A94EFE51D4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E314943F-59CC-0C1C-C343-5CC110BAA266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66228D15-0822-9887-44D8-DDE1DD51C470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2839806B-06C1-6D4E-622F-56E658C6F9BB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3C4BD3B8-6139-A077-4636-48E18E47E273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AD7B6B13-6380-C29B-4BA3-B9EA4146B329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9409669F-D486-E040-7A68-E5223BC2F90B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49447BC-D053-C6A8-5239-AEB54F0E9BEE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3EB24228-5E4F-486F-0F53-D55B40999049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5738D0-FE6E-A800-4F98-8D7B110062DC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97D3C7C-7EB8-00CF-47A8-5E3F75A49C0D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FC9A13D-BA80-28BE-A54F-C20E8A4BCB13}"/>
              </a:ext>
            </a:extLst>
          </p:cNvPr>
          <p:cNvCxnSpPr>
            <a:cxnSpLocks/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FDDE0B2B-483B-3300-4538-62DCF001CBC6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16F8481-2C11-0B76-48B4-4CC8A2E72298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375AACC-735B-371E-C4CD-2E75A38650EE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B2B0C263-C1B2-9D6D-1AF8-CD8D01A3988D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BECC5210-F10D-A85E-4ABD-0C354D383D42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DF85B44-5CA7-3360-FD3C-5339D647E49D}"/>
              </a:ext>
            </a:extLst>
          </p:cNvPr>
          <p:cNvSpPr/>
          <p:nvPr/>
        </p:nvSpPr>
        <p:spPr>
          <a:xfrm>
            <a:off x="8095988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2182B89-D191-DFDB-54BA-88CA82625CC1}"/>
              </a:ext>
            </a:extLst>
          </p:cNvPr>
          <p:cNvSpPr/>
          <p:nvPr/>
        </p:nvSpPr>
        <p:spPr>
          <a:xfrm>
            <a:off x="6096000" y="437447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498AF65-1891-099F-8633-9AA0C858E625}"/>
              </a:ext>
            </a:extLst>
          </p:cNvPr>
          <p:cNvSpPr/>
          <p:nvPr/>
        </p:nvSpPr>
        <p:spPr>
          <a:xfrm>
            <a:off x="8095986" y="436413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057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3807-BC6B-5712-580D-51955B21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A855BE0-A3BE-6308-F5E9-BB9AA4C9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83AFB8-F5C3-0B12-7ACB-CC3D36A9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7EFB171-237B-ECC9-D89D-B0A1B4F3930F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62C706D-AD30-52F1-70B7-E07B80FCE289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ABC0A4F8-169A-1FB4-1AD7-054609317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9DF4A795-3869-7A96-6935-0BC71A04FB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474A5A6-F903-D8F1-645D-BDB830F677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96054D-50A6-A4B8-F50E-DFD75AC1B693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4DF586-A57F-B1BA-0B56-DEC2A94FFE1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8AC18B-8BD5-9E99-6F22-A93D080F2C08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5A95B8-1BEB-CDF0-F9C2-E6A4A8C149B5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B77ACF84-857D-A39E-AA03-66E14B860FBA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F924C0E6-B785-8408-1B21-216293E82BD6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CABCAE0-1F62-C537-55F5-6108DB5B4652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1FC51DD4-6882-443C-5C74-1BADA4994084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C1097F9E-BB74-A887-38ED-57598A5AE5A0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55023496-E918-EED7-8CB1-3DF309066D0C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DDC991C-5944-1631-C2A4-68F92F535148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575D6F7A-9F4F-4C32-98A3-847B7A825D5F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23BEEABF-3486-E768-1983-BE44F82B1594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93620FB6-AE61-1C2D-4049-6B659A127741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2F06A90-0AF0-73C3-9374-B34F23A92380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24B99375-4CCD-FFF1-5A05-5DC5A69FBC07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C8A3699-7875-3AE0-2D07-2148DD156DA0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9FB525C-7639-1C85-1813-4C44DC88C362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D5DA1AC6-92CA-4333-BFC7-64743F210084}"/>
              </a:ext>
            </a:extLst>
          </p:cNvPr>
          <p:cNvCxnSpPr>
            <a:cxnSpLocks/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6529C700-790C-7C86-276E-9DB773AFAA21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F7B60AA-3E7E-C7CC-96D0-E3EFD410E46B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2E49B8B-2C59-D435-D81B-8EB7FEF66A2B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5B07D4F3-9091-6FF3-A458-B2C9055945C6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5EC99537-5BD8-BCF0-6B8C-FD3AB3E9D51B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3B502AA-FD3C-7487-C1DA-F819F9D17143}"/>
              </a:ext>
            </a:extLst>
          </p:cNvPr>
          <p:cNvSpPr/>
          <p:nvPr/>
        </p:nvSpPr>
        <p:spPr>
          <a:xfrm>
            <a:off x="8095988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839ADBC-00BD-F2E1-467F-26E64F81ADDE}"/>
              </a:ext>
            </a:extLst>
          </p:cNvPr>
          <p:cNvSpPr/>
          <p:nvPr/>
        </p:nvSpPr>
        <p:spPr>
          <a:xfrm>
            <a:off x="6096000" y="437447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6635AF4-7732-5C54-82D1-02AFE0B37EE2}"/>
              </a:ext>
            </a:extLst>
          </p:cNvPr>
          <p:cNvSpPr/>
          <p:nvPr/>
        </p:nvSpPr>
        <p:spPr>
          <a:xfrm>
            <a:off x="8095986" y="436413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4DFFDF3-CEC5-AEE7-6768-688E15655E94}"/>
              </a:ext>
            </a:extLst>
          </p:cNvPr>
          <p:cNvSpPr/>
          <p:nvPr/>
        </p:nvSpPr>
        <p:spPr>
          <a:xfrm>
            <a:off x="10095975" y="2518837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DF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13F9A8-E2C0-07E5-4AF7-E0CFBF36609C}"/>
              </a:ext>
            </a:extLst>
          </p:cNvPr>
          <p:cNvSpPr txBox="1"/>
          <p:nvPr/>
        </p:nvSpPr>
        <p:spPr>
          <a:xfrm>
            <a:off x="670819" y="1668999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이번에도 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D E C F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035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7EF6F-9806-B128-5B75-42B6E39C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D9944B6-BEC2-1894-2D50-E43C9BE15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0642A9D-E5A2-72E5-0CA7-BF8934FD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E066C19-99C0-58E6-9C7E-0D7F7E5CBBFA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8FB9C10-1F28-AB54-D7B5-6DFEBFCE3774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28E4178A-3E17-E7B3-F65C-DA46963A79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39998660-401F-B660-BA5D-654D18FE43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6ADAE5C3-8D2A-1E22-B78C-29190431C2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40FBA34-DED5-A3F3-DCA5-7E5FF6BCA45A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74842E-783A-CBA0-349B-D53DE5E447A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65EBE0-DA99-6AF9-C26A-8C995DD2B8A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4524F9-63AF-C932-A51E-82DC218EF607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65" name="타원 64">
            <a:extLst>
              <a:ext uri="{FF2B5EF4-FFF2-40B4-BE49-F238E27FC236}">
                <a16:creationId xmlns:a16="http://schemas.microsoft.com/office/drawing/2014/main" id="{7F8F0FD4-7BF5-A554-F263-C2DE67B82994}"/>
              </a:ext>
            </a:extLst>
          </p:cNvPr>
          <p:cNvSpPr/>
          <p:nvPr/>
        </p:nvSpPr>
        <p:spPr>
          <a:xfrm>
            <a:off x="6096000" y="252142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5F2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6" name="제목 2">
            <a:extLst>
              <a:ext uri="{FF2B5EF4-FFF2-40B4-BE49-F238E27FC236}">
                <a16:creationId xmlns:a16="http://schemas.microsoft.com/office/drawing/2014/main" id="{5A7CD7F2-CBAA-DA18-EB46-DFDC6E218447}"/>
              </a:ext>
            </a:extLst>
          </p:cNvPr>
          <p:cNvSpPr txBox="1">
            <a:spLocks/>
          </p:cNvSpPr>
          <p:nvPr/>
        </p:nvSpPr>
        <p:spPr>
          <a:xfrm>
            <a:off x="6096000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A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rgbClr val="5F2CC6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B385C86F-ADBC-964D-24D1-E83AC1597AA8}"/>
              </a:ext>
            </a:extLst>
          </p:cNvPr>
          <p:cNvSpPr/>
          <p:nvPr/>
        </p:nvSpPr>
        <p:spPr>
          <a:xfrm>
            <a:off x="8095989" y="2521421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8" name="제목 2">
            <a:extLst>
              <a:ext uri="{FF2B5EF4-FFF2-40B4-BE49-F238E27FC236}">
                <a16:creationId xmlns:a16="http://schemas.microsoft.com/office/drawing/2014/main" id="{FAF0B82B-A2AB-22F5-749B-8F2327521C14}"/>
              </a:ext>
            </a:extLst>
          </p:cNvPr>
          <p:cNvSpPr txBox="1">
            <a:spLocks/>
          </p:cNvSpPr>
          <p:nvPr/>
        </p:nvSpPr>
        <p:spPr>
          <a:xfrm>
            <a:off x="8095989" y="261174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5EA1291-DB5A-B578-B1A0-3466A143F125}"/>
              </a:ext>
            </a:extLst>
          </p:cNvPr>
          <p:cNvSpPr/>
          <p:nvPr/>
        </p:nvSpPr>
        <p:spPr>
          <a:xfrm>
            <a:off x="10095977" y="2518839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0" name="제목 2">
            <a:extLst>
              <a:ext uri="{FF2B5EF4-FFF2-40B4-BE49-F238E27FC236}">
                <a16:creationId xmlns:a16="http://schemas.microsoft.com/office/drawing/2014/main" id="{B17B9316-028A-AC60-7F50-3E453D4BE16E}"/>
              </a:ext>
            </a:extLst>
          </p:cNvPr>
          <p:cNvSpPr txBox="1">
            <a:spLocks/>
          </p:cNvSpPr>
          <p:nvPr/>
        </p:nvSpPr>
        <p:spPr>
          <a:xfrm>
            <a:off x="10095978" y="2642719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C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AFA69E3A-13F4-755C-061E-24B946D3FF28}"/>
              </a:ext>
            </a:extLst>
          </p:cNvPr>
          <p:cNvSpPr/>
          <p:nvPr/>
        </p:nvSpPr>
        <p:spPr>
          <a:xfrm>
            <a:off x="6096000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2" name="제목 2">
            <a:extLst>
              <a:ext uri="{FF2B5EF4-FFF2-40B4-BE49-F238E27FC236}">
                <a16:creationId xmlns:a16="http://schemas.microsoft.com/office/drawing/2014/main" id="{B5907259-178C-0010-70E0-2768A085672C}"/>
              </a:ext>
            </a:extLst>
          </p:cNvPr>
          <p:cNvSpPr txBox="1">
            <a:spLocks/>
          </p:cNvSpPr>
          <p:nvPr/>
        </p:nvSpPr>
        <p:spPr>
          <a:xfrm>
            <a:off x="6096000" y="4488013"/>
            <a:ext cx="777051" cy="637468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A1F00CE-65E7-494D-5709-7034B076FA6D}"/>
              </a:ext>
            </a:extLst>
          </p:cNvPr>
          <p:cNvSpPr/>
          <p:nvPr/>
        </p:nvSpPr>
        <p:spPr>
          <a:xfrm>
            <a:off x="8095989" y="4366715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4" name="제목 2">
            <a:extLst>
              <a:ext uri="{FF2B5EF4-FFF2-40B4-BE49-F238E27FC236}">
                <a16:creationId xmlns:a16="http://schemas.microsoft.com/office/drawing/2014/main" id="{847F26A0-26E8-0B48-3A29-2618E02F29F6}"/>
              </a:ext>
            </a:extLst>
          </p:cNvPr>
          <p:cNvSpPr txBox="1">
            <a:spLocks/>
          </p:cNvSpPr>
          <p:nvPr/>
        </p:nvSpPr>
        <p:spPr>
          <a:xfrm>
            <a:off x="8095989" y="4457044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6C415C0-978E-2CE3-224C-9FEAFEF9880B}"/>
              </a:ext>
            </a:extLst>
          </p:cNvPr>
          <p:cNvSpPr/>
          <p:nvPr/>
        </p:nvSpPr>
        <p:spPr>
          <a:xfrm>
            <a:off x="10095977" y="4364134"/>
            <a:ext cx="777051" cy="75876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76" name="제목 2">
            <a:extLst>
              <a:ext uri="{FF2B5EF4-FFF2-40B4-BE49-F238E27FC236}">
                <a16:creationId xmlns:a16="http://schemas.microsoft.com/office/drawing/2014/main" id="{EC7579C9-2344-13C1-EF38-93905E995945}"/>
              </a:ext>
            </a:extLst>
          </p:cNvPr>
          <p:cNvSpPr txBox="1">
            <a:spLocks/>
          </p:cNvSpPr>
          <p:nvPr/>
        </p:nvSpPr>
        <p:spPr>
          <a:xfrm>
            <a:off x="10095978" y="4488013"/>
            <a:ext cx="777051" cy="668437"/>
          </a:xfrm>
          <a:prstGeom prst="rect">
            <a:avLst/>
          </a:prstGeom>
          <a:ln w="12700">
            <a:noFill/>
          </a:ln>
        </p:spPr>
        <p:txBody>
          <a:bodyPr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F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8375BC1-AB85-D8E0-133A-244E21934A43}"/>
              </a:ext>
            </a:extLst>
          </p:cNvPr>
          <p:cNvCxnSpPr>
            <a:stCxn id="65" idx="6"/>
            <a:endCxn id="67" idx="2"/>
          </p:cNvCxnSpPr>
          <p:nvPr/>
        </p:nvCxnSpPr>
        <p:spPr>
          <a:xfrm>
            <a:off x="6873051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452B5C9-053E-5612-CFBD-24C66ED296DA}"/>
              </a:ext>
            </a:extLst>
          </p:cNvPr>
          <p:cNvCxnSpPr>
            <a:cxnSpLocks/>
          </p:cNvCxnSpPr>
          <p:nvPr/>
        </p:nvCxnSpPr>
        <p:spPr>
          <a:xfrm>
            <a:off x="8873040" y="2900804"/>
            <a:ext cx="122293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75845552-5D6D-7A02-EF6C-186200833A11}"/>
              </a:ext>
            </a:extLst>
          </p:cNvPr>
          <p:cNvCxnSpPr>
            <a:cxnSpLocks/>
            <a:stCxn id="65" idx="5"/>
            <a:endCxn id="73" idx="1"/>
          </p:cNvCxnSpPr>
          <p:nvPr/>
        </p:nvCxnSpPr>
        <p:spPr>
          <a:xfrm>
            <a:off x="6759255" y="3169068"/>
            <a:ext cx="1450531" cy="130876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A7DC0DFD-3CAF-D80A-1409-19E42196AD67}"/>
              </a:ext>
            </a:extLst>
          </p:cNvPr>
          <p:cNvCxnSpPr>
            <a:stCxn id="67" idx="4"/>
            <a:endCxn id="73" idx="0"/>
          </p:cNvCxnSpPr>
          <p:nvPr/>
        </p:nvCxnSpPr>
        <p:spPr>
          <a:xfrm>
            <a:off x="8484515" y="3280186"/>
            <a:ext cx="0" cy="1086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C93C181-1B4E-F56B-DF29-D4C27482128D}"/>
              </a:ext>
            </a:extLst>
          </p:cNvPr>
          <p:cNvCxnSpPr>
            <a:stCxn id="75" idx="0"/>
            <a:endCxn id="69" idx="4"/>
          </p:cNvCxnSpPr>
          <p:nvPr/>
        </p:nvCxnSpPr>
        <p:spPr>
          <a:xfrm flipV="1">
            <a:off x="10484503" y="3277604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75537741-E722-E587-29B0-90668520142F}"/>
              </a:ext>
            </a:extLst>
          </p:cNvPr>
          <p:cNvCxnSpPr>
            <a:stCxn id="71" idx="0"/>
            <a:endCxn id="65" idx="4"/>
          </p:cNvCxnSpPr>
          <p:nvPr/>
        </p:nvCxnSpPr>
        <p:spPr>
          <a:xfrm flipV="1">
            <a:off x="6484526" y="3280186"/>
            <a:ext cx="0" cy="108652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제목 2">
            <a:extLst>
              <a:ext uri="{FF2B5EF4-FFF2-40B4-BE49-F238E27FC236}">
                <a16:creationId xmlns:a16="http://schemas.microsoft.com/office/drawing/2014/main" id="{DF68902F-55D2-8C91-C787-92C5FF9039E9}"/>
              </a:ext>
            </a:extLst>
          </p:cNvPr>
          <p:cNvSpPr txBox="1">
            <a:spLocks/>
          </p:cNvSpPr>
          <p:nvPr/>
        </p:nvSpPr>
        <p:spPr>
          <a:xfrm>
            <a:off x="7376238" y="3499003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85" name="제목 2">
            <a:extLst>
              <a:ext uri="{FF2B5EF4-FFF2-40B4-BE49-F238E27FC236}">
                <a16:creationId xmlns:a16="http://schemas.microsoft.com/office/drawing/2014/main" id="{DFE1D735-D131-BF4C-294C-C53DD9885B7A}"/>
              </a:ext>
            </a:extLst>
          </p:cNvPr>
          <p:cNvSpPr txBox="1">
            <a:spLocks/>
          </p:cNvSpPr>
          <p:nvPr/>
        </p:nvSpPr>
        <p:spPr>
          <a:xfrm>
            <a:off x="6440400" y="3676571"/>
            <a:ext cx="318858" cy="321866"/>
          </a:xfrm>
          <a:prstGeom prst="rect">
            <a:avLst/>
          </a:prstGeom>
          <a:ln w="12700">
            <a:noFill/>
          </a:ln>
        </p:spPr>
        <p:txBody>
          <a:bodyPr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endParaRPr lang="en-US" altLang="ko-KR" sz="14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914F06-C396-8BE6-6900-2C5B58F71F0A}"/>
              </a:ext>
            </a:extLst>
          </p:cNvPr>
          <p:cNvSpPr/>
          <p:nvPr/>
        </p:nvSpPr>
        <p:spPr>
          <a:xfrm>
            <a:off x="8095988" y="2518838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  <a:highlight>
                <a:srgbClr val="FFFF00"/>
              </a:highlight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4B3B263-6F80-DDE5-7C31-8260D0C7886D}"/>
              </a:ext>
            </a:extLst>
          </p:cNvPr>
          <p:cNvSpPr/>
          <p:nvPr/>
        </p:nvSpPr>
        <p:spPr>
          <a:xfrm>
            <a:off x="6096000" y="437447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026866-3AD2-19E5-EEE2-9CA3C6717694}"/>
              </a:ext>
            </a:extLst>
          </p:cNvPr>
          <p:cNvSpPr/>
          <p:nvPr/>
        </p:nvSpPr>
        <p:spPr>
          <a:xfrm>
            <a:off x="8095986" y="4364132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F1D9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8AFD02C-32A6-9127-F074-535E5C56A655}"/>
              </a:ext>
            </a:extLst>
          </p:cNvPr>
          <p:cNvSpPr/>
          <p:nvPr/>
        </p:nvSpPr>
        <p:spPr>
          <a:xfrm>
            <a:off x="10095975" y="2518837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rgbClr val="DFF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DBC8924-E4E6-2A06-5A69-34370D624381}"/>
              </a:ext>
            </a:extLst>
          </p:cNvPr>
          <p:cNvSpPr/>
          <p:nvPr/>
        </p:nvSpPr>
        <p:spPr>
          <a:xfrm>
            <a:off x="10095972" y="4364131"/>
            <a:ext cx="777051" cy="758765"/>
          </a:xfrm>
          <a:prstGeom prst="ellipse">
            <a:avLst/>
          </a:prstGeom>
          <a:solidFill>
            <a:srgbClr val="ECE4F9">
              <a:alpha val="60000"/>
            </a:srgbClr>
          </a:solidFill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A758A-2406-7BFC-FD8F-5110BA77A6AE}"/>
              </a:ext>
            </a:extLst>
          </p:cNvPr>
          <p:cNvSpPr txBox="1"/>
          <p:nvPr/>
        </p:nvSpPr>
        <p:spPr>
          <a:xfrm>
            <a:off x="670819" y="1668999"/>
            <a:ext cx="43063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이번에도 오른쪽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무방향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그래프를 가지고 한번 이해해보도록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엄밀성을 위해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정점은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탐색할 수 있는 정점이 여러 개일 경우 사전순으로 가장 빠른 정점을 선택합니다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한번 방문한 정점은 다시 방문하지 않습니다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라고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경우 방문 순서는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A B D E C F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1098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C4D8-2772-5D06-F167-41F10105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262889B-167A-BD6D-CC7A-2AC6E258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2778A0-22D3-3000-3EED-A4FC2F00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B106AE4-2350-7CF6-9BCA-AC7E96B3C097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0DB362F-C967-EAA7-FAA9-BACFFF2399C6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916292EE-4B2D-3831-8AA9-C05C14DD1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87998D84-EAF1-F84F-D730-0F9ED18C9B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08A7AD4-7C81-E2A4-FAC4-705BB4FFA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D683B26-FD7D-3784-F2E9-7C5B64A7CF9B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3DD3783-A125-38CC-DFBA-A5512766CBFB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6CF0BC-1087-6BE2-5938-D59691AF3370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824055-995D-0A12-AFFE-20F01A8B5090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DA30E94-85B2-568D-19CE-401BD4422A87}"/>
              </a:ext>
            </a:extLst>
          </p:cNvPr>
          <p:cNvSpPr txBox="1"/>
          <p:nvPr/>
        </p:nvSpPr>
        <p:spPr>
          <a:xfrm>
            <a:off x="670819" y="1668999"/>
            <a:ext cx="435259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구현할 때에는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라는 자료 구조를 사용합니다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FIFO (First-In-First-Out) </a:t>
            </a:r>
            <a:r>
              <a:rPr lang="ko-KR" altLang="en-US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형태의 </a:t>
            </a:r>
            <a:endParaRPr lang="en-US" altLang="ko-KR" sz="1600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 구조입니다</a:t>
            </a:r>
            <a:r>
              <a:rPr lang="en-US" altLang="ko-KR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  <a:r>
              <a:rPr lang="ko-KR" altLang="en-US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즉</a:t>
            </a:r>
            <a:r>
              <a:rPr lang="en-US" altLang="ko-KR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먼저 삽입된 원소는 항상 먼저 삭제됩니다</a:t>
            </a:r>
            <a:r>
              <a:rPr lang="en-US" altLang="ko-KR" sz="16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에는 앞과 뒤가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앞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에서는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조회 및 삭제가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뒤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에서는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삽입이 가능합니다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850DC34-009E-3A6F-B78A-770ABDF1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15939"/>
              </p:ext>
            </p:extLst>
          </p:nvPr>
        </p:nvGraphicFramePr>
        <p:xfrm>
          <a:off x="6526168" y="3243580"/>
          <a:ext cx="4087818" cy="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303">
                  <a:extLst>
                    <a:ext uri="{9D8B030D-6E8A-4147-A177-3AD203B41FA5}">
                      <a16:colId xmlns:a16="http://schemas.microsoft.com/office/drawing/2014/main" val="347731440"/>
                    </a:ext>
                  </a:extLst>
                </a:gridCol>
                <a:gridCol w="681303">
                  <a:extLst>
                    <a:ext uri="{9D8B030D-6E8A-4147-A177-3AD203B41FA5}">
                      <a16:colId xmlns:a16="http://schemas.microsoft.com/office/drawing/2014/main" val="2382291017"/>
                    </a:ext>
                  </a:extLst>
                </a:gridCol>
                <a:gridCol w="681303">
                  <a:extLst>
                    <a:ext uri="{9D8B030D-6E8A-4147-A177-3AD203B41FA5}">
                      <a16:colId xmlns:a16="http://schemas.microsoft.com/office/drawing/2014/main" val="2648100327"/>
                    </a:ext>
                  </a:extLst>
                </a:gridCol>
                <a:gridCol w="681303">
                  <a:extLst>
                    <a:ext uri="{9D8B030D-6E8A-4147-A177-3AD203B41FA5}">
                      <a16:colId xmlns:a16="http://schemas.microsoft.com/office/drawing/2014/main" val="3553335429"/>
                    </a:ext>
                  </a:extLst>
                </a:gridCol>
                <a:gridCol w="681303">
                  <a:extLst>
                    <a:ext uri="{9D8B030D-6E8A-4147-A177-3AD203B41FA5}">
                      <a16:colId xmlns:a16="http://schemas.microsoft.com/office/drawing/2014/main" val="389376323"/>
                    </a:ext>
                  </a:extLst>
                </a:gridCol>
                <a:gridCol w="681303">
                  <a:extLst>
                    <a:ext uri="{9D8B030D-6E8A-4147-A177-3AD203B41FA5}">
                      <a16:colId xmlns:a16="http://schemas.microsoft.com/office/drawing/2014/main" val="230470342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3</a:t>
                      </a:r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5</a:t>
                      </a:r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2</a:t>
                      </a:r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마루 부리OTF 아주가는" panose="020B0600000101010101" pitchFamily="34" charset="-127"/>
                          <a:ea typeface="마루 부리OTF 아주가는" panose="020B0600000101010101" pitchFamily="34" charset="-127"/>
                        </a:rPr>
                        <a:t>1</a:t>
                      </a:r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latin typeface="마루 부리OTF 아주가는" panose="020B0600000101010101" pitchFamily="34" charset="-127"/>
                        <a:ea typeface="마루 부리OTF 아주가는" panose="020B0600000101010101" pitchFamily="34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07692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13EFDB-7D19-660F-1036-C8058705FD6C}"/>
              </a:ext>
            </a:extLst>
          </p:cNvPr>
          <p:cNvSpPr txBox="1"/>
          <p:nvPr/>
        </p:nvSpPr>
        <p:spPr>
          <a:xfrm>
            <a:off x="5877985" y="3367386"/>
            <a:ext cx="8565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앞</a:t>
            </a:r>
            <a:endParaRPr lang="en-US" altLang="ko-KR" sz="13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9AD07-34E7-4060-116B-BCB519100FED}"/>
              </a:ext>
            </a:extLst>
          </p:cNvPr>
          <p:cNvSpPr txBox="1"/>
          <p:nvPr/>
        </p:nvSpPr>
        <p:spPr>
          <a:xfrm>
            <a:off x="10980352" y="3367386"/>
            <a:ext cx="8565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뒤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440647E-BE94-417D-343B-2491E5659240}"/>
              </a:ext>
            </a:extLst>
          </p:cNvPr>
          <p:cNvCxnSpPr/>
          <p:nvPr/>
        </p:nvCxnSpPr>
        <p:spPr>
          <a:xfrm flipH="1">
            <a:off x="6312036" y="3513580"/>
            <a:ext cx="4282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B52287B-EC29-5F6C-59BA-7530D8C5974C}"/>
              </a:ext>
            </a:extLst>
          </p:cNvPr>
          <p:cNvCxnSpPr/>
          <p:nvPr/>
        </p:nvCxnSpPr>
        <p:spPr>
          <a:xfrm flipH="1">
            <a:off x="10504001" y="3504598"/>
            <a:ext cx="4282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563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BFCD15-0717-C25C-0BE2-E4826CF81440}"/>
              </a:ext>
            </a:extLst>
          </p:cNvPr>
          <p:cNvSpPr txBox="1"/>
          <p:nvPr/>
        </p:nvSpPr>
        <p:spPr>
          <a:xfrm>
            <a:off x="6018282" y="844732"/>
            <a:ext cx="6096000" cy="562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queue&lt;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q;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cur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q.front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cur &lt;&lt;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q.pop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edges[cur])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6" y="2105561"/>
            <a:ext cx="454338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구현해봅시다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와 다르게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는 재귀적으로 구현하지 않고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사용해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비재귀적으로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구현합니다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</a:t>
            </a:r>
            <a:r>
              <a:rPr lang="en-US" altLang="ko-KR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FIFO (First-In-First-Out)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형태의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자료구조임을 생각해보면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작동 방식을 이해하기 어렵지 않을 것입니다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54E7B82-D146-4D08-B29B-AA334BF43A61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0927B1-B1F7-663D-5518-47D9F38389DF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7D69F9-0FD1-2620-CC30-55B3E5F28A6B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785570-65D9-2764-F9F1-2491C8DF1170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165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8FAF40-434B-00C0-7E04-A73A987420E2}"/>
              </a:ext>
            </a:extLst>
          </p:cNvPr>
          <p:cNvSpPr/>
          <p:nvPr/>
        </p:nvSpPr>
        <p:spPr>
          <a:xfrm>
            <a:off x="5392477" y="1823015"/>
            <a:ext cx="6799523" cy="943334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23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6" y="3076111"/>
            <a:ext cx="430638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</a:t>
            </a:r>
            <a:r>
              <a:rPr lang="ko-KR" altLang="en-US" sz="16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 정점을 넣어줍니다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그 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빌 때 까지 다음 슬라이드에서 설명할 과정을 반복합니다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F286759-AC28-1C20-D2BF-D999EE9F49CB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D3AC8D2-5C42-AB12-076B-AB7D01336855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7D53CE-4157-CB71-5871-8F46634537D0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80736C-B8D0-9E3E-9680-78992FC343B2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0BFBE7-092D-0F0B-4CD1-E4DA36C0CA34}"/>
              </a:ext>
            </a:extLst>
          </p:cNvPr>
          <p:cNvSpPr txBox="1"/>
          <p:nvPr/>
        </p:nvSpPr>
        <p:spPr>
          <a:xfrm>
            <a:off x="6018282" y="844732"/>
            <a:ext cx="6096000" cy="562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queue&lt;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q;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cur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q.front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cur &lt;&lt;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q.pop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edges[cur])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367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30C3080-11C3-05A2-9B03-CD58C6D46D63}"/>
              </a:ext>
            </a:extLst>
          </p:cNvPr>
          <p:cNvSpPr/>
          <p:nvPr/>
        </p:nvSpPr>
        <p:spPr>
          <a:xfrm>
            <a:off x="5392477" y="2945757"/>
            <a:ext cx="6799523" cy="2780120"/>
          </a:xfrm>
          <a:prstGeom prst="rect">
            <a:avLst/>
          </a:prstGeom>
          <a:solidFill>
            <a:srgbClr val="ECE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24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22ABFE-769D-B138-143E-32C704EE8026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719A0C5-A8D8-79E4-6C59-72A736973305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5818432-B727-5ADD-2670-67D98E2431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487A89E6-9DB4-ACA3-3E5A-85B95F6D2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A971EA9-54F6-C3C8-7980-08ED3272A1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6C7B0-EE91-4983-76AD-206ECD526559}"/>
              </a:ext>
            </a:extLst>
          </p:cNvPr>
          <p:cNvSpPr txBox="1"/>
          <p:nvPr/>
        </p:nvSpPr>
        <p:spPr>
          <a:xfrm>
            <a:off x="722811" y="1601136"/>
            <a:ext cx="4306385" cy="4218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빌 때까지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(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모든 정점을 방문했을 때까지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 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다음을 반복합니다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맨 앞에 있는 정점을 현재 방문한 정점 </a:t>
            </a:r>
            <a:r>
              <a:rPr lang="en-US" altLang="ko-KR" sz="15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cur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저장하고 번호를 출력합니다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맨 앞에 있는 정점을 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ko-KR" altLang="en-US" sz="15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제거합니다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cur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과 연결된 정점들 중 아직 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방문하지 않은 정점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들을 </a:t>
            </a:r>
            <a:r>
              <a:rPr lang="en-US" altLang="ko-KR" sz="15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넣어줍니다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1~3 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과정을 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빌 때 까지 반복합니다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queue</a:t>
            </a:r>
            <a:r>
              <a:rPr lang="ko-KR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 비었다는 것은 더 이상 방문할 수 있는 정점이 없다는 뜻이기 때문입니다</a:t>
            </a:r>
            <a:r>
              <a:rPr lang="en-US" altLang="ko-KR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53CC7D4-31C4-18EC-DD14-F023249B4315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928D46C-370A-1E8A-8C68-C4257F46A6E1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EAA5D5-C235-A9A0-CB2C-BB07FC516548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4E4FB4-8E46-CDF4-E010-2580606521ED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9197FA-810F-4B2E-A069-611B849255D6}"/>
              </a:ext>
            </a:extLst>
          </p:cNvPr>
          <p:cNvSpPr txBox="1"/>
          <p:nvPr/>
        </p:nvSpPr>
        <p:spPr>
          <a:xfrm>
            <a:off x="6018282" y="844732"/>
            <a:ext cx="6096000" cy="562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edges[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1005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queue&lt;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q;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vis[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q.empty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cur =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q.front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cur &lt;&lt; </a:t>
            </a:r>
            <a:r>
              <a:rPr lang="en-US" altLang="ko-K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q.pop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edges[cur])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vis[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nxt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973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25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857BA1-8FCA-A55B-C236-2F13404B1B7E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1F2EB7-016A-866E-BBAF-A86DA568226A}"/>
              </a:ext>
            </a:extLst>
          </p:cNvPr>
          <p:cNvSpPr txBox="1"/>
          <p:nvPr/>
        </p:nvSpPr>
        <p:spPr>
          <a:xfrm>
            <a:off x="3669695" y="2066439"/>
            <a:ext cx="4852610" cy="1065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DFS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와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BFS</a:t>
            </a:r>
            <a:r>
              <a:rPr lang="ko-KR" altLang="en-US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의 시간 복잡도 </a:t>
            </a:r>
            <a:r>
              <a:rPr lang="en-US" altLang="ko-KR" sz="22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– </a:t>
            </a:r>
            <a:r>
              <a:rPr lang="en-US" altLang="ko-KR" sz="2200" dirty="0">
                <a:solidFill>
                  <a:srgbClr val="5F2CC6"/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O(V + E)</a:t>
            </a:r>
          </a:p>
          <a:p>
            <a:pPr algn="ctr">
              <a:lnSpc>
                <a:spcPct val="150000"/>
              </a:lnSpc>
            </a:pP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(V =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정점의 개수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,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E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=</a:t>
            </a:r>
            <a:r>
              <a:rPr lang="ko-KR" altLang="en-US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 간선의 개수</a:t>
            </a:r>
            <a:r>
              <a:rPr lang="en-US" altLang="ko-KR" sz="2200" dirty="0">
                <a:highlight>
                  <a:srgbClr val="ECE4F9"/>
                </a:highlight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8FBE-FA7A-3A53-CB0D-15563B3FF2A1}"/>
              </a:ext>
            </a:extLst>
          </p:cNvPr>
          <p:cNvSpPr txBox="1"/>
          <p:nvPr/>
        </p:nvSpPr>
        <p:spPr>
          <a:xfrm>
            <a:off x="3484059" y="3340139"/>
            <a:ext cx="526627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정점을 한번씩 방문하기 때문에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V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모든 정점에서 연결된 간선을 한번씩 체크하기 때문에 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(</a:t>
            </a:r>
            <a:r>
              <a:rPr lang="ko-KR" altLang="en-US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방문 여부 체크 과정에서</a:t>
            </a:r>
            <a:r>
              <a:rPr lang="en-US" altLang="ko-KR" sz="1600" dirty="0"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) 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마루 부리OTF 중간" panose="020B0600000101010101" pitchFamily="34" charset="-127"/>
              <a:ea typeface="마루 부리OTF 중간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363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E36E-4B32-80A0-275D-2D806558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C13AB07F-BE58-A33B-9D7A-50BE55DB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1B5D622-BD11-7A1D-706B-44A384FD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26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AD47669-9399-6ABC-7E00-A2A999CD2F9B}"/>
              </a:ext>
            </a:extLst>
          </p:cNvPr>
          <p:cNvGrpSpPr/>
          <p:nvPr/>
        </p:nvGrpSpPr>
        <p:grpSpPr>
          <a:xfrm>
            <a:off x="4920210" y="1545201"/>
            <a:ext cx="2351579" cy="430887"/>
            <a:chOff x="1097620" y="1639465"/>
            <a:chExt cx="2351579" cy="43088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6971A431-B082-CF64-F862-62A29F4AE3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3FD3FB-DF6F-8620-93E4-1B72081CACCC}"/>
                </a:ext>
              </a:extLst>
            </p:cNvPr>
            <p:cNvSpPr txBox="1"/>
            <p:nvPr/>
          </p:nvSpPr>
          <p:spPr>
            <a:xfrm>
              <a:off x="1355462" y="1639465"/>
              <a:ext cx="20937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잡기놀이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#3640)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91C2452-5C2F-A34B-591A-2AE9923F7FBB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설명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4D7E1-68F3-F152-ABCD-0E26AFF80CB0}"/>
              </a:ext>
            </a:extLst>
          </p:cNvPr>
          <p:cNvSpPr txBox="1"/>
          <p:nvPr/>
        </p:nvSpPr>
        <p:spPr>
          <a:xfrm>
            <a:off x="1406099" y="3107445"/>
            <a:ext cx="516455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X-1, X+1, 2X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이동할 수 있을 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이동하는 최단 거리를 구하여라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31E963-9AA2-854E-7185-2E8DC3502C87}"/>
              </a:ext>
            </a:extLst>
          </p:cNvPr>
          <p:cNvSpPr txBox="1"/>
          <p:nvPr/>
        </p:nvSpPr>
        <p:spPr>
          <a:xfrm>
            <a:off x="7736971" y="2691344"/>
            <a:ext cx="3471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제약 조건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5153B4-745E-7FD0-EC57-94E3F29E8148}"/>
                  </a:ext>
                </a:extLst>
              </p:cNvPr>
              <p:cNvSpPr txBox="1"/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N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1</a:t>
                </a:r>
                <a:r>
                  <a:rPr lang="en-US" altLang="ko-KR" sz="16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K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마루 부리OTF 가는" panose="020B0600000101010101" pitchFamily="34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마루 부리OTF 가는" panose="020B0600000101010101" pitchFamily="34" charset="-127"/>
                      </a:rPr>
                      <m:t>≤</m:t>
                    </m:r>
                  </m:oMath>
                </a14:m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가는" panose="020B0600000101010101" pitchFamily="34" charset="-127"/>
                    <a:ea typeface="마루 부리OTF 가는" panose="020B0600000101010101" pitchFamily="34" charset="-127"/>
                  </a:rPr>
                  <a:t> 100,000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5153B4-745E-7FD0-EC57-94E3F29E8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70" y="3107445"/>
                <a:ext cx="3471804" cy="800219"/>
              </a:xfrm>
              <a:prstGeom prst="rect">
                <a:avLst/>
              </a:prstGeom>
              <a:blipFill>
                <a:blip r:embed="rId4"/>
                <a:stretch>
                  <a:fillRect l="-702" b="-106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CF9ACC29-99AD-BE17-C6A0-C07A61CDBEE3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674184-D0AE-D8EA-2A64-94222456C7A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DA6644-2A5A-B515-606C-DD3663DAF944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A49DA9-F9A5-5423-E844-DDE0436DF546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735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4591-9DB8-122D-C7DE-96A1F7A6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F53A135-262F-4998-1EA7-59D1557B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A740A0A-EA7B-33D0-F2C3-36672D6A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E8803-C9BD-6D36-65FF-7F1C1F14A864}"/>
              </a:ext>
            </a:extLst>
          </p:cNvPr>
          <p:cNvSpPr txBox="1"/>
          <p:nvPr/>
        </p:nvSpPr>
        <p:spPr>
          <a:xfrm>
            <a:off x="1406100" y="2691344"/>
            <a:ext cx="430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&lt;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문제 해설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중간" panose="020B0600000101010101" pitchFamily="34" charset="-127"/>
                <a:ea typeface="마루 부리OTF 중간" panose="020B0600000101010101" pitchFamily="34" charset="-127"/>
              </a:rPr>
              <a:t>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37404-554C-E9F1-93D9-D2511F13647D}"/>
              </a:ext>
            </a:extLst>
          </p:cNvPr>
          <p:cNvSpPr txBox="1"/>
          <p:nvPr/>
        </p:nvSpPr>
        <p:spPr>
          <a:xfrm>
            <a:off x="1406099" y="3107445"/>
            <a:ext cx="840565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X-1, X+1, 2X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갈 수 있다는 정보를 간선으로 생각합시다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이러한 그래프에서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로의 최단 거리는 어떻게 구할 수 있을까요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가중치가 없는 그래프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에서는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600" dirty="0">
                <a:solidFill>
                  <a:srgbClr val="6826C0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BFS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통해 최단 거리를 구할 수 있습니다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FB81A46-D220-6C76-D3C6-1B4DC3FAE01B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6CBB47D-DEAA-482C-8C97-5CB27BEC4822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A9FD54-8436-3F17-C9E8-F3E260CF7642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A6C248-0433-D2B9-8FD7-B5681B117F27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A5B38C6-8D3F-977B-3AD0-A7BCC9EA88D7}"/>
              </a:ext>
            </a:extLst>
          </p:cNvPr>
          <p:cNvGrpSpPr/>
          <p:nvPr/>
        </p:nvGrpSpPr>
        <p:grpSpPr>
          <a:xfrm>
            <a:off x="4920210" y="1545201"/>
            <a:ext cx="2351579" cy="430887"/>
            <a:chOff x="1097620" y="1639465"/>
            <a:chExt cx="2351579" cy="430887"/>
          </a:xfrm>
        </p:grpSpPr>
        <p:pic>
          <p:nvPicPr>
            <p:cNvPr id="6" name="그래픽 5">
              <a:extLst>
                <a:ext uri="{FF2B5EF4-FFF2-40B4-BE49-F238E27FC236}">
                  <a16:creationId xmlns:a16="http://schemas.microsoft.com/office/drawing/2014/main" id="{CFE7DAA6-1DC8-B553-C5C0-59A085F1EA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97620" y="1740314"/>
              <a:ext cx="257841" cy="33003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1C1407-D12A-FC33-6A91-5B8CEFDE4847}"/>
                </a:ext>
              </a:extLst>
            </p:cNvPr>
            <p:cNvSpPr txBox="1"/>
            <p:nvPr/>
          </p:nvSpPr>
          <p:spPr>
            <a:xfrm>
              <a:off x="1355462" y="1639465"/>
              <a:ext cx="20937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잡기놀이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(JUNGOL #3640)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9856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69B9-8F77-EDF8-A375-111BA23A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EEEC4C3-7F3D-2130-8D20-B73EA3A2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142A60-E63B-D7C1-2779-804ED0D2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28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7EFEC9C-0EB2-D081-04EE-6D38FFA3DF4D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9E9E88E-0737-95CF-9BBF-B65B0B9EE14B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2A58BF0A-A91E-3366-F049-4BF72FCE3D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B4ABC78-EE6E-0387-9D93-282C941D8A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5641228-8CD4-2FD9-6BE3-405D0BA7B7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56D0E81-7524-153B-6892-BF8496130AAF}"/>
              </a:ext>
            </a:extLst>
          </p:cNvPr>
          <p:cNvSpPr txBox="1"/>
          <p:nvPr/>
        </p:nvSpPr>
        <p:spPr>
          <a:xfrm>
            <a:off x="722811" y="1861567"/>
            <a:ext cx="4306385" cy="3620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dist</a:t>
            </a:r>
            <a:r>
              <a:rPr lang="en-US" altLang="ko-KR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ko-KR" altLang="en-US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배열이 </a:t>
            </a:r>
            <a:r>
              <a:rPr lang="en-US" altLang="ko-KR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-1</a:t>
            </a:r>
            <a:r>
              <a:rPr lang="ko-KR" altLang="en-US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이라면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아직 방문하지 않음을 나타내고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</a:t>
            </a:r>
            <a:r>
              <a:rPr lang="en-US" altLang="ko-KR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-1</a:t>
            </a:r>
            <a:r>
              <a:rPr lang="ko-KR" altLang="en-US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 아니라면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시작점과의 거리를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나타냅니다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시작점인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큐에 넣고 </a:t>
            </a:r>
            <a:r>
              <a:rPr lang="en-US" altLang="ko-KR" sz="1400" dirty="0">
                <a:solidFill>
                  <a:srgbClr val="6826C0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BFS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시작합니다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현재 정점이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now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연결된 정점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x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아직 방문하지 않았다면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x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거리는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now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거리보다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큽니다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dist</a:t>
            </a:r>
            <a:r>
              <a:rPr lang="en-US" altLang="ko-KR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[x] = </a:t>
            </a:r>
            <a:r>
              <a:rPr lang="en-US" altLang="ko-KR" sz="1400" dirty="0" err="1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dist</a:t>
            </a:r>
            <a:r>
              <a:rPr lang="en-US" altLang="ko-KR" sz="1400" dirty="0">
                <a:solidFill>
                  <a:srgbClr val="5F2CC6"/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[now] + 1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처럼 </a:t>
            </a: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dist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 배열을 업데이트하여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시작점으로부터의 거리를 저장합니다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2B63EC6-5F24-17EC-8CB8-18FDA970B514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E70489F-5619-897E-373A-1DD5976162B3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9EFD44-45B9-A3E1-84A6-AC6464F4BE40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E8BBDB-1333-CD51-A927-0837D84A6214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7412378-8D82-2BA7-6799-71AC157A51EE}"/>
              </a:ext>
            </a:extLst>
          </p:cNvPr>
          <p:cNvSpPr txBox="1"/>
          <p:nvPr/>
        </p:nvSpPr>
        <p:spPr>
          <a:xfrm>
            <a:off x="6196795" y="1327407"/>
            <a:ext cx="6096964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N, K;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 &gt;&gt; K;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max(N, K)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 =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queue&lt;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q;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q.empty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now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q.front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q.pop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K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K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[K];</a:t>
            </a:r>
          </a:p>
          <a:p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755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1FFC5-A0E2-4BD4-EF91-9655481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279A203-C87E-829A-F116-E5C3DA57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01375C-43C8-DDAD-4423-97D543EE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29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C9A10DE-7373-876A-9905-4D279F9B65B2}"/>
              </a:ext>
            </a:extLst>
          </p:cNvPr>
          <p:cNvGrpSpPr/>
          <p:nvPr/>
        </p:nvGrpSpPr>
        <p:grpSpPr>
          <a:xfrm>
            <a:off x="5266200" y="1526377"/>
            <a:ext cx="252549" cy="4676726"/>
            <a:chOff x="6803262" y="1327407"/>
            <a:chExt cx="252549" cy="467672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4F6983C-73AC-0419-A3A0-1BFA82D3361F}"/>
                </a:ext>
              </a:extLst>
            </p:cNvPr>
            <p:cNvGrpSpPr/>
            <p:nvPr/>
          </p:nvGrpSpPr>
          <p:grpSpPr>
            <a:xfrm>
              <a:off x="6803262" y="1327407"/>
              <a:ext cx="252549" cy="4676726"/>
              <a:chOff x="6803262" y="1384440"/>
              <a:chExt cx="252549" cy="4676726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6A44626-1DDA-C534-19C6-16DE89678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37" y="1384440"/>
                <a:ext cx="0" cy="4676726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5C808590-34C9-F415-FF6C-A0C91178D2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3262" y="5899176"/>
                <a:ext cx="252549" cy="0"/>
              </a:xfrm>
              <a:prstGeom prst="line">
                <a:avLst/>
              </a:prstGeom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D8EB944-BB60-8C35-C11E-CC184BB512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3262" y="1518765"/>
              <a:ext cx="252549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23F8147-756A-96FA-DECF-B1235053AD0C}"/>
              </a:ext>
            </a:extLst>
          </p:cNvPr>
          <p:cNvSpPr txBox="1"/>
          <p:nvPr/>
        </p:nvSpPr>
        <p:spPr>
          <a:xfrm>
            <a:off x="722811" y="1433305"/>
            <a:ext cx="4306385" cy="4589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도착 지점이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이기 때문에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K+1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보다 큰 위치로 갈 필요가 없습니다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ECE4F9"/>
              </a:highlight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증명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)</a:t>
            </a:r>
            <a:b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</a:b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보다 큰 위치로 간다면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K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에 도달하기 위해서 언젠가는 왼쪽으로 이동해야 합니다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*2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사용해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K+2 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이상으로 간 뒤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-1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2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번 이상 사용해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를 가는 것 보다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-1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을 먼저 사용한 후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K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로 가는 것이 더 빠르기 때문입니다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비슷하게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, </a:t>
            </a:r>
            <a:r>
              <a:rPr lang="en-US" altLang="ko-KR" sz="1400" dirty="0"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0</a:t>
            </a:r>
            <a:r>
              <a:rPr lang="ko-KR" altLang="en-US" sz="1400" dirty="0"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보다 작은 위치로 갈 필요도 없습니다</a:t>
            </a:r>
            <a:r>
              <a:rPr lang="en-US" altLang="ko-KR" sz="1400" dirty="0">
                <a:highlight>
                  <a:srgbClr val="ECE4F9"/>
                </a:highlight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마루 부리OTF 가는" panose="020B0600000101010101" pitchFamily="34" charset="-127"/>
              <a:ea typeface="마루 부리OTF 가는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따라서 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now</a:t>
            </a:r>
            <a:r>
              <a:rPr lang="ko-KR" altLang="en-US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의 범위를 확인하여 너무 많이 방문하지 않도록 효율성을 높여줄 수 있습니다</a:t>
            </a:r>
            <a:r>
              <a:rPr lang="en-US" altLang="ko-KR" sz="1400" dirty="0">
                <a:latin typeface="마루 부리OTF 가는" panose="020B0600000101010101" pitchFamily="34" charset="-127"/>
                <a:ea typeface="마루 부리OTF 가는" panose="020B0600000101010101" pitchFamily="34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E8C9E1-8E95-0986-DDFC-65BB182B67B0}"/>
              </a:ext>
            </a:extLst>
          </p:cNvPr>
          <p:cNvGrpSpPr/>
          <p:nvPr/>
        </p:nvGrpSpPr>
        <p:grpSpPr>
          <a:xfrm>
            <a:off x="722811" y="577310"/>
            <a:ext cx="1540609" cy="750097"/>
            <a:chOff x="1271451" y="2719618"/>
            <a:chExt cx="1540609" cy="75009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73FC321-DD2D-46D6-08CE-346AB2B82CAE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47F18B-FF7D-212E-5F23-896A9BAB20D3}"/>
                </a:ext>
              </a:extLst>
            </p:cNvPr>
            <p:cNvSpPr txBox="1"/>
            <p:nvPr/>
          </p:nvSpPr>
          <p:spPr>
            <a:xfrm>
              <a:off x="1382177" y="2853329"/>
              <a:ext cx="8130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#BFS</a:t>
              </a:r>
              <a:endParaRPr lang="ko-KR" altLang="en-US" sz="2000" dirty="0">
                <a:latin typeface="마루 부리OTF 중간" panose="020B0600000101010101" pitchFamily="34" charset="-127"/>
                <a:ea typeface="마루 부리OTF 중간" panose="020B0600000101010101" pitchFamily="34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9CC965-E457-8665-60B9-FD0DF46F5ABF}"/>
                </a:ext>
              </a:extLst>
            </p:cNvPr>
            <p:cNvSpPr txBox="1"/>
            <p:nvPr/>
          </p:nvSpPr>
          <p:spPr>
            <a:xfrm>
              <a:off x="1382177" y="3192716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&lt;BFS&gt;</a:t>
              </a:r>
              <a:endParaRPr lang="ko-KR" altLang="en-US" sz="1200" dirty="0"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4CB65CD-FBD9-45FA-AB39-6A29864419D6}"/>
              </a:ext>
            </a:extLst>
          </p:cNvPr>
          <p:cNvSpPr txBox="1"/>
          <p:nvPr/>
        </p:nvSpPr>
        <p:spPr>
          <a:xfrm>
            <a:off x="6196795" y="1327407"/>
            <a:ext cx="6096964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N, K;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 &gt;&gt; K;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max(N, K)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[N] =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queue&lt;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q;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q.empty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now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q.front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q.pop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 &lt;= K +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*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 &gt;=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-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 &lt;= K + </a:t>
            </a:r>
            <a:r>
              <a:rPr lang="en-US" altLang="ko-KR" sz="1100" b="0" dirty="0">
                <a:solidFill>
                  <a:srgbClr val="098658"/>
                </a:solidFill>
                <a:effectLst/>
                <a:highlight>
                  <a:srgbClr val="ECE4F9"/>
                </a:highlight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-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[now]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q.push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(now + </a:t>
            </a:r>
            <a:r>
              <a:rPr lang="en-US" altLang="ko-KR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[K];</a:t>
            </a:r>
          </a:p>
          <a:p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498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8F3F-B745-DA76-1B67-A68F8F34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E50DACD3-23DD-BB05-2998-0EA91584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702A82D-C20B-DEB2-AD9C-E6536249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30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75C06D6-7B98-AD8E-785C-D375D3FA87F4}"/>
              </a:ext>
            </a:extLst>
          </p:cNvPr>
          <p:cNvGrpSpPr/>
          <p:nvPr/>
        </p:nvGrpSpPr>
        <p:grpSpPr>
          <a:xfrm>
            <a:off x="722811" y="577310"/>
            <a:ext cx="1540609" cy="533821"/>
            <a:chOff x="1271451" y="2719618"/>
            <a:chExt cx="154060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75321D2-3687-D8CC-A811-E3AF9FE9DA7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7C40EB-2DBE-AEBD-FE04-3555C48ED88B}"/>
                </a:ext>
              </a:extLst>
            </p:cNvPr>
            <p:cNvSpPr txBox="1"/>
            <p:nvPr/>
          </p:nvSpPr>
          <p:spPr>
            <a:xfrm>
              <a:off x="1382177" y="2853329"/>
              <a:ext cx="1356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필수문제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E3F3B31-813D-695F-05F9-C49E4820E7BC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C573748E-6173-969F-B04B-5138628C320C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7F2B9FB0-C2F9-E6EE-5378-8934DC5910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10B478-1110-CC6D-A4DB-760FBC20BDCA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장기 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2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#4189)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240746-AF09-A7B8-C8AF-F7199DAEB813}"/>
                </a:ext>
              </a:extLst>
            </p:cNvPr>
            <p:cNvSpPr txBox="1"/>
            <p:nvPr/>
          </p:nvSpPr>
          <p:spPr>
            <a:xfrm>
              <a:off x="1091378" y="2227006"/>
              <a:ext cx="3071547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BFS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는 최단 거리를 구할 때 쓸 수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BEAEDE9-6570-FC17-CAB2-87AA8BF1EBBC}"/>
              </a:ext>
            </a:extLst>
          </p:cNvPr>
          <p:cNvGrpSpPr/>
          <p:nvPr/>
        </p:nvGrpSpPr>
        <p:grpSpPr>
          <a:xfrm>
            <a:off x="6886356" y="1761511"/>
            <a:ext cx="4407057" cy="790584"/>
            <a:chOff x="833537" y="1761511"/>
            <a:chExt cx="4407057" cy="79058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D7129BA-EC4A-DFDE-7134-861A6EF589CF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77E852DA-8FAC-7F41-E35C-A862D030A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9E7D39-B992-2399-6062-018F905CA0C0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잡기놀이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#3640)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849AA7-8B06-EA43-65B5-8A841A1FF256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강의에서 설명한 문제입니다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7BD9DAC-24B1-F97C-0A11-F79898B449F0}"/>
              </a:ext>
            </a:extLst>
          </p:cNvPr>
          <p:cNvGrpSpPr/>
          <p:nvPr/>
        </p:nvGrpSpPr>
        <p:grpSpPr>
          <a:xfrm>
            <a:off x="833537" y="3033708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F95B03F1-5A1B-44AD-3667-6A9E25AF687E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A16BDAFB-D7BD-97CF-65C3-78B899CA3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9249F97-6226-CBC8-E8B2-91F5136EE21A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안전 영역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#2298)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CC526CA-4508-3578-766B-793A02EDFB4D}"/>
                </a:ext>
              </a:extLst>
            </p:cNvPr>
            <p:cNvSpPr txBox="1"/>
            <p:nvPr/>
          </p:nvSpPr>
          <p:spPr>
            <a:xfrm>
              <a:off x="1091379" y="2227006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연결 요소의 개수 구하기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11B5957-7CCD-490F-99E8-7BA893A77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886354" y="1861614"/>
            <a:ext cx="257841" cy="330037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CDCB8A6B-E085-5A23-A659-BC94EE8B9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3536" y="1873442"/>
            <a:ext cx="257841" cy="3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36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0B7CC59-84C9-2748-2E2B-35FB175E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B6E928-A89E-1AED-3811-F5F5BEA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31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72617A-0684-D6D5-BB9C-31CCE7B434CD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42C132-BEF2-02D3-6F81-30206456B364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3A93D-F4E0-E683-C473-2AD0E7A50B52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341961C-51C8-AD09-6FA4-6D0313682DC7}"/>
              </a:ext>
            </a:extLst>
          </p:cNvPr>
          <p:cNvGrpSpPr/>
          <p:nvPr/>
        </p:nvGrpSpPr>
        <p:grpSpPr>
          <a:xfrm>
            <a:off x="833537" y="1761511"/>
            <a:ext cx="4407057" cy="790584"/>
            <a:chOff x="833537" y="1761511"/>
            <a:chExt cx="4407057" cy="79058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F12F775-532B-3A5C-6513-23CDFA918780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A7BE940B-E6D3-53BC-717F-055402626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7AF04-800F-CF98-2ED6-27C83E4530FE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영역 구하기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#1457)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5DDAAB-1D20-DCB5-EE2A-4CEE275E3B91}"/>
                </a:ext>
              </a:extLst>
            </p:cNvPr>
            <p:cNvSpPr txBox="1"/>
            <p:nvPr/>
          </p:nvSpPr>
          <p:spPr>
            <a:xfrm>
              <a:off x="1091378" y="2227006"/>
              <a:ext cx="376998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최단 거리를 구할 수 있으니 이 문제도 해결할 수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0816266-DCD5-8A4C-A62A-45E0E84BBA7F}"/>
              </a:ext>
            </a:extLst>
          </p:cNvPr>
          <p:cNvGrpSpPr/>
          <p:nvPr/>
        </p:nvGrpSpPr>
        <p:grpSpPr>
          <a:xfrm>
            <a:off x="833537" y="4305906"/>
            <a:ext cx="4407057" cy="790584"/>
            <a:chOff x="833537" y="1761511"/>
            <a:chExt cx="4407057" cy="790584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D5D57EA-215C-9B08-1744-B17B4A98963A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5ABFB785-0693-76F8-5F2F-96C60DB27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1" cy="330036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78B6DF-292F-62DF-3714-F9A4617FAEBB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토마토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초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#2606)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55F67-6F0F-618D-4DD9-B0592E3B20E8}"/>
                </a:ext>
              </a:extLst>
            </p:cNvPr>
            <p:cNvSpPr txBox="1"/>
            <p:nvPr/>
          </p:nvSpPr>
          <p:spPr>
            <a:xfrm>
              <a:off x="1091379" y="2227006"/>
              <a:ext cx="3203568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3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격자 그래프 위에서의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BFS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탐색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9B881D0-0D3E-2900-7089-66A29F56E436}"/>
              </a:ext>
            </a:extLst>
          </p:cNvPr>
          <p:cNvGrpSpPr/>
          <p:nvPr/>
        </p:nvGrpSpPr>
        <p:grpSpPr>
          <a:xfrm>
            <a:off x="6886356" y="3033708"/>
            <a:ext cx="4407057" cy="790584"/>
            <a:chOff x="833537" y="1761511"/>
            <a:chExt cx="4407057" cy="79058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A561F1D2-699D-8BE1-AFD5-8C50D93384C8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40" name="그래픽 39">
                <a:extLst>
                  <a:ext uri="{FF2B5EF4-FFF2-40B4-BE49-F238E27FC236}">
                    <a16:creationId xmlns:a16="http://schemas.microsoft.com/office/drawing/2014/main" id="{E5C0FA43-F596-3BCE-ADAB-B48F7FF51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3AADE3-E9AE-DDC3-A52E-CA0DA4DE8075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보물섬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#1462)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22A60C-EB8A-18B8-34D1-DA1240F9DEFD}"/>
                </a:ext>
              </a:extLst>
            </p:cNvPr>
            <p:cNvSpPr txBox="1"/>
            <p:nvPr/>
          </p:nvSpPr>
          <p:spPr>
            <a:xfrm>
              <a:off x="1091378" y="2227006"/>
              <a:ext cx="320356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문제 조건에 주목합시다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5BFF308-B0AD-1DC3-44AC-57C65CFA0522}"/>
              </a:ext>
            </a:extLst>
          </p:cNvPr>
          <p:cNvGrpSpPr/>
          <p:nvPr/>
        </p:nvGrpSpPr>
        <p:grpSpPr>
          <a:xfrm>
            <a:off x="833537" y="3033708"/>
            <a:ext cx="4407057" cy="755973"/>
            <a:chOff x="6886356" y="4305906"/>
            <a:chExt cx="4407057" cy="75597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55556357-7C04-8884-9F65-C77C88ED22A0}"/>
                </a:ext>
              </a:extLst>
            </p:cNvPr>
            <p:cNvGrpSpPr/>
            <p:nvPr/>
          </p:nvGrpSpPr>
          <p:grpSpPr>
            <a:xfrm>
              <a:off x="6886356" y="4305906"/>
              <a:ext cx="4407057" cy="430887"/>
              <a:chOff x="1097620" y="1639465"/>
              <a:chExt cx="4407057" cy="430887"/>
            </a:xfrm>
          </p:grpSpPr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695CFFD9-5E6C-07D4-E1E3-45C1A8BA2B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39" cy="330035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8D3416-EFA2-1EF6-60FF-C5076E3EC9E0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토마토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(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고</a:t>
                </a:r>
                <a:r>
                  <a:rPr lang="en-US" altLang="ko-KR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)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#2613)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D26425D-D48A-EC12-D16F-447280684981}"/>
                </a:ext>
              </a:extLst>
            </p:cNvPr>
            <p:cNvSpPr txBox="1"/>
            <p:nvPr/>
          </p:nvSpPr>
          <p:spPr>
            <a:xfrm>
              <a:off x="7144197" y="4736790"/>
              <a:ext cx="3203567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2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차원 격자 그래프 위에서의 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BFS 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탐색</a:t>
              </a:r>
              <a:endPara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마루 부리OTF 아주가는" panose="020B0600000101010101" pitchFamily="34" charset="-127"/>
                <a:ea typeface="마루 부리OTF 아주가는" panose="020B0600000101010101" pitchFamily="34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99CE1AE6-BD42-9EBA-6176-4485194F38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886773" y="4406752"/>
              <a:ext cx="257421" cy="329500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8B50424-D64D-AA34-D87B-75656742108A}"/>
              </a:ext>
            </a:extLst>
          </p:cNvPr>
          <p:cNvGrpSpPr/>
          <p:nvPr/>
        </p:nvGrpSpPr>
        <p:grpSpPr>
          <a:xfrm>
            <a:off x="6888225" y="1761510"/>
            <a:ext cx="4685211" cy="790584"/>
            <a:chOff x="833537" y="1761511"/>
            <a:chExt cx="4685211" cy="79058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46F09D2-94D9-9A83-C67D-E1219008E5AD}"/>
                </a:ext>
              </a:extLst>
            </p:cNvPr>
            <p:cNvGrpSpPr/>
            <p:nvPr/>
          </p:nvGrpSpPr>
          <p:grpSpPr>
            <a:xfrm>
              <a:off x="833537" y="1761511"/>
              <a:ext cx="4685211" cy="430887"/>
              <a:chOff x="1097620" y="1639465"/>
              <a:chExt cx="4685211" cy="430887"/>
            </a:xfrm>
          </p:grpSpPr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2AFA6C74-02A7-B112-9657-070E3283F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6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434236-2BF5-4443-7F50-2841F938EF82}"/>
                  </a:ext>
                </a:extLst>
              </p:cNvPr>
              <p:cNvSpPr txBox="1"/>
              <p:nvPr/>
            </p:nvSpPr>
            <p:spPr>
              <a:xfrm>
                <a:off x="1355462" y="1639465"/>
                <a:ext cx="442736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저글링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방사능 오염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#1078)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25DC1B-0371-4ACE-9C30-AC166FE5D36C}"/>
                </a:ext>
              </a:extLst>
            </p:cNvPr>
            <p:cNvSpPr txBox="1"/>
            <p:nvPr/>
          </p:nvSpPr>
          <p:spPr>
            <a:xfrm>
              <a:off x="1091378" y="2227006"/>
              <a:ext cx="3332839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BFS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는 최단 거리를 구할 때 쓸 수 있습니다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FD45-283D-9DFE-F826-293355F3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768116F2-D571-1FEE-708E-8CF10C88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2026 ALOHA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9C06B1-F0AB-2ABE-EF6C-36E3BA03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t>32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A5401F7-DDAF-C2F4-DA1D-0B8164960232}"/>
              </a:ext>
            </a:extLst>
          </p:cNvPr>
          <p:cNvGrpSpPr/>
          <p:nvPr/>
        </p:nvGrpSpPr>
        <p:grpSpPr>
          <a:xfrm>
            <a:off x="722811" y="577310"/>
            <a:ext cx="2108389" cy="533821"/>
            <a:chOff x="1271451" y="2719618"/>
            <a:chExt cx="2108389" cy="53382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456F2A9-1544-79EB-1876-FCD45B055D86}"/>
                </a:ext>
              </a:extLst>
            </p:cNvPr>
            <p:cNvSpPr/>
            <p:nvPr/>
          </p:nvSpPr>
          <p:spPr>
            <a:xfrm>
              <a:off x="1271451" y="2719618"/>
              <a:ext cx="1540609" cy="267422"/>
            </a:xfrm>
            <a:prstGeom prst="rect">
              <a:avLst/>
            </a:prstGeom>
            <a:gradFill flip="none" rotWithShape="1">
              <a:gsLst>
                <a:gs pos="0">
                  <a:srgbClr val="DFF0F0"/>
                </a:gs>
                <a:gs pos="50000">
                  <a:srgbClr val="D8D8F0"/>
                </a:gs>
                <a:gs pos="100000">
                  <a:srgbClr val="F1D9F7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CA1A41-7311-A724-5320-056403EEABD7}"/>
                </a:ext>
              </a:extLst>
            </p:cNvPr>
            <p:cNvSpPr txBox="1"/>
            <p:nvPr/>
          </p:nvSpPr>
          <p:spPr>
            <a:xfrm>
              <a:off x="1382177" y="2853329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#</a:t>
              </a:r>
              <a:r>
                <a:rPr lang="ko-KR" altLang="en-US" sz="2000" dirty="0">
                  <a:latin typeface="마루 부리OTF 중간" panose="020B0600000101010101" pitchFamily="34" charset="-127"/>
                  <a:ea typeface="마루 부리OTF 중간" panose="020B0600000101010101" pitchFamily="34" charset="-127"/>
                </a:rPr>
                <a:t>연습 문제 도전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651CF1F-0536-8278-1125-F51DA43317D0}"/>
              </a:ext>
            </a:extLst>
          </p:cNvPr>
          <p:cNvGrpSpPr/>
          <p:nvPr/>
        </p:nvGrpSpPr>
        <p:grpSpPr>
          <a:xfrm>
            <a:off x="833537" y="1761511"/>
            <a:ext cx="4685212" cy="795180"/>
            <a:chOff x="833537" y="1761511"/>
            <a:chExt cx="4685212" cy="79518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E72BCAF-60D7-3661-1806-F4B50DF04D1F}"/>
                </a:ext>
              </a:extLst>
            </p:cNvPr>
            <p:cNvGrpSpPr/>
            <p:nvPr/>
          </p:nvGrpSpPr>
          <p:grpSpPr>
            <a:xfrm>
              <a:off x="833537" y="1761511"/>
              <a:ext cx="4407057" cy="430887"/>
              <a:chOff x="1097620" y="1639465"/>
              <a:chExt cx="4407057" cy="430887"/>
            </a:xfrm>
          </p:grpSpPr>
          <p:pic>
            <p:nvPicPr>
              <p:cNvPr id="30" name="그래픽 29">
                <a:extLst>
                  <a:ext uri="{FF2B5EF4-FFF2-40B4-BE49-F238E27FC236}">
                    <a16:creationId xmlns:a16="http://schemas.microsoft.com/office/drawing/2014/main" id="{D286CFB0-15C7-3857-7F25-18B262493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40" cy="330035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71378E-5AF6-8100-8A7E-0F277C796D20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화염에서탈출</a:t>
                </a: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#1082)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142255-E438-56A8-6C36-96CB2C3F82EF}"/>
                </a:ext>
              </a:extLst>
            </p:cNvPr>
            <p:cNvSpPr txBox="1"/>
            <p:nvPr/>
          </p:nvSpPr>
          <p:spPr>
            <a:xfrm>
              <a:off x="1091378" y="2231602"/>
              <a:ext cx="4427371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Multi-Source BFS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68A7958-362F-9EB0-C324-92B2A99BC473}"/>
              </a:ext>
            </a:extLst>
          </p:cNvPr>
          <p:cNvGrpSpPr/>
          <p:nvPr/>
        </p:nvGrpSpPr>
        <p:grpSpPr>
          <a:xfrm>
            <a:off x="6886356" y="1761511"/>
            <a:ext cx="4407057" cy="755973"/>
            <a:chOff x="6886356" y="4305906"/>
            <a:chExt cx="4407057" cy="755973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EE93AC59-56D8-AD5D-CA2D-7C677FA45AFE}"/>
                </a:ext>
              </a:extLst>
            </p:cNvPr>
            <p:cNvGrpSpPr/>
            <p:nvPr/>
          </p:nvGrpSpPr>
          <p:grpSpPr>
            <a:xfrm>
              <a:off x="6886356" y="4305906"/>
              <a:ext cx="4407057" cy="430887"/>
              <a:chOff x="1097620" y="1639465"/>
              <a:chExt cx="4407057" cy="430887"/>
            </a:xfrm>
          </p:grpSpPr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E52DFD5D-EAD0-3634-E2E1-E90C74D4B2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7620" y="1740314"/>
                <a:ext cx="257839" cy="330035"/>
              </a:xfrm>
              <a:prstGeom prst="rect">
                <a:avLst/>
              </a:prstGeom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230D2A-1E6F-BDCE-4AF5-25CC17185462}"/>
                  </a:ext>
                </a:extLst>
              </p:cNvPr>
              <p:cNvSpPr txBox="1"/>
              <p:nvPr/>
            </p:nvSpPr>
            <p:spPr>
              <a:xfrm>
                <a:off x="1355463" y="1639465"/>
                <a:ext cx="414921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중간" panose="020B0600000101010101" pitchFamily="34" charset="-127"/>
                    <a:ea typeface="마루 부리OTF 중간" panose="020B0600000101010101" pitchFamily="34" charset="-127"/>
                  </a:rPr>
                  <a:t>로봇 </a:t>
                </a:r>
                <a:r>
                  <a:rPr lang="en-US" altLang="ko-KR" sz="1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마루 부리OTF 아주가는" panose="020B0600000101010101" pitchFamily="34" charset="-127"/>
                    <a:ea typeface="마루 부리OTF 아주가는" panose="020B0600000101010101" pitchFamily="34" charset="-127"/>
                  </a:rPr>
                  <a:t>(JUNGOL #1006)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23C3504-47F6-4845-8DDA-4A654E51ED84}"/>
                </a:ext>
              </a:extLst>
            </p:cNvPr>
            <p:cNvSpPr txBox="1"/>
            <p:nvPr/>
          </p:nvSpPr>
          <p:spPr>
            <a:xfrm>
              <a:off x="7144198" y="4736790"/>
              <a:ext cx="2401276" cy="32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‘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상태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’</a:t>
              </a:r>
              <a:r>
                <a:rPr lang="ko-KR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란 무엇일까요</a:t>
              </a:r>
              <a:r>
                <a:rPr lang="en-US" altLang="ko-K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마루 부리OTF 아주가는" panose="020B0600000101010101" pitchFamily="34" charset="-127"/>
                  <a:ea typeface="마루 부리OTF 아주가는" panose="020B0600000101010101" pitchFamily="34" charset="-127"/>
                </a:rPr>
                <a:t>?</a:t>
              </a: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39E7B99D-01B9-62E9-34E4-98698E066F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886773" y="4406752"/>
              <a:ext cx="257421" cy="32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4598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DADD5D3-D80A-B325-031A-24B03E6F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49" y="859251"/>
            <a:ext cx="5164301" cy="513949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DEC1C4-6E65-763D-88C9-C9873240F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9F3C2E-C46B-4DBF-95A4-B7A6069EE539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96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7336</TotalTime>
  <Words>3013</Words>
  <Application>Microsoft Office PowerPoint</Application>
  <PresentationFormat>와이드스크린</PresentationFormat>
  <Paragraphs>644</Paragraphs>
  <Slides>33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3" baseType="lpstr">
      <vt:lpstr>마루 부리OTF 중간</vt:lpstr>
      <vt:lpstr>Cambria Math</vt:lpstr>
      <vt:lpstr>마루 부리OTF 굵은</vt:lpstr>
      <vt:lpstr>맑은 고딕</vt:lpstr>
      <vt:lpstr>Arial</vt:lpstr>
      <vt:lpstr>Courier New</vt:lpstr>
      <vt:lpstr>마루 부리OTF 아주가는</vt:lpstr>
      <vt:lpstr>마루 부리OTF 가는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최철민</dc:creator>
  <cp:lastModifiedBy>김태우</cp:lastModifiedBy>
  <cp:revision>124</cp:revision>
  <dcterms:created xsi:type="dcterms:W3CDTF">2023-01-29T15:02:12Z</dcterms:created>
  <dcterms:modified xsi:type="dcterms:W3CDTF">2026-05-07T09:40:27Z</dcterms:modified>
</cp:coreProperties>
</file>