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6"/>
  </p:notesMasterIdLst>
  <p:sldIdLst>
    <p:sldId id="258" r:id="rId2"/>
    <p:sldId id="257" r:id="rId3"/>
    <p:sldId id="273" r:id="rId4"/>
    <p:sldId id="262" r:id="rId5"/>
    <p:sldId id="276" r:id="rId6"/>
    <p:sldId id="277" r:id="rId7"/>
    <p:sldId id="274" r:id="rId8"/>
    <p:sldId id="280" r:id="rId9"/>
    <p:sldId id="278" r:id="rId10"/>
    <p:sldId id="282" r:id="rId11"/>
    <p:sldId id="283" r:id="rId12"/>
    <p:sldId id="284" r:id="rId13"/>
    <p:sldId id="285" r:id="rId14"/>
    <p:sldId id="286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66" r:id="rId24"/>
    <p:sldId id="267" r:id="rId25"/>
  </p:sldIdLst>
  <p:sldSz cx="12192000" cy="6858000"/>
  <p:notesSz cx="6858000" cy="9144000"/>
  <p:embeddedFontLst>
    <p:embeddedFont>
      <p:font typeface="Cambria Math" panose="02040503050406030204" pitchFamily="18" charset="0"/>
      <p:regular r:id="rId27"/>
    </p:embeddedFont>
    <p:embeddedFont>
      <p:font typeface="Consolas" panose="020B0609020204030204" pitchFamily="49" charset="0"/>
      <p:regular r:id="rId28"/>
      <p:bold r:id="rId29"/>
      <p:italic r:id="rId30"/>
      <p:boldItalic r:id="rId31"/>
    </p:embeddedFont>
    <p:embeddedFont>
      <p:font typeface="마루 부리OTF 가는" panose="020B0600000101010101" pitchFamily="34" charset="-127"/>
      <p:regular r:id="rId32"/>
    </p:embeddedFont>
    <p:embeddedFont>
      <p:font typeface="마루 부리OTF 굵은" panose="020B0600000101010101" pitchFamily="34" charset="-127"/>
      <p:bold r:id="rId33"/>
    </p:embeddedFont>
    <p:embeddedFont>
      <p:font typeface="마루 부리OTF 아주가는" panose="020B0600000101010101" pitchFamily="34" charset="-127"/>
      <p:regular r:id="rId34"/>
    </p:embeddedFont>
    <p:embeddedFont>
      <p:font typeface="마루 부리OTF 중간" panose="020B0600000101010101" pitchFamily="34" charset="-127"/>
      <p:regular r:id="rId35"/>
    </p:embeddedFont>
    <p:embeddedFont>
      <p:font typeface="맑은 고딕" panose="020B0503020000020004" pitchFamily="34" charset="-127"/>
      <p:regular r:id="rId36"/>
      <p:bold r:id="rId3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2CC6"/>
    <a:srgbClr val="ECE4F9"/>
    <a:srgbClr val="A281E3"/>
    <a:srgbClr val="411E86"/>
    <a:srgbClr val="F1D9F7"/>
    <a:srgbClr val="D8D8F0"/>
    <a:srgbClr val="E6EAF5"/>
    <a:srgbClr val="DFF0F0"/>
    <a:srgbClr val="682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20" autoAdjust="0"/>
    <p:restoredTop sz="94595" autoAdjust="0"/>
  </p:normalViewPr>
  <p:slideViewPr>
    <p:cSldViewPr snapToGrid="0">
      <p:cViewPr varScale="1">
        <p:scale>
          <a:sx n="79" d="100"/>
          <a:sy n="79" d="100"/>
        </p:scale>
        <p:origin x="94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1035CC-7918-48BD-BA57-57F0E2EF3882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94BBA-063B-483F-AD13-0B789DD504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08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CF63A8-972B-ECC2-BFF9-57AA5D7DA1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F1CAAA-13CE-86E2-9CAC-F9EA562579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B4A81B2-C6F3-F12C-506B-D4C59CBD95B2}"/>
              </a:ext>
            </a:extLst>
          </p:cNvPr>
          <p:cNvGrpSpPr/>
          <p:nvPr userDrawn="1"/>
        </p:nvGrpSpPr>
        <p:grpSpPr>
          <a:xfrm>
            <a:off x="225725" y="191278"/>
            <a:ext cx="733245" cy="733245"/>
            <a:chOff x="225725" y="191278"/>
            <a:chExt cx="733245" cy="733245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6D09339-08DF-FB29-D024-5F7FB628FBD2}"/>
                </a:ext>
              </a:extLst>
            </p:cNvPr>
            <p:cNvCxnSpPr/>
            <p:nvPr userDrawn="1"/>
          </p:nvCxnSpPr>
          <p:spPr>
            <a:xfrm flipV="1">
              <a:off x="353684" y="191278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B22D98D-6BA8-70E2-6007-7BBD41B48EF0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V="1">
              <a:off x="592348" y="-53136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175F06D8-3CB9-0691-A0AF-A1931AF7C8C1}"/>
              </a:ext>
            </a:extLst>
          </p:cNvPr>
          <p:cNvGrpSpPr/>
          <p:nvPr userDrawn="1"/>
        </p:nvGrpSpPr>
        <p:grpSpPr>
          <a:xfrm rot="10800000">
            <a:off x="11233030" y="5988229"/>
            <a:ext cx="733245" cy="733245"/>
            <a:chOff x="225725" y="2494533"/>
            <a:chExt cx="733245" cy="733245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622511F4-9359-2FAE-041A-325A2BC10867}"/>
                </a:ext>
              </a:extLst>
            </p:cNvPr>
            <p:cNvCxnSpPr/>
            <p:nvPr userDrawn="1"/>
          </p:nvCxnSpPr>
          <p:spPr>
            <a:xfrm flipV="1">
              <a:off x="353684" y="2494533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276E7DD0-E965-F1D7-10C5-4D58405D6209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V="1">
              <a:off x="592348" y="2250119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DADC4BF-FE32-584A-3BC3-0B1DFB87B194}"/>
              </a:ext>
            </a:extLst>
          </p:cNvPr>
          <p:cNvCxnSpPr>
            <a:cxnSpLocks/>
          </p:cNvCxnSpPr>
          <p:nvPr userDrawn="1"/>
        </p:nvCxnSpPr>
        <p:spPr>
          <a:xfrm>
            <a:off x="3094727" y="6547509"/>
            <a:ext cx="241539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8295AD6-1EA1-D8F7-7C92-B18363EF007D}"/>
              </a:ext>
            </a:extLst>
          </p:cNvPr>
          <p:cNvCxnSpPr>
            <a:cxnSpLocks/>
          </p:cNvCxnSpPr>
          <p:nvPr userDrawn="1"/>
        </p:nvCxnSpPr>
        <p:spPr>
          <a:xfrm flipH="1">
            <a:off x="6673251" y="6547509"/>
            <a:ext cx="241539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662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3FE0DE-AF28-31A2-02B0-E48F52B7E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마루 부리OTF 가는" panose="020B0600000101010101" pitchFamily="34" charset="-127"/>
                <a:ea typeface="마루 부리OTF 가는" panose="020B0600000101010101" pitchFamily="34" charset="-127"/>
              </a:defRPr>
            </a:lvl1pPr>
          </a:lstStyle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75F046-FB8B-E15D-481E-1199DD491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413" y="260289"/>
            <a:ext cx="543465" cy="395319"/>
          </a:xfrm>
        </p:spPr>
        <p:txBody>
          <a:bodyPr/>
          <a:lstStyle/>
          <a:p>
            <a:fld id="{799F3C2E-C46B-4DBF-95A4-B7A6069EE53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4692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83EE82-BAA9-28ED-53F9-4F931A8AD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18749" y="6356349"/>
            <a:ext cx="11545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defRPr>
            </a:lvl1pPr>
          </a:lstStyle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DF162B-8A73-F673-A4AD-AAE8E550C2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879" y="192775"/>
            <a:ext cx="510396" cy="3845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defRPr>
            </a:lvl1pPr>
          </a:lstStyle>
          <a:p>
            <a:fld id="{799F3C2E-C46B-4DBF-95A4-B7A6069EE53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C74D6D9-55CE-5D6B-3663-19F0ACEE75D5}"/>
              </a:ext>
            </a:extLst>
          </p:cNvPr>
          <p:cNvGrpSpPr/>
          <p:nvPr userDrawn="1"/>
        </p:nvGrpSpPr>
        <p:grpSpPr>
          <a:xfrm>
            <a:off x="225725" y="191278"/>
            <a:ext cx="733245" cy="733245"/>
            <a:chOff x="225725" y="191278"/>
            <a:chExt cx="733245" cy="733245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76FE59A8-3A13-4DBF-848D-0A4B5F9B8F04}"/>
                </a:ext>
              </a:extLst>
            </p:cNvPr>
            <p:cNvCxnSpPr/>
            <p:nvPr userDrawn="1"/>
          </p:nvCxnSpPr>
          <p:spPr>
            <a:xfrm flipV="1">
              <a:off x="353684" y="191278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5A518FA-5657-6C47-1D47-B2BFC20026AC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V="1">
              <a:off x="592348" y="-53136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B321921-3606-5ADE-F485-50A4B9E6E1C8}"/>
              </a:ext>
            </a:extLst>
          </p:cNvPr>
          <p:cNvGrpSpPr/>
          <p:nvPr userDrawn="1"/>
        </p:nvGrpSpPr>
        <p:grpSpPr>
          <a:xfrm rot="10800000">
            <a:off x="11233030" y="5988229"/>
            <a:ext cx="733245" cy="733245"/>
            <a:chOff x="225725" y="2494533"/>
            <a:chExt cx="733245" cy="733245"/>
          </a:xfrm>
        </p:grpSpPr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A82FE0F-27D4-74D7-332C-5C9331F832CD}"/>
                </a:ext>
              </a:extLst>
            </p:cNvPr>
            <p:cNvCxnSpPr/>
            <p:nvPr userDrawn="1"/>
          </p:nvCxnSpPr>
          <p:spPr>
            <a:xfrm flipV="1">
              <a:off x="353684" y="2494533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96DE33B7-835C-5480-6E5F-7A74EEADE292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V="1">
              <a:off x="592348" y="2250119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그림 36">
            <a:extLst>
              <a:ext uri="{FF2B5EF4-FFF2-40B4-BE49-F238E27FC236}">
                <a16:creationId xmlns:a16="http://schemas.microsoft.com/office/drawing/2014/main" id="{6AD6205D-B609-2452-D290-A4DE110C8E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66" b="10603"/>
          <a:stretch/>
        </p:blipFill>
        <p:spPr>
          <a:xfrm>
            <a:off x="225725" y="6209799"/>
            <a:ext cx="470317" cy="456923"/>
          </a:xfrm>
          <a:prstGeom prst="rect">
            <a:avLst/>
          </a:prstGeom>
        </p:spPr>
      </p:pic>
      <p:sp>
        <p:nvSpPr>
          <p:cNvPr id="38" name="바닥글 개체 틀 4">
            <a:extLst>
              <a:ext uri="{FF2B5EF4-FFF2-40B4-BE49-F238E27FC236}">
                <a16:creationId xmlns:a16="http://schemas.microsoft.com/office/drawing/2014/main" id="{C0E0A9F9-BFED-2416-F40F-DD106DA58DA1}"/>
              </a:ext>
            </a:extLst>
          </p:cNvPr>
          <p:cNvSpPr txBox="1">
            <a:spLocks/>
          </p:cNvSpPr>
          <p:nvPr userDrawn="1"/>
        </p:nvSpPr>
        <p:spPr>
          <a:xfrm>
            <a:off x="5061909" y="136526"/>
            <a:ext cx="20681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2026 ALOHA 1</a:t>
            </a:r>
            <a:r>
              <a:rPr lang="ko-KR" altLang="en-US" dirty="0"/>
              <a:t>학기 멘토링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24350478-F844-BB21-FA6C-3CC25C1073D8}"/>
              </a:ext>
            </a:extLst>
          </p:cNvPr>
          <p:cNvCxnSpPr>
            <a:cxnSpLocks/>
          </p:cNvCxnSpPr>
          <p:nvPr userDrawn="1"/>
        </p:nvCxnSpPr>
        <p:spPr>
          <a:xfrm>
            <a:off x="3094727" y="6547509"/>
            <a:ext cx="241539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AA7F571-F1CD-87DD-6713-9CCF463C44AB}"/>
              </a:ext>
            </a:extLst>
          </p:cNvPr>
          <p:cNvCxnSpPr>
            <a:cxnSpLocks/>
          </p:cNvCxnSpPr>
          <p:nvPr userDrawn="1"/>
        </p:nvCxnSpPr>
        <p:spPr>
          <a:xfrm flipH="1">
            <a:off x="6673251" y="6547509"/>
            <a:ext cx="241539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2597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2.svg"/><Relationship Id="rId4" Type="http://schemas.openxmlformats.org/officeDocument/2006/relationships/image" Target="../media/image9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F94019-F726-1E6D-0E88-10F4330AF42D}"/>
              </a:ext>
            </a:extLst>
          </p:cNvPr>
          <p:cNvSpPr/>
          <p:nvPr/>
        </p:nvSpPr>
        <p:spPr>
          <a:xfrm>
            <a:off x="833536" y="4234933"/>
            <a:ext cx="6420703" cy="267422"/>
          </a:xfrm>
          <a:prstGeom prst="rect">
            <a:avLst/>
          </a:prstGeom>
          <a:gradFill flip="none" rotWithShape="1">
            <a:gsLst>
              <a:gs pos="0">
                <a:srgbClr val="DFF0F0"/>
              </a:gs>
              <a:gs pos="50000">
                <a:srgbClr val="D8D8F0"/>
              </a:gs>
              <a:gs pos="100000">
                <a:srgbClr val="F1D9F7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D30E43B8-2951-E15D-BD76-7F35D61508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18749" y="6356349"/>
            <a:ext cx="1154502" cy="365125"/>
          </a:xfrm>
        </p:spPr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DEC1C4-6E65-763D-88C9-C9873240F4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55879" y="192775"/>
            <a:ext cx="510396" cy="384535"/>
          </a:xfrm>
        </p:spPr>
        <p:txBody>
          <a:bodyPr/>
          <a:lstStyle/>
          <a:p>
            <a:fld id="{799F3C2E-C46B-4DBF-95A4-B7A6069EE539}" type="slidenum">
              <a:rPr lang="ko-KR" altLang="en-US" smtClean="0"/>
              <a:pPr/>
              <a:t>1</a:t>
            </a:fld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2047305-A02C-DD1E-B312-F3215FD81342}"/>
              </a:ext>
            </a:extLst>
          </p:cNvPr>
          <p:cNvGrpSpPr/>
          <p:nvPr/>
        </p:nvGrpSpPr>
        <p:grpSpPr>
          <a:xfrm>
            <a:off x="722811" y="577310"/>
            <a:ext cx="1932058" cy="533821"/>
            <a:chOff x="1271451" y="2719618"/>
            <a:chExt cx="1932058" cy="53382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A7C9B61-52A7-B26F-60AA-D2DC1991375C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4001C9F-D26D-C499-FAE9-918B1981B58A}"/>
                </a:ext>
              </a:extLst>
            </p:cNvPr>
            <p:cNvSpPr txBox="1"/>
            <p:nvPr/>
          </p:nvSpPr>
          <p:spPr>
            <a:xfrm>
              <a:off x="1382177" y="2853329"/>
              <a:ext cx="18213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 err="1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중급반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 </a:t>
              </a:r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주차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E99FB9E-EA1E-734D-F71F-83B64E922638}"/>
              </a:ext>
            </a:extLst>
          </p:cNvPr>
          <p:cNvSpPr txBox="1"/>
          <p:nvPr/>
        </p:nvSpPr>
        <p:spPr>
          <a:xfrm>
            <a:off x="833537" y="2967335"/>
            <a:ext cx="29578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dirty="0">
                <a:latin typeface="마루 부리OTF 굵은" panose="020B0600000101010101" pitchFamily="34" charset="-127"/>
                <a:ea typeface="마루 부리OTF 굵은" panose="020B0600000101010101" pitchFamily="34" charset="-127"/>
              </a:rPr>
              <a:t>STL</a:t>
            </a:r>
            <a:r>
              <a:rPr lang="ko-KR" altLang="en-US" sz="5400" dirty="0">
                <a:latin typeface="마루 부리OTF 굵은" panose="020B0600000101010101" pitchFamily="34" charset="-127"/>
                <a:ea typeface="마루 부리OTF 굵은" panose="020B0600000101010101" pitchFamily="34" charset="-127"/>
              </a:rPr>
              <a:t> 심화</a:t>
            </a:r>
            <a:endParaRPr lang="en-US" altLang="ko-KR" sz="5400" dirty="0">
              <a:latin typeface="마루 부리OTF 굵은" panose="020B0600000101010101" pitchFamily="34" charset="-127"/>
              <a:ea typeface="마루 부리OTF 굵은" panose="020B0600000101010101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03DC33-A844-11CC-894B-5415B8862189}"/>
              </a:ext>
            </a:extLst>
          </p:cNvPr>
          <p:cNvSpPr txBox="1"/>
          <p:nvPr/>
        </p:nvSpPr>
        <p:spPr>
          <a:xfrm>
            <a:off x="833537" y="3888377"/>
            <a:ext cx="33648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&lt;Advanced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STL&gt;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FCEE5E-885A-C1E9-5E11-79268F7A9F64}"/>
              </a:ext>
            </a:extLst>
          </p:cNvPr>
          <p:cNvSpPr txBox="1"/>
          <p:nvPr/>
        </p:nvSpPr>
        <p:spPr>
          <a:xfrm>
            <a:off x="9124029" y="2905101"/>
            <a:ext cx="14350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/&lt;std::set&gt;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870063-8E01-A127-F685-6C6CD52D9B60}"/>
              </a:ext>
            </a:extLst>
          </p:cNvPr>
          <p:cNvSpPr txBox="1"/>
          <p:nvPr/>
        </p:nvSpPr>
        <p:spPr>
          <a:xfrm>
            <a:off x="9124029" y="3583239"/>
            <a:ext cx="27940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/&lt;std::</a:t>
            </a:r>
            <a:r>
              <a:rPr lang="en-US" altLang="ko-KR" sz="2000" dirty="0" err="1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priority_queue</a:t>
            </a:r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541306-8F21-F040-9C26-C931E511A8F2}"/>
              </a:ext>
            </a:extLst>
          </p:cNvPr>
          <p:cNvSpPr txBox="1"/>
          <p:nvPr/>
        </p:nvSpPr>
        <p:spPr>
          <a:xfrm>
            <a:off x="9124029" y="4261377"/>
            <a:ext cx="16979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/&lt;</a:t>
            </a:r>
            <a:r>
              <a:rPr lang="ko-KR" altLang="en-US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연습 문제</a:t>
            </a:r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&gt;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9258861-5C4F-CC0A-9440-242C4BA7EC3B}"/>
              </a:ext>
            </a:extLst>
          </p:cNvPr>
          <p:cNvGrpSpPr/>
          <p:nvPr/>
        </p:nvGrpSpPr>
        <p:grpSpPr>
          <a:xfrm>
            <a:off x="8451668" y="2457795"/>
            <a:ext cx="252549" cy="2044560"/>
            <a:chOff x="8451668" y="2457795"/>
            <a:chExt cx="252549" cy="2044560"/>
          </a:xfrm>
        </p:grpSpPr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8E27AB33-5A6B-4634-15D2-D6A12A1E8853}"/>
                </a:ext>
              </a:extLst>
            </p:cNvPr>
            <p:cNvCxnSpPr>
              <a:cxnSpLocks/>
            </p:cNvCxnSpPr>
            <p:nvPr/>
          </p:nvCxnSpPr>
          <p:spPr>
            <a:xfrm>
              <a:off x="8577943" y="2457795"/>
              <a:ext cx="0" cy="204456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6759ECAA-C41B-C794-AED6-51B7894A5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1668" y="4368668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8FB0FDD-40B6-D13A-F44C-8817C07CDB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1668" y="2592120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2297504-9286-A4C0-50E2-E179B34DD0BD}"/>
              </a:ext>
            </a:extLst>
          </p:cNvPr>
          <p:cNvSpPr txBox="1"/>
          <p:nvPr/>
        </p:nvSpPr>
        <p:spPr>
          <a:xfrm>
            <a:off x="9124029" y="2226963"/>
            <a:ext cx="16129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/&lt;std::map&gt;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FEE29A-D9E9-DA92-A526-15ACEE0A665F}"/>
              </a:ext>
            </a:extLst>
          </p:cNvPr>
          <p:cNvSpPr txBox="1"/>
          <p:nvPr/>
        </p:nvSpPr>
        <p:spPr>
          <a:xfrm>
            <a:off x="8925898" y="2204895"/>
            <a:ext cx="3401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3p</a:t>
            </a:r>
            <a:endParaRPr lang="ko-KR" altLang="en-US" sz="1100" dirty="0"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D97A53-70B9-3966-AB5D-07ED56F18C5F}"/>
              </a:ext>
            </a:extLst>
          </p:cNvPr>
          <p:cNvSpPr txBox="1"/>
          <p:nvPr/>
        </p:nvSpPr>
        <p:spPr>
          <a:xfrm>
            <a:off x="8921891" y="2855266"/>
            <a:ext cx="4106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10p</a:t>
            </a:r>
            <a:endParaRPr lang="ko-KR" altLang="en-US" sz="1100" dirty="0"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5C1605-8F38-93BC-63F7-222E9B54CCCE}"/>
              </a:ext>
            </a:extLst>
          </p:cNvPr>
          <p:cNvSpPr txBox="1"/>
          <p:nvPr/>
        </p:nvSpPr>
        <p:spPr>
          <a:xfrm>
            <a:off x="8921891" y="3538195"/>
            <a:ext cx="3898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17p</a:t>
            </a:r>
            <a:endParaRPr lang="ko-KR" altLang="en-US" sz="1100" dirty="0"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E6DCA7-6EFB-B437-84D1-507F21E4C0F3}"/>
              </a:ext>
            </a:extLst>
          </p:cNvPr>
          <p:cNvSpPr txBox="1"/>
          <p:nvPr/>
        </p:nvSpPr>
        <p:spPr>
          <a:xfrm>
            <a:off x="8921891" y="4183055"/>
            <a:ext cx="4283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22p</a:t>
            </a:r>
            <a:endParaRPr lang="ko-KR" altLang="en-US" sz="1100" dirty="0"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</p:txBody>
      </p:sp>
      <p:sp>
        <p:nvSpPr>
          <p:cNvPr id="48" name="바닥글 개체 틀 4">
            <a:extLst>
              <a:ext uri="{FF2B5EF4-FFF2-40B4-BE49-F238E27FC236}">
                <a16:creationId xmlns:a16="http://schemas.microsoft.com/office/drawing/2014/main" id="{1776CB56-E99B-DBFF-D8EA-E49C7345FACA}"/>
              </a:ext>
            </a:extLst>
          </p:cNvPr>
          <p:cNvSpPr txBox="1">
            <a:spLocks/>
          </p:cNvSpPr>
          <p:nvPr/>
        </p:nvSpPr>
        <p:spPr>
          <a:xfrm>
            <a:off x="9387697" y="385042"/>
            <a:ext cx="20681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2026 ALOHA 1</a:t>
            </a:r>
            <a:r>
              <a:rPr lang="ko-KR" altLang="en-US" dirty="0"/>
              <a:t>학기 멘토링</a:t>
            </a:r>
          </a:p>
        </p:txBody>
      </p:sp>
    </p:spTree>
    <p:extLst>
      <p:ext uri="{BB962C8B-B14F-4D97-AF65-F5344CB8AC3E}">
        <p14:creationId xmlns:p14="http://schemas.microsoft.com/office/powerpoint/2010/main" val="183260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E72617A-0684-D6D5-BB9C-31CCE7B434CD}"/>
              </a:ext>
            </a:extLst>
          </p:cNvPr>
          <p:cNvGrpSpPr/>
          <p:nvPr/>
        </p:nvGrpSpPr>
        <p:grpSpPr>
          <a:xfrm>
            <a:off x="722811" y="577310"/>
            <a:ext cx="1941484" cy="750097"/>
            <a:chOff x="1271451" y="2719618"/>
            <a:chExt cx="1941484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142C132-BEF2-02D3-6F81-30206456B36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83A93D-F4E0-E683-C473-2AD0E7A50B52}"/>
                </a:ext>
              </a:extLst>
            </p:cNvPr>
            <p:cNvSpPr txBox="1"/>
            <p:nvPr/>
          </p:nvSpPr>
          <p:spPr>
            <a:xfrm>
              <a:off x="1382177" y="2853329"/>
              <a:ext cx="8194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#STL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857BA1-8FCA-A55B-C236-2F13404B1B7E}"/>
                </a:ext>
              </a:extLst>
            </p:cNvPr>
            <p:cNvSpPr txBox="1"/>
            <p:nvPr/>
          </p:nvSpPr>
          <p:spPr>
            <a:xfrm>
              <a:off x="1382177" y="3192716"/>
              <a:ext cx="18307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&lt;C++ Standard Library&gt;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D1F2EB7-016A-866E-BBAF-A86DA568226A}"/>
              </a:ext>
            </a:extLst>
          </p:cNvPr>
          <p:cNvSpPr txBox="1"/>
          <p:nvPr/>
        </p:nvSpPr>
        <p:spPr>
          <a:xfrm>
            <a:off x="833537" y="2286358"/>
            <a:ext cx="10392589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C++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의 </a:t>
            </a:r>
            <a:r>
              <a:rPr lang="en-US" altLang="ko-KR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Standard Library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를 통해 미리 구현된 여러 </a:t>
            </a:r>
            <a:r>
              <a:rPr lang="ko-KR" altLang="en-US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자료구조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들을 사용할 수 있습니다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vector, string, stack, queue 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등이 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STL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에 포함된 </a:t>
            </a:r>
            <a:r>
              <a:rPr lang="ko-KR" altLang="en-US" sz="2200" dirty="0" err="1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자료구조입니다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map, set, </a:t>
            </a:r>
            <a:r>
              <a:rPr lang="en-US" altLang="ko-KR" sz="2200" dirty="0" err="1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priority_queue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에 대해 알아봅시다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801934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BC17C-5C21-22A0-9530-438042C39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7743D06D-5419-05E6-8C48-F2F2DD574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98403A-34FC-D7C5-3265-9FA26DC0B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8B4C41D-9667-E06F-D4DF-4B17723435C7}"/>
              </a:ext>
            </a:extLst>
          </p:cNvPr>
          <p:cNvGrpSpPr/>
          <p:nvPr/>
        </p:nvGrpSpPr>
        <p:grpSpPr>
          <a:xfrm>
            <a:off x="722811" y="577310"/>
            <a:ext cx="2395134" cy="750097"/>
            <a:chOff x="1271451" y="2719618"/>
            <a:chExt cx="2395134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99F2412-1948-F9AF-E5A3-08B92E3AF342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7255C34-3658-7322-2C59-8220D5BF7947}"/>
                </a:ext>
              </a:extLst>
            </p:cNvPr>
            <p:cNvSpPr txBox="1"/>
            <p:nvPr/>
          </p:nvSpPr>
          <p:spPr>
            <a:xfrm>
              <a:off x="1382177" y="2853329"/>
              <a:ext cx="8194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#STL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1AD61D9-0C54-122F-EA5E-E29DDB90114F}"/>
                </a:ext>
              </a:extLst>
            </p:cNvPr>
            <p:cNvSpPr txBox="1"/>
            <p:nvPr/>
          </p:nvSpPr>
          <p:spPr>
            <a:xfrm>
              <a:off x="1382177" y="3192716"/>
              <a:ext cx="22844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&lt;C++ Standard Library&gt; - map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E171FB8-5C52-339C-8430-3A2298504FB2}"/>
              </a:ext>
            </a:extLst>
          </p:cNvPr>
          <p:cNvSpPr txBox="1"/>
          <p:nvPr/>
        </p:nvSpPr>
        <p:spPr>
          <a:xfrm>
            <a:off x="833537" y="2286358"/>
            <a:ext cx="869821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map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은 </a:t>
            </a:r>
            <a:r>
              <a:rPr lang="en-US" altLang="ko-KR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key</a:t>
            </a:r>
            <a:r>
              <a:rPr lang="ko-KR" altLang="en-US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와 </a:t>
            </a:r>
            <a:r>
              <a:rPr lang="en-US" altLang="ko-KR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value</a:t>
            </a:r>
            <a:r>
              <a:rPr lang="ko-KR" altLang="en-US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의 쌍을 저장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하는 </a:t>
            </a:r>
            <a:r>
              <a:rPr lang="ko-KR" altLang="en-US" sz="2200" dirty="0" err="1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자료구조입니다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다음 특징을 가지고 있습니다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- key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는 </a:t>
            </a:r>
            <a:r>
              <a:rPr lang="ko-KR" altLang="en-US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중복되지 않으며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, (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기본적으로는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) 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오름차순으로 정렬되어 있다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- key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를 통해서 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value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를 </a:t>
            </a:r>
            <a:r>
              <a:rPr lang="ko-KR" altLang="en-US" sz="2200" dirty="0" err="1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시간복잡도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O(log N) 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만에 찾을 수 있다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- key-value 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쌍의 삽입과 삭제 연산 또한 </a:t>
            </a:r>
            <a:r>
              <a:rPr lang="en-US" altLang="ko-KR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O(log N)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이다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8320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4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822ABFE-769D-B138-143E-32C704EE8026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5719A0C5-A8D8-79E4-6C59-72A736973305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B5818432-B727-5ADD-2670-67D98E2431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487A89E6-9DB4-ACA3-3E5A-85B95F6D2D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A971EA9-54F6-C3C8-7980-08ED3272A1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996C7B0-EE91-4983-76AD-206ECD526559}"/>
              </a:ext>
            </a:extLst>
          </p:cNvPr>
          <p:cNvSpPr txBox="1"/>
          <p:nvPr/>
        </p:nvSpPr>
        <p:spPr>
          <a:xfrm>
            <a:off x="722811" y="2171969"/>
            <a:ext cx="4306385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1. map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만들기</a:t>
            </a:r>
          </a:p>
          <a:p>
            <a:pPr>
              <a:lnSpc>
                <a:spcPct val="150000"/>
              </a:lnSpc>
            </a:pP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map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을 만들기 위해서는 먼저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b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</a:br>
            <a:r>
              <a:rPr lang="en-US" altLang="ko-KR" sz="1600" dirty="0">
                <a:solidFill>
                  <a:srgbClr val="5F2CC6"/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&lt;map&gt;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이라는 헤더를 불러와야 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이후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map&lt;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key 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자료형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value 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자료형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&gt;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형태로</a:t>
            </a:r>
            <a:b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</a:b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key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value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의 자료형을 지정합니다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greater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이용해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key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 반대로</a:t>
            </a:r>
            <a:b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</a:b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정렬되게 할 수도 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C53497-1313-38CE-A1FC-5F9FD844A6D8}"/>
              </a:ext>
            </a:extLst>
          </p:cNvPr>
          <p:cNvSpPr txBox="1"/>
          <p:nvPr/>
        </p:nvSpPr>
        <p:spPr>
          <a:xfrm>
            <a:off x="5740878" y="1879581"/>
            <a:ext cx="609600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b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&lt;map&gt;</a:t>
            </a: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// map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또한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std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안에 들어있습니다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.</a:t>
            </a: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ko-KR" alt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ko-KR" alt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ko-KR" alt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m1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3B3B3B"/>
                </a:solidFill>
                <a:latin typeface="Consolas" panose="020B0609020204030204" pitchFamily="49" charset="0"/>
              </a:rPr>
              <a:t>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내림차순</a:t>
            </a: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greater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m2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</a:t>
            </a:r>
            <a:endParaRPr lang="ko-KR" alt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61191AC-83A8-A1C2-D36D-4F7F81A5D1DC}"/>
              </a:ext>
            </a:extLst>
          </p:cNvPr>
          <p:cNvGrpSpPr/>
          <p:nvPr/>
        </p:nvGrpSpPr>
        <p:grpSpPr>
          <a:xfrm>
            <a:off x="722811" y="577310"/>
            <a:ext cx="2395134" cy="750097"/>
            <a:chOff x="1271451" y="2719618"/>
            <a:chExt cx="2395134" cy="750097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DBDB067-8795-27E8-B280-710E065F5F11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FF328F4-2362-4750-1C85-5A325EFE5BDC}"/>
                </a:ext>
              </a:extLst>
            </p:cNvPr>
            <p:cNvSpPr txBox="1"/>
            <p:nvPr/>
          </p:nvSpPr>
          <p:spPr>
            <a:xfrm>
              <a:off x="1382177" y="2853329"/>
              <a:ext cx="8194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#STL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A652753-532C-A0F3-5D93-4292F72F5E96}"/>
                </a:ext>
              </a:extLst>
            </p:cNvPr>
            <p:cNvSpPr txBox="1"/>
            <p:nvPr/>
          </p:nvSpPr>
          <p:spPr>
            <a:xfrm>
              <a:off x="1382177" y="3192716"/>
              <a:ext cx="22844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&lt;C++ Standard Library&gt; - map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977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04BEF-C51F-063A-1B49-B20D7B6D9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98BC1FC8-21A2-0D64-804A-A681A2C0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C441452-0B6E-4137-5F65-7519A3E8E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5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8A96819-AA17-B911-B3CF-F5E5DE95318A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799AA047-07A1-D78F-88F5-32760738AA3D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DA1699C0-D0D9-0879-4E03-41C65BD528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8CD4C1A0-EE28-3625-3FAE-15CC7ACDAB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9C86B63-B75A-EA07-5580-86D13E854F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09D2A29-2B9C-4E91-7566-ABDA60F20136}"/>
              </a:ext>
            </a:extLst>
          </p:cNvPr>
          <p:cNvSpPr txBox="1"/>
          <p:nvPr/>
        </p:nvSpPr>
        <p:spPr>
          <a:xfrm>
            <a:off x="722811" y="2844224"/>
            <a:ext cx="430638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2.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삽입과 삭제 및 읽기 연산</a:t>
            </a:r>
          </a:p>
          <a:p>
            <a:pPr>
              <a:lnSpc>
                <a:spcPct val="150000"/>
              </a:lnSpc>
            </a:pP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map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을 활용하는 주된 연산들을 알아봅시다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E05620-9F4A-F18C-1A15-7107A7174981}"/>
              </a:ext>
            </a:extLst>
          </p:cNvPr>
          <p:cNvSpPr txBox="1"/>
          <p:nvPr/>
        </p:nvSpPr>
        <p:spPr>
          <a:xfrm>
            <a:off x="5518749" y="1879581"/>
            <a:ext cx="609600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삽입</a:t>
            </a:r>
            <a:endParaRPr lang="en-US" altLang="ko-KR" sz="16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ko-KR" alt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수정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이미 존재할 경우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ko-KR" alt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읽기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출력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: 20</a:t>
            </a:r>
          </a:p>
          <a:p>
            <a:endParaRPr lang="en-US" altLang="ko-KR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    //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없는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key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는 기본값이 삽입됨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출력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: 0</a:t>
            </a:r>
            <a:endParaRPr lang="ko-KR" alt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</a:t>
            </a:r>
            <a:br>
              <a:rPr lang="ko-KR" alt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ko-KR" alt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erase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삭제</a:t>
            </a:r>
            <a:endParaRPr lang="ko-KR" alt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3D03638-CBA7-672A-B3E5-75CD5EA0305A}"/>
              </a:ext>
            </a:extLst>
          </p:cNvPr>
          <p:cNvGrpSpPr/>
          <p:nvPr/>
        </p:nvGrpSpPr>
        <p:grpSpPr>
          <a:xfrm>
            <a:off x="722811" y="577310"/>
            <a:ext cx="2395134" cy="750097"/>
            <a:chOff x="1271451" y="2719618"/>
            <a:chExt cx="2395134" cy="750097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F03C6CC-3F9B-4A57-C683-01BF737CB9C8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1973EF9-B792-FA33-014B-2C9EE7C712B2}"/>
                </a:ext>
              </a:extLst>
            </p:cNvPr>
            <p:cNvSpPr txBox="1"/>
            <p:nvPr/>
          </p:nvSpPr>
          <p:spPr>
            <a:xfrm>
              <a:off x="1382177" y="2853329"/>
              <a:ext cx="8194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#STL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49F6332-E7BF-79EC-99A5-7230FCAFD093}"/>
                </a:ext>
              </a:extLst>
            </p:cNvPr>
            <p:cNvSpPr txBox="1"/>
            <p:nvPr/>
          </p:nvSpPr>
          <p:spPr>
            <a:xfrm>
              <a:off x="1382177" y="3192716"/>
              <a:ext cx="22844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&lt;C++ Standard Library&gt; - map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0290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921D4-E705-EAE0-02DC-370498383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9CD101CD-B2CA-0044-347C-347AAAC23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377893-907B-D9A2-6BF5-09FB9A13D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6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0C51271-01BD-CA12-BDE5-0E3601D889A1}"/>
              </a:ext>
            </a:extLst>
          </p:cNvPr>
          <p:cNvGrpSpPr/>
          <p:nvPr/>
        </p:nvGrpSpPr>
        <p:grpSpPr>
          <a:xfrm>
            <a:off x="383364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E5A03021-3E9E-FA26-E8B9-7FCF65C211F5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E81BA3EA-E457-7D07-3FE8-0E9D809F7E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2C1543E1-3A09-82A3-384F-D4C9C616AEB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4F8E72A-11FE-6977-D5EA-0EDFF85744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C3E8F1A-50BD-8487-F1ED-7B49759824E4}"/>
              </a:ext>
            </a:extLst>
          </p:cNvPr>
          <p:cNvSpPr txBox="1"/>
          <p:nvPr/>
        </p:nvSpPr>
        <p:spPr>
          <a:xfrm>
            <a:off x="722812" y="2844224"/>
            <a:ext cx="2984556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3. map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전체 순회하기</a:t>
            </a:r>
          </a:p>
          <a:p>
            <a:pPr>
              <a:lnSpc>
                <a:spcPct val="150000"/>
              </a:lnSpc>
            </a:pP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map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의 내용물을 전부 확인하는</a:t>
            </a:r>
            <a:b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</a:b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여러 가지 방법을 알아봅시다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3009AC-D98F-31F5-6F9F-DCA2AA049E77}"/>
              </a:ext>
            </a:extLst>
          </p:cNvPr>
          <p:cNvSpPr txBox="1"/>
          <p:nvPr/>
        </p:nvSpPr>
        <p:spPr>
          <a:xfrm>
            <a:off x="4212463" y="1242297"/>
            <a:ext cx="7624412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1.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범위 기반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문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(std::pair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참조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p: pair&lt;string, int&gt;</a:t>
            </a: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"-----------------</a:t>
            </a:r>
            <a:r>
              <a:rPr lang="en-US" altLang="ko-KR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2.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구조화된 바인딩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(C++17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이상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: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C9F94C5-121A-3FC3-784E-2B2D66D5BA87}"/>
              </a:ext>
            </a:extLst>
          </p:cNvPr>
          <p:cNvGrpSpPr/>
          <p:nvPr/>
        </p:nvGrpSpPr>
        <p:grpSpPr>
          <a:xfrm>
            <a:off x="722811" y="577310"/>
            <a:ext cx="2395134" cy="750097"/>
            <a:chOff x="1271451" y="2719618"/>
            <a:chExt cx="2395134" cy="750097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3FF9C49-360C-CF96-C7B1-E0106D9E07BC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55987FA-672D-B89D-6847-067CE6D6B251}"/>
                </a:ext>
              </a:extLst>
            </p:cNvPr>
            <p:cNvSpPr txBox="1"/>
            <p:nvPr/>
          </p:nvSpPr>
          <p:spPr>
            <a:xfrm>
              <a:off x="1382177" y="2853329"/>
              <a:ext cx="8194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#STL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3D042A1-BCAA-88BE-E1E3-8709CE633D5C}"/>
                </a:ext>
              </a:extLst>
            </p:cNvPr>
            <p:cNvSpPr txBox="1"/>
            <p:nvPr/>
          </p:nvSpPr>
          <p:spPr>
            <a:xfrm>
              <a:off x="1382177" y="3192716"/>
              <a:ext cx="22844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&lt;C++ Standard Library&gt; - map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8973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1D777-67AE-1919-26D2-B3952C35D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12F91435-EDFF-571D-C843-6D7DF2833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34FD8E6-C7BE-9360-C3F4-716CA3550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7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30FAAC4-4EA7-BB52-597C-6597BEF37F34}"/>
              </a:ext>
            </a:extLst>
          </p:cNvPr>
          <p:cNvGrpSpPr/>
          <p:nvPr/>
        </p:nvGrpSpPr>
        <p:grpSpPr>
          <a:xfrm>
            <a:off x="383364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94695E88-62A7-94EB-A7D2-7A55B76C536B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CCD83ABA-9B44-6802-DCD1-2CB3BCFA57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BF39CE58-B5C1-BF86-5A23-3CBDA9FF8B8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506EDFA2-D2CF-3371-59BB-86B686B6C7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4AE8A1A7-B25A-6DE0-1527-2C93DFA1EFDC}"/>
              </a:ext>
            </a:extLst>
          </p:cNvPr>
          <p:cNvSpPr txBox="1"/>
          <p:nvPr/>
        </p:nvSpPr>
        <p:spPr>
          <a:xfrm>
            <a:off x="722812" y="2844224"/>
            <a:ext cx="2984556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3. map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전체 순회하기</a:t>
            </a:r>
          </a:p>
          <a:p>
            <a:pPr>
              <a:lnSpc>
                <a:spcPct val="150000"/>
              </a:lnSpc>
            </a:pP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map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의 내용물을 전부 확인하는</a:t>
            </a:r>
            <a:b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</a:b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여러 가지 방법을 알아봅시다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88A825-15BB-6AEC-AB29-5687338D8694}"/>
              </a:ext>
            </a:extLst>
          </p:cNvPr>
          <p:cNvSpPr txBox="1"/>
          <p:nvPr/>
        </p:nvSpPr>
        <p:spPr>
          <a:xfrm>
            <a:off x="4212463" y="1278036"/>
            <a:ext cx="7624412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3. Iterator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타입을 명시적으로 선언하여 순회</a:t>
            </a:r>
            <a:endParaRPr lang="ko-KR" alt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&gt;::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 </a:t>
            </a:r>
          </a:p>
          <a:p>
            <a:pPr>
              <a:buNone/>
            </a:pPr>
            <a:r>
              <a:rPr lang="en-US" altLang="ko-KR" sz="1600" dirty="0">
                <a:solidFill>
                  <a:srgbClr val="3B3B3B"/>
                </a:solidFill>
                <a:latin typeface="Consolas" panose="020B0609020204030204" pitchFamily="49" charset="0"/>
              </a:rPr>
              <a:t>		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반복자는 포인터처럼 동작하므로 </a:t>
            </a:r>
            <a:endParaRPr lang="en-US" altLang="ko-KR" sz="16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-&gt;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연산자를 사용해 접근합니다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dirty="0">
                <a:solidFill>
                  <a:srgbClr val="00108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altLang="ko-KR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altLang="ko-KR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</a:rPr>
              <a:t>"-----------------</a:t>
            </a:r>
            <a:r>
              <a:rPr lang="en-US" altLang="ko-KR" sz="1600" dirty="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ko-KR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b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4. auto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를 사용하여 반복자 선언을 간소화한 순회</a:t>
            </a:r>
            <a:endParaRPr lang="ko-KR" alt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BAC661-9D48-554A-7156-38612CAB7CA9}"/>
              </a:ext>
            </a:extLst>
          </p:cNvPr>
          <p:cNvGrpSpPr/>
          <p:nvPr/>
        </p:nvGrpSpPr>
        <p:grpSpPr>
          <a:xfrm>
            <a:off x="722811" y="577310"/>
            <a:ext cx="2395134" cy="750097"/>
            <a:chOff x="1271451" y="2719618"/>
            <a:chExt cx="2395134" cy="750097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CCABCF2-5AF5-C76A-F85E-A6EE7DE766D5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89EE195-F632-FD1B-8BDF-72F268F63525}"/>
                </a:ext>
              </a:extLst>
            </p:cNvPr>
            <p:cNvSpPr txBox="1"/>
            <p:nvPr/>
          </p:nvSpPr>
          <p:spPr>
            <a:xfrm>
              <a:off x="1382177" y="2853329"/>
              <a:ext cx="8194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#STL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3A8797-9A9B-F428-DE98-660CE1F0EB5F}"/>
                </a:ext>
              </a:extLst>
            </p:cNvPr>
            <p:cNvSpPr txBox="1"/>
            <p:nvPr/>
          </p:nvSpPr>
          <p:spPr>
            <a:xfrm>
              <a:off x="1382177" y="3192716"/>
              <a:ext cx="22844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&lt;C++ Standard Library&gt; - map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186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6179B-CE22-F466-4F4C-4C439AAFF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8261141D-3B65-0160-4B62-5F06D7BF2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2F4EF77-3AAB-A0AA-B23F-C2F32669A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8</a:t>
            </a:fld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218A995-C167-21F3-7FF9-2E87F122FAED}"/>
              </a:ext>
            </a:extLst>
          </p:cNvPr>
          <p:cNvGrpSpPr/>
          <p:nvPr/>
        </p:nvGrpSpPr>
        <p:grpSpPr>
          <a:xfrm>
            <a:off x="3813886" y="1545201"/>
            <a:ext cx="4564227" cy="430887"/>
            <a:chOff x="1097620" y="1639465"/>
            <a:chExt cx="4564227" cy="430887"/>
          </a:xfrm>
        </p:grpSpPr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F504E908-7DB8-8B70-5247-39D6A72780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97620" y="1740314"/>
              <a:ext cx="257842" cy="330037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2D5E224-6B88-7A82-7AE6-190C81FB6CB4}"/>
                </a:ext>
              </a:extLst>
            </p:cNvPr>
            <p:cNvSpPr txBox="1"/>
            <p:nvPr/>
          </p:nvSpPr>
          <p:spPr>
            <a:xfrm>
              <a:off x="1355463" y="1639465"/>
              <a:ext cx="43063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Tutorial : STL Map 1 ( 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기본 개념 </a:t>
              </a: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)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(JUNGOL #8561)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BF887FF-F6C9-07A2-1FEB-EFA089F13EC2}"/>
              </a:ext>
            </a:extLst>
          </p:cNvPr>
          <p:cNvSpPr txBox="1"/>
          <p:nvPr/>
        </p:nvSpPr>
        <p:spPr>
          <a:xfrm>
            <a:off x="1406100" y="2691344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 설명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7C3E66-C760-43B7-BDD3-219AF9E7BAF8}"/>
              </a:ext>
            </a:extLst>
          </p:cNvPr>
          <p:cNvSpPr txBox="1"/>
          <p:nvPr/>
        </p:nvSpPr>
        <p:spPr>
          <a:xfrm>
            <a:off x="1406099" y="3107445"/>
            <a:ext cx="551496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사람들의 이름이 영어 소문자로 이뤄진 문자열로 주어짐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각 이름들이 몇 번째 줄에서 마지막으로 입력됐는지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b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</a:b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사전 순으로 정렬하여 출력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C102AB-89B6-CD92-4E25-AB79162B5BAF}"/>
              </a:ext>
            </a:extLst>
          </p:cNvPr>
          <p:cNvSpPr txBox="1"/>
          <p:nvPr/>
        </p:nvSpPr>
        <p:spPr>
          <a:xfrm>
            <a:off x="7736971" y="2691344"/>
            <a:ext cx="34718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제약 조건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249F368-CC11-DE75-7F49-1F1AF6A8559A}"/>
                  </a:ext>
                </a:extLst>
              </p:cNvPr>
              <p:cNvSpPr txBox="1"/>
              <p:nvPr/>
            </p:nvSpPr>
            <p:spPr>
              <a:xfrm>
                <a:off x="7736970" y="3107445"/>
                <a:ext cx="3471804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(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이름의 길이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50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(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단어의 수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100,000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249F368-CC11-DE75-7F49-1F1AF6A85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6970" y="3107445"/>
                <a:ext cx="3471804" cy="800219"/>
              </a:xfrm>
              <a:prstGeom prst="rect">
                <a:avLst/>
              </a:prstGeom>
              <a:blipFill>
                <a:blip r:embed="rId3"/>
                <a:stretch>
                  <a:fillRect l="-702" b="-99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그룹 3">
            <a:extLst>
              <a:ext uri="{FF2B5EF4-FFF2-40B4-BE49-F238E27FC236}">
                <a16:creationId xmlns:a16="http://schemas.microsoft.com/office/drawing/2014/main" id="{9A07D650-1066-3B78-C417-985FF920F7A0}"/>
              </a:ext>
            </a:extLst>
          </p:cNvPr>
          <p:cNvGrpSpPr/>
          <p:nvPr/>
        </p:nvGrpSpPr>
        <p:grpSpPr>
          <a:xfrm>
            <a:off x="722811" y="577310"/>
            <a:ext cx="1941484" cy="750097"/>
            <a:chOff x="1271451" y="2719618"/>
            <a:chExt cx="1941484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273FB61-A35D-F9BB-6F57-512995021ADF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A895AFC-AD6B-4B91-27E5-E575C247D75C}"/>
                </a:ext>
              </a:extLst>
            </p:cNvPr>
            <p:cNvSpPr txBox="1"/>
            <p:nvPr/>
          </p:nvSpPr>
          <p:spPr>
            <a:xfrm>
              <a:off x="1382177" y="2853329"/>
              <a:ext cx="8194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#STL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8EE5304-A767-FDBC-50E3-DEB5914A57EA}"/>
                </a:ext>
              </a:extLst>
            </p:cNvPr>
            <p:cNvSpPr txBox="1"/>
            <p:nvPr/>
          </p:nvSpPr>
          <p:spPr>
            <a:xfrm>
              <a:off x="1382177" y="3192716"/>
              <a:ext cx="18307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&lt;C++ Standard Library&gt;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3443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77CAD-E550-FC78-E390-A87B3ADF7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CF2CE6F3-19D1-13B8-BCDD-BD7FC67C9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DE2694F-3C13-A718-3BA7-DDC1960A7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EAA9E5-A3E4-E54D-759B-297C5A4DB8F9}"/>
              </a:ext>
            </a:extLst>
          </p:cNvPr>
          <p:cNvSpPr txBox="1"/>
          <p:nvPr/>
        </p:nvSpPr>
        <p:spPr>
          <a:xfrm>
            <a:off x="722811" y="2171261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 해설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0072553-9977-82FF-27E0-300A2EF131D7}"/>
              </a:ext>
            </a:extLst>
          </p:cNvPr>
          <p:cNvGrpSpPr/>
          <p:nvPr/>
        </p:nvGrpSpPr>
        <p:grpSpPr>
          <a:xfrm>
            <a:off x="722811" y="577310"/>
            <a:ext cx="1941484" cy="750097"/>
            <a:chOff x="1271451" y="2719618"/>
            <a:chExt cx="1941484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311A9D6-9561-B9F1-A115-C26B769A7618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DBAD80F-2B7D-1B06-F1CF-B2F58CA419E2}"/>
                </a:ext>
              </a:extLst>
            </p:cNvPr>
            <p:cNvSpPr txBox="1"/>
            <p:nvPr/>
          </p:nvSpPr>
          <p:spPr>
            <a:xfrm>
              <a:off x="1382177" y="2853329"/>
              <a:ext cx="8194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#STL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A9D1D40-1EB8-F264-E452-AA6FCF935603}"/>
                </a:ext>
              </a:extLst>
            </p:cNvPr>
            <p:cNvSpPr txBox="1"/>
            <p:nvPr/>
          </p:nvSpPr>
          <p:spPr>
            <a:xfrm>
              <a:off x="1382177" y="3192716"/>
              <a:ext cx="18307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&lt;C++ Standard Library&gt;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50BC0637-2787-9078-50F7-B85DEA6F6C02}"/>
              </a:ext>
            </a:extLst>
          </p:cNvPr>
          <p:cNvGrpSpPr/>
          <p:nvPr/>
        </p:nvGrpSpPr>
        <p:grpSpPr>
          <a:xfrm>
            <a:off x="3813886" y="1545201"/>
            <a:ext cx="4564227" cy="430887"/>
            <a:chOff x="1097620" y="1639465"/>
            <a:chExt cx="4564227" cy="430887"/>
          </a:xfrm>
        </p:grpSpPr>
        <p:pic>
          <p:nvPicPr>
            <p:cNvPr id="6" name="그래픽 5">
              <a:extLst>
                <a:ext uri="{FF2B5EF4-FFF2-40B4-BE49-F238E27FC236}">
                  <a16:creationId xmlns:a16="http://schemas.microsoft.com/office/drawing/2014/main" id="{FC83CFDD-E6DD-8C12-670D-EF011277C8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97620" y="1740314"/>
              <a:ext cx="257842" cy="33003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08E2C5B-B36E-C1F3-C8BD-8A698A53794F}"/>
                </a:ext>
              </a:extLst>
            </p:cNvPr>
            <p:cNvSpPr txBox="1"/>
            <p:nvPr/>
          </p:nvSpPr>
          <p:spPr>
            <a:xfrm>
              <a:off x="1355463" y="1639465"/>
              <a:ext cx="43063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Tutorial : STL Map 1 ( 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기본 개념 </a:t>
              </a: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)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(JUNGOL #8561)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302B155-CDE3-AD45-327F-3CC1EDDDE02E}"/>
              </a:ext>
            </a:extLst>
          </p:cNvPr>
          <p:cNvSpPr txBox="1"/>
          <p:nvPr/>
        </p:nvSpPr>
        <p:spPr>
          <a:xfrm>
            <a:off x="722811" y="2653936"/>
            <a:ext cx="5373189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ios_base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sync_with_stdio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tie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name_map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line_number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(name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"end"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C2ED75-179F-A666-9C86-AF6CD9625DF7}"/>
              </a:ext>
            </a:extLst>
          </p:cNvPr>
          <p:cNvSpPr txBox="1"/>
          <p:nvPr/>
        </p:nvSpPr>
        <p:spPr>
          <a:xfrm>
            <a:off x="6224921" y="2171261"/>
            <a:ext cx="5373189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line_number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name_map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line_number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name_map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pair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name_map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pair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pair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A9FDDB0-9863-A4F4-EB9D-E9605A709FAD}"/>
              </a:ext>
            </a:extLst>
          </p:cNvPr>
          <p:cNvGrpSpPr/>
          <p:nvPr/>
        </p:nvGrpSpPr>
        <p:grpSpPr>
          <a:xfrm>
            <a:off x="5886740" y="2027876"/>
            <a:ext cx="252549" cy="4151515"/>
            <a:chOff x="6803262" y="1327407"/>
            <a:chExt cx="252549" cy="4676726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003F62EE-27F3-CBEB-1B4D-456A0F12CCC4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B3E43259-C3D0-246F-1EBD-83B43CFF9C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0181D099-D03E-1F6F-9815-F30259AD7D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BB21B5D8-82E4-F954-A8D0-51E320B330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1158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9C5EF-9188-6932-F69D-6911A08A0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C4413476-A1D7-91FD-7F4F-8A233D807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4A38DE9-C1A2-94E1-56E8-BD84EEA49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166FB35-8C9A-F761-ED88-0DA2DF9BADD8}"/>
              </a:ext>
            </a:extLst>
          </p:cNvPr>
          <p:cNvGrpSpPr/>
          <p:nvPr/>
        </p:nvGrpSpPr>
        <p:grpSpPr>
          <a:xfrm>
            <a:off x="722811" y="577310"/>
            <a:ext cx="2287732" cy="750097"/>
            <a:chOff x="1271451" y="2719618"/>
            <a:chExt cx="2287732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E093972-D307-A37F-189D-979F3DEEDB0F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0FA31D2-5CDB-10A8-7266-37E18EF93A64}"/>
                </a:ext>
              </a:extLst>
            </p:cNvPr>
            <p:cNvSpPr txBox="1"/>
            <p:nvPr/>
          </p:nvSpPr>
          <p:spPr>
            <a:xfrm>
              <a:off x="1382177" y="2853329"/>
              <a:ext cx="8194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#STL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B30B0DF-5F97-6C9E-5E06-8F01B16BCE35}"/>
                </a:ext>
              </a:extLst>
            </p:cNvPr>
            <p:cNvSpPr txBox="1"/>
            <p:nvPr/>
          </p:nvSpPr>
          <p:spPr>
            <a:xfrm>
              <a:off x="1382177" y="3192716"/>
              <a:ext cx="21770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&lt;C++ Standard Library&gt; - set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C42EAF3-AF4B-CBE8-9F4B-C06230A0BDC5}"/>
              </a:ext>
            </a:extLst>
          </p:cNvPr>
          <p:cNvSpPr txBox="1"/>
          <p:nvPr/>
        </p:nvSpPr>
        <p:spPr>
          <a:xfrm>
            <a:off x="833537" y="2286358"/>
            <a:ext cx="6761787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set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은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요소를 </a:t>
            </a:r>
            <a:r>
              <a:rPr lang="ko-KR" altLang="en-US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중복 없이 저장하는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ko-KR" altLang="en-US" sz="2200" dirty="0" err="1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자료구조입니다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다음 특징을 가지고 있습니다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- 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삽입과 삭제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, 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찾기 연산이 모두 </a:t>
            </a:r>
            <a:r>
              <a:rPr lang="en-US" altLang="ko-KR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O(log N)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에 동작한다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- 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항상 요소는 </a:t>
            </a:r>
            <a:r>
              <a:rPr lang="ko-KR" altLang="en-US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정렬된 순서를 유지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한다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등이 있습니다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3632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0C069-038F-33E3-7E0B-0CF14E68E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783ECEE-A501-8A2C-1A4B-F0736E6B9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2DC7CC3-6111-092C-FC0A-6CCA27771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11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09CA3A1-F96A-FC76-F47B-D69133C97C81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610A97D4-6550-41B5-B011-638D3566559B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41C6584C-B8BE-C246-1E48-39E598A986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50B2DD06-987E-2EDB-2068-828929003F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CA7FF2BA-EBF9-DE2C-9A74-5C795DF13E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A0B3EC5-6241-379E-39FE-0D947BF6C7BB}"/>
              </a:ext>
            </a:extLst>
          </p:cNvPr>
          <p:cNvSpPr txBox="1"/>
          <p:nvPr/>
        </p:nvSpPr>
        <p:spPr>
          <a:xfrm>
            <a:off x="722811" y="2171969"/>
            <a:ext cx="4306385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1. set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만들기</a:t>
            </a:r>
          </a:p>
          <a:p>
            <a:pPr>
              <a:lnSpc>
                <a:spcPct val="150000"/>
              </a:lnSpc>
            </a:pP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set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을 만들기 위해서는 먼저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b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</a:br>
            <a:r>
              <a:rPr lang="en-US" altLang="ko-KR" sz="1600" dirty="0">
                <a:solidFill>
                  <a:srgbClr val="5F2CC6"/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&lt;set&gt;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이라는 헤더를 불러와야 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이후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set&lt;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자료형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&gt;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형태로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타입을 지정합니다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greater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이용해</a:t>
            </a:r>
            <a:b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</a:b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반대로 정렬되게 할 수도 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7B4EF8-2013-4528-D865-6ED2739558E0}"/>
              </a:ext>
            </a:extLst>
          </p:cNvPr>
          <p:cNvSpPr txBox="1"/>
          <p:nvPr/>
        </p:nvSpPr>
        <p:spPr>
          <a:xfrm>
            <a:off x="5740878" y="1971914"/>
            <a:ext cx="511000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&lt;set&gt;</a:t>
            </a: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    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   </a:t>
            </a:r>
            <a:b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내림차순</a:t>
            </a:r>
            <a:endParaRPr lang="ko-KR" alt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greater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 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4D6594F-66D8-6FFD-0E5E-C61B7C31FE09}"/>
              </a:ext>
            </a:extLst>
          </p:cNvPr>
          <p:cNvGrpSpPr/>
          <p:nvPr/>
        </p:nvGrpSpPr>
        <p:grpSpPr>
          <a:xfrm>
            <a:off x="722811" y="577310"/>
            <a:ext cx="2287732" cy="750097"/>
            <a:chOff x="1271451" y="2719618"/>
            <a:chExt cx="2287732" cy="750097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F326326-1634-D0ED-DEDF-9682C886466A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A0AD1FA-9EFE-2A90-75D8-AA46176595C7}"/>
                </a:ext>
              </a:extLst>
            </p:cNvPr>
            <p:cNvSpPr txBox="1"/>
            <p:nvPr/>
          </p:nvSpPr>
          <p:spPr>
            <a:xfrm>
              <a:off x="1382177" y="2853329"/>
              <a:ext cx="8194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#STL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2993AC2-ED06-C6AD-DE37-CA7723D72F54}"/>
                </a:ext>
              </a:extLst>
            </p:cNvPr>
            <p:cNvSpPr txBox="1"/>
            <p:nvPr/>
          </p:nvSpPr>
          <p:spPr>
            <a:xfrm>
              <a:off x="1382177" y="3192716"/>
              <a:ext cx="21770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&lt;C++ Standard Library&gt; - set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236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8A643-975E-9B23-DF79-FF70CA0F4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69D0A062-6C6E-E7A6-3A4D-4970F0A81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37D68EC-CD3E-16B6-53C3-0C57798B8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12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2D9AF29-76DE-E6AB-8156-2B30A9EF0457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EF10CFA5-158A-650D-7CE4-6CCAB401A307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E5724343-0FCF-1714-D3A3-81C9204754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99FE8F49-D095-7D98-B636-9E2B270E0F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B1CE829-25A1-A187-54AA-267097370D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F022E7C4-B49A-F25F-BBB3-33D9C5305633}"/>
              </a:ext>
            </a:extLst>
          </p:cNvPr>
          <p:cNvSpPr txBox="1"/>
          <p:nvPr/>
        </p:nvSpPr>
        <p:spPr>
          <a:xfrm>
            <a:off x="722811" y="2276565"/>
            <a:ext cx="4306385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2.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요소 삽입과 삭제 연산</a:t>
            </a:r>
            <a:b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</a:b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set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에 이미 있는 요소를 삽입하거나</a:t>
            </a:r>
            <a:b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</a:b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set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에 없는 요소를 삭제하는 경우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아무 일도 일어나지 않습니다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739436-7402-5E71-1AD5-E9413BE3432A}"/>
              </a:ext>
            </a:extLst>
          </p:cNvPr>
          <p:cNvSpPr txBox="1"/>
          <p:nvPr/>
        </p:nvSpPr>
        <p:spPr>
          <a:xfrm>
            <a:off x="5518749" y="1879581"/>
            <a:ext cx="5110002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    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   </a:t>
            </a:r>
          </a:p>
          <a:p>
            <a:pPr>
              <a:buNone/>
            </a:pP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   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   </a:t>
            </a:r>
          </a:p>
          <a:p>
            <a:pPr>
              <a:buNone/>
            </a:pP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아무 일도 일어나지 않음</a:t>
            </a:r>
            <a:endParaRPr lang="ko-KR" alt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    </a:t>
            </a:r>
            <a:b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erase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   </a:t>
            </a:r>
            <a:b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아무 일도 일어나지 않음</a:t>
            </a:r>
            <a:endParaRPr lang="ko-KR" alt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erase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 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FDB3C0D-E6A0-5FD4-03BE-0BE8A9C0868A}"/>
              </a:ext>
            </a:extLst>
          </p:cNvPr>
          <p:cNvGrpSpPr/>
          <p:nvPr/>
        </p:nvGrpSpPr>
        <p:grpSpPr>
          <a:xfrm>
            <a:off x="722811" y="577310"/>
            <a:ext cx="2287732" cy="750097"/>
            <a:chOff x="1271451" y="2719618"/>
            <a:chExt cx="2287732" cy="750097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AFD87A7-38D4-D670-78E2-54F5B9B33E41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EEE5C2D-612F-EF01-7D85-9D0A292C5985}"/>
                </a:ext>
              </a:extLst>
            </p:cNvPr>
            <p:cNvSpPr txBox="1"/>
            <p:nvPr/>
          </p:nvSpPr>
          <p:spPr>
            <a:xfrm>
              <a:off x="1382177" y="2853329"/>
              <a:ext cx="8194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#STL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38353DE-7CF2-AC91-5551-915814B97FF1}"/>
                </a:ext>
              </a:extLst>
            </p:cNvPr>
            <p:cNvSpPr txBox="1"/>
            <p:nvPr/>
          </p:nvSpPr>
          <p:spPr>
            <a:xfrm>
              <a:off x="1382177" y="3192716"/>
              <a:ext cx="21770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&lt;C++ Standard Library&gt; - set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7672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52D55-2380-58A5-CAB8-867B0BFB7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62BA305E-BF10-A67F-0CF0-B5387D06C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A71D198-B8C3-7026-3C71-A32CC423D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13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BC907EF-1B22-AE08-F7EC-0CB1DFC91DC5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5EABAE42-3CDB-E993-B181-F9390ABC542C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3AF510DB-92A5-CAD9-727B-92E9442A4F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A61E1BAC-25BD-9129-B58D-562C3A5D95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B19E2A09-0C8B-65C9-7F6E-996ACBDAAA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3083942-08D1-0487-F417-7FDDDCC3EE86}"/>
              </a:ext>
            </a:extLst>
          </p:cNvPr>
          <p:cNvSpPr txBox="1"/>
          <p:nvPr/>
        </p:nvSpPr>
        <p:spPr>
          <a:xfrm>
            <a:off x="722811" y="2171969"/>
            <a:ext cx="4306385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3.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요소 찾기</a:t>
            </a:r>
            <a:b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</a:b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find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이용해 어떤 요소가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set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에</a:t>
            </a:r>
            <a:b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</a:b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존재하는지 아닌지를 알 수 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find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의 </a:t>
            </a:r>
            <a:r>
              <a:rPr lang="ko-KR" altLang="en-US" sz="1200" dirty="0" err="1">
                <a:solidFill>
                  <a:schemeClr val="bg1">
                    <a:lumMod val="6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반환값은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요소가 있는 위치를 가리키는 </a:t>
            </a:r>
            <a:r>
              <a:rPr lang="ko-KR" altLang="en-US" sz="1200" dirty="0" err="1">
                <a:solidFill>
                  <a:schemeClr val="bg1">
                    <a:lumMod val="6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이터레이터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</a:t>
            </a:r>
            <a:b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</a:b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혹은 없을 경우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end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가리키는 </a:t>
            </a:r>
            <a:r>
              <a:rPr lang="ko-KR" altLang="en-US" sz="1200" dirty="0" err="1">
                <a:solidFill>
                  <a:schemeClr val="bg1">
                    <a:lumMod val="6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이터레이터를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반환합니다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'</a:t>
            </a:r>
            <a:r>
              <a:rPr lang="ko-KR" altLang="en-US" sz="1200" dirty="0" err="1">
                <a:solidFill>
                  <a:schemeClr val="bg1">
                    <a:lumMod val="6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이터레이터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'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는 당장 설명하기에는 어렵기 때문에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이번 멘토링에서는 다루지 않습니다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14B97C-851F-A6D6-3BBB-24963DFCA5D5}"/>
              </a:ext>
            </a:extLst>
          </p:cNvPr>
          <p:cNvSpPr txBox="1"/>
          <p:nvPr/>
        </p:nvSpPr>
        <p:spPr>
          <a:xfrm>
            <a:off x="5518750" y="1879581"/>
            <a:ext cx="6318125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    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   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   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find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는 요소가 없는 경우에만 </a:t>
            </a:r>
            <a:endParaRPr lang="en-US" altLang="ko-KR" sz="16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    //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와 같은 결과를 반환합니다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    </a:t>
            </a:r>
            <a:endParaRPr lang="ko-KR" alt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());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0 (false)    </a:t>
            </a: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());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1 (true)    </a:t>
            </a: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버전이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C++20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이상이라면 </a:t>
            </a:r>
            <a:endParaRPr lang="en-US" altLang="ko-KR" sz="16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    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아래 코드를 사용할 수 있습니다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    </a:t>
            </a:r>
            <a:endParaRPr lang="ko-KR" alt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contains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1 (true)</a:t>
            </a: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94A09B9-9D00-69A9-41C9-BA6731483A25}"/>
              </a:ext>
            </a:extLst>
          </p:cNvPr>
          <p:cNvGrpSpPr/>
          <p:nvPr/>
        </p:nvGrpSpPr>
        <p:grpSpPr>
          <a:xfrm>
            <a:off x="722811" y="577310"/>
            <a:ext cx="2287732" cy="750097"/>
            <a:chOff x="1271451" y="2719618"/>
            <a:chExt cx="2287732" cy="750097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1CAA3A8-DD35-6856-1A1A-99ED27981521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257776D-3BCA-C1EC-6976-A8E5AC37647A}"/>
                </a:ext>
              </a:extLst>
            </p:cNvPr>
            <p:cNvSpPr txBox="1"/>
            <p:nvPr/>
          </p:nvSpPr>
          <p:spPr>
            <a:xfrm>
              <a:off x="1382177" y="2853329"/>
              <a:ext cx="8194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#STL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076DC94-3595-5C0F-6132-CDAB55790838}"/>
                </a:ext>
              </a:extLst>
            </p:cNvPr>
            <p:cNvSpPr txBox="1"/>
            <p:nvPr/>
          </p:nvSpPr>
          <p:spPr>
            <a:xfrm>
              <a:off x="1382177" y="3192716"/>
              <a:ext cx="21770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&lt;C++ Standard Library&gt; - set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260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1270F-D91A-D287-2451-8737624D4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1C44267-1CBF-2024-1A66-C9C30C9D9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824F962-C644-B88E-C29D-3BD301A0F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14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1B8BCC7-0A8F-C5EB-576E-5809AE0EDD20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088E084A-8A76-A750-9CE7-F16E1AD42A81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5CFA8668-A76B-C0C0-D619-D05247077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E01B5E48-F54B-D76B-EED2-FB3D4293EC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FB46F201-E0BC-06BC-597B-815B18C743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260F1D50-98DC-F2C7-E631-D850C3AACE4D}"/>
              </a:ext>
            </a:extLst>
          </p:cNvPr>
          <p:cNvSpPr txBox="1"/>
          <p:nvPr/>
        </p:nvSpPr>
        <p:spPr>
          <a:xfrm>
            <a:off x="722811" y="2171969"/>
            <a:ext cx="430638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4.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모든 요소 순회</a:t>
            </a:r>
          </a:p>
          <a:p>
            <a:pPr>
              <a:lnSpc>
                <a:spcPct val="150000"/>
              </a:lnSpc>
            </a:pP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set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에 존재하는 모든 요소를 탐색해봅시다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08DE49-FB48-61A3-AB0D-42AD5BC3C90A}"/>
              </a:ext>
            </a:extLst>
          </p:cNvPr>
          <p:cNvSpPr txBox="1"/>
          <p:nvPr/>
        </p:nvSpPr>
        <p:spPr>
          <a:xfrm>
            <a:off x="5518749" y="1188907"/>
            <a:ext cx="6603515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1.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범위 기반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문</a:t>
            </a: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2.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반복자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(Iterator)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타입을 명시적으로 선언하여 순회</a:t>
            </a: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&gt;::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 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set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의 반복자는 값을 바로 가리키므로 </a:t>
            </a: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포인터처럼 * 연산자를 붙여서 출력합니다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3. auto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를 사용하여 반복자 선언을 간소화한 순회</a:t>
            </a: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2C98672-FCD7-D745-7C41-7B977B9213A4}"/>
              </a:ext>
            </a:extLst>
          </p:cNvPr>
          <p:cNvGrpSpPr/>
          <p:nvPr/>
        </p:nvGrpSpPr>
        <p:grpSpPr>
          <a:xfrm>
            <a:off x="722811" y="577310"/>
            <a:ext cx="2287732" cy="750097"/>
            <a:chOff x="1271451" y="2719618"/>
            <a:chExt cx="2287732" cy="750097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724ABB6-92AB-2BE6-8B0C-A90BE1DB9580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F7F0BFD-6C56-6DF3-5F5D-4EE6DC064B97}"/>
                </a:ext>
              </a:extLst>
            </p:cNvPr>
            <p:cNvSpPr txBox="1"/>
            <p:nvPr/>
          </p:nvSpPr>
          <p:spPr>
            <a:xfrm>
              <a:off x="1382177" y="2853329"/>
              <a:ext cx="8194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#STL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B6C2034-BCA8-2A73-3DC2-5570D10F55E7}"/>
                </a:ext>
              </a:extLst>
            </p:cNvPr>
            <p:cNvSpPr txBox="1"/>
            <p:nvPr/>
          </p:nvSpPr>
          <p:spPr>
            <a:xfrm>
              <a:off x="1382177" y="3192716"/>
              <a:ext cx="21770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&lt;C++ Standard Library&gt; - set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6099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51AF1-88F6-D75B-53FB-6926944D4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1CA5CF39-61A6-D096-F71C-49595F4AA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ECA9FEA-33B0-372F-BB7A-B149DEB24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15</a:t>
            </a:fld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28CF91C-FEFF-F1D8-861D-A079C4DE8CC6}"/>
              </a:ext>
            </a:extLst>
          </p:cNvPr>
          <p:cNvGrpSpPr/>
          <p:nvPr/>
        </p:nvGrpSpPr>
        <p:grpSpPr>
          <a:xfrm>
            <a:off x="4385803" y="1545201"/>
            <a:ext cx="3420393" cy="430887"/>
            <a:chOff x="1097620" y="1639465"/>
            <a:chExt cx="3420393" cy="430887"/>
          </a:xfrm>
        </p:grpSpPr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14AA4EB4-7319-BB69-C47F-EE4EA1DEE2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97620" y="1740314"/>
              <a:ext cx="257842" cy="330037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91EEEFE-D9E4-0356-2CF2-49C3B8F10315}"/>
                </a:ext>
              </a:extLst>
            </p:cNvPr>
            <p:cNvSpPr txBox="1"/>
            <p:nvPr/>
          </p:nvSpPr>
          <p:spPr>
            <a:xfrm>
              <a:off x="1355462" y="1639465"/>
              <a:ext cx="316255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Tutorial: STL Set 1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(JUNGOL #4637)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F514A98-1F55-A3B7-165F-EA5F5D56C24A}"/>
              </a:ext>
            </a:extLst>
          </p:cNvPr>
          <p:cNvSpPr txBox="1"/>
          <p:nvPr/>
        </p:nvSpPr>
        <p:spPr>
          <a:xfrm>
            <a:off x="1406100" y="2691344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 설명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3CE255-EDCB-165E-55ED-A5A759B097A4}"/>
              </a:ext>
            </a:extLst>
          </p:cNvPr>
          <p:cNvSpPr txBox="1"/>
          <p:nvPr/>
        </p:nvSpPr>
        <p:spPr>
          <a:xfrm>
            <a:off x="1406099" y="3107445"/>
            <a:ext cx="590910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쿼리가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Q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개 주어짐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i x : x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 없다면 집합에 추가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r x :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집합 내에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x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 있으면 삭제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b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</a:b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없다면 아무 것도 하지 않음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93E5ED-A7F8-936C-265E-770769A942B6}"/>
              </a:ext>
            </a:extLst>
          </p:cNvPr>
          <p:cNvSpPr txBox="1"/>
          <p:nvPr/>
        </p:nvSpPr>
        <p:spPr>
          <a:xfrm>
            <a:off x="7736971" y="2691344"/>
            <a:ext cx="34718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제약 조건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0D4DC52-7723-8DFC-7F8A-6D2DCD9AD5AF}"/>
                  </a:ext>
                </a:extLst>
              </p:cNvPr>
              <p:cNvSpPr txBox="1"/>
              <p:nvPr/>
            </p:nvSpPr>
            <p:spPr>
              <a:xfrm>
                <a:off x="7736970" y="3107445"/>
                <a:ext cx="3471804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Q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20,000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가는" panose="020B0600000101010101" pitchFamily="34" charset="-127"/>
                          </a:rPr>
                        </m:ctrlPr>
                      </m:sSupPr>
                      <m:e>
                        <m:r>
                          <a:rPr lang="en-US" altLang="ko-KR" sz="16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가는" panose="020B0600000101010101" pitchFamily="34" charset="-127"/>
                          </a:rPr>
                          <m:t>−</m:t>
                        </m:r>
                        <m:r>
                          <a:rPr lang="en-US" altLang="ko-KR" sz="16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가는" panose="020B0600000101010101" pitchFamily="34" charset="-127"/>
                          </a:rPr>
                          <m:t>10</m:t>
                        </m:r>
                      </m:e>
                      <m:sup>
                        <m:r>
                          <a:rPr lang="en-US" altLang="ko-KR" sz="1600" b="0" i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가는" panose="020B0600000101010101" pitchFamily="34" charset="-127"/>
                          </a:rPr>
                          <m:t>9</m:t>
                        </m:r>
                      </m:sup>
                    </m:sSup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x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마루 부리OTF 가는" panose="020B0600000101010101" pitchFamily="34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  <m:sSup>
                      <m:sSupPr>
                        <m:ctrlPr>
                          <a:rPr lang="en-US" altLang="ko-KR" sz="16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가는" panose="020B0600000101010101" pitchFamily="34" charset="-127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가는" panose="020B0600000101010101" pitchFamily="34" charset="-127"/>
                          </a:rPr>
                          <m:t>10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가는" panose="020B0600000101010101" pitchFamily="34" charset="-127"/>
                          </a:rPr>
                          <m:t>9</m:t>
                        </m:r>
                      </m:sup>
                    </m:sSup>
                  </m:oMath>
                </a14:m>
                <a:endPara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가는" panose="020B0600000101010101" pitchFamily="34" charset="-127"/>
                  <a:ea typeface="마루 부리OTF 가는" panose="020B0600000101010101" pitchFamily="34" charset="-127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0D4DC52-7723-8DFC-7F8A-6D2DCD9AD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6970" y="3107445"/>
                <a:ext cx="3471804" cy="800219"/>
              </a:xfrm>
              <a:prstGeom prst="rect">
                <a:avLst/>
              </a:prstGeom>
              <a:blipFill>
                <a:blip r:embed="rId3"/>
                <a:stretch>
                  <a:fillRect l="-702" b="-106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그룹 3">
            <a:extLst>
              <a:ext uri="{FF2B5EF4-FFF2-40B4-BE49-F238E27FC236}">
                <a16:creationId xmlns:a16="http://schemas.microsoft.com/office/drawing/2014/main" id="{BE5AB9CC-B2BB-AC03-6E0F-E7C7DDBE2350}"/>
              </a:ext>
            </a:extLst>
          </p:cNvPr>
          <p:cNvGrpSpPr/>
          <p:nvPr/>
        </p:nvGrpSpPr>
        <p:grpSpPr>
          <a:xfrm>
            <a:off x="722811" y="577310"/>
            <a:ext cx="1941484" cy="750097"/>
            <a:chOff x="1271451" y="2719618"/>
            <a:chExt cx="1941484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AB20EC0-6DF8-A681-B034-71AF083DCB79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D8F5220-16DA-435D-DDF8-EF8A5B166A53}"/>
                </a:ext>
              </a:extLst>
            </p:cNvPr>
            <p:cNvSpPr txBox="1"/>
            <p:nvPr/>
          </p:nvSpPr>
          <p:spPr>
            <a:xfrm>
              <a:off x="1382177" y="2853329"/>
              <a:ext cx="8194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#STL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745ED4F-6180-0838-24DA-7F5A53F509E1}"/>
                </a:ext>
              </a:extLst>
            </p:cNvPr>
            <p:cNvSpPr txBox="1"/>
            <p:nvPr/>
          </p:nvSpPr>
          <p:spPr>
            <a:xfrm>
              <a:off x="1382177" y="3192716"/>
              <a:ext cx="18307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&lt;C++ Standard Library&gt;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7952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1E05E-6B17-8040-B292-84CCFCEB1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7C50622A-D9D9-35C0-F110-2EBFA3EA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00C6356-AFB7-3581-2ED9-2D082304D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119133-3BCC-7232-00D4-F2FD9EABC44E}"/>
              </a:ext>
            </a:extLst>
          </p:cNvPr>
          <p:cNvSpPr txBox="1"/>
          <p:nvPr/>
        </p:nvSpPr>
        <p:spPr>
          <a:xfrm>
            <a:off x="722811" y="2118272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 해설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BDCFA5B-9330-4E4C-257D-4EA9C3D39945}"/>
              </a:ext>
            </a:extLst>
          </p:cNvPr>
          <p:cNvGrpSpPr/>
          <p:nvPr/>
        </p:nvGrpSpPr>
        <p:grpSpPr>
          <a:xfrm>
            <a:off x="722811" y="577310"/>
            <a:ext cx="1941484" cy="750097"/>
            <a:chOff x="1271451" y="2719618"/>
            <a:chExt cx="1941484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C4081E9-A159-8537-C5EF-EFBE776FE3C5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7E4FAFA-BD16-E2D2-B6FE-476EA92AB355}"/>
                </a:ext>
              </a:extLst>
            </p:cNvPr>
            <p:cNvSpPr txBox="1"/>
            <p:nvPr/>
          </p:nvSpPr>
          <p:spPr>
            <a:xfrm>
              <a:off x="1382177" y="2853329"/>
              <a:ext cx="8194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#STL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8EE6DAC-3F2D-8F15-CB8B-D5917C36754F}"/>
                </a:ext>
              </a:extLst>
            </p:cNvPr>
            <p:cNvSpPr txBox="1"/>
            <p:nvPr/>
          </p:nvSpPr>
          <p:spPr>
            <a:xfrm>
              <a:off x="1382177" y="3192716"/>
              <a:ext cx="18307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&lt;C++ Standard Library&gt;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16F2AE4F-6133-C820-23AE-5A133808C8BF}"/>
              </a:ext>
            </a:extLst>
          </p:cNvPr>
          <p:cNvGrpSpPr/>
          <p:nvPr/>
        </p:nvGrpSpPr>
        <p:grpSpPr>
          <a:xfrm>
            <a:off x="4385803" y="1545201"/>
            <a:ext cx="3420393" cy="430887"/>
            <a:chOff x="1097620" y="1639465"/>
            <a:chExt cx="3420393" cy="430887"/>
          </a:xfrm>
        </p:grpSpPr>
        <p:pic>
          <p:nvPicPr>
            <p:cNvPr id="6" name="그래픽 5">
              <a:extLst>
                <a:ext uri="{FF2B5EF4-FFF2-40B4-BE49-F238E27FC236}">
                  <a16:creationId xmlns:a16="http://schemas.microsoft.com/office/drawing/2014/main" id="{061E7EC1-AAEC-4D19-23B1-14E28C4BD3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97620" y="1740314"/>
              <a:ext cx="257842" cy="33003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7A5FE3F-EF4C-04F5-8F7A-933064BFD3AE}"/>
                </a:ext>
              </a:extLst>
            </p:cNvPr>
            <p:cNvSpPr txBox="1"/>
            <p:nvPr/>
          </p:nvSpPr>
          <p:spPr>
            <a:xfrm>
              <a:off x="1355462" y="1639465"/>
              <a:ext cx="316255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Tutorial: STL Set 1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(JUNGOL #4637)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5CCAA5A-BB84-7F77-420A-B821EC3A433E}"/>
              </a:ext>
            </a:extLst>
          </p:cNvPr>
          <p:cNvSpPr txBox="1"/>
          <p:nvPr/>
        </p:nvSpPr>
        <p:spPr>
          <a:xfrm>
            <a:off x="3177731" y="2288781"/>
            <a:ext cx="609437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ios_base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sync_with_stdio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'r'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erase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set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은 내부적으로 항상 오름차순</a:t>
            </a: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92765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29E30-7F30-2563-E39B-D293EE78C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54CD729-5E69-1E18-94F4-33009968C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B6B02A7-02FA-F46B-D324-6FF500B8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B424338-875F-7A9F-F3F8-EC95439E5097}"/>
              </a:ext>
            </a:extLst>
          </p:cNvPr>
          <p:cNvGrpSpPr/>
          <p:nvPr/>
        </p:nvGrpSpPr>
        <p:grpSpPr>
          <a:xfrm>
            <a:off x="722811" y="577310"/>
            <a:ext cx="3080000" cy="750097"/>
            <a:chOff x="1271451" y="2719618"/>
            <a:chExt cx="3080000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8E1DE65-4E66-1A6D-9176-0DAAEFC4EE10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012CEA9-377A-7D3B-284D-8292FC59F875}"/>
                </a:ext>
              </a:extLst>
            </p:cNvPr>
            <p:cNvSpPr txBox="1"/>
            <p:nvPr/>
          </p:nvSpPr>
          <p:spPr>
            <a:xfrm>
              <a:off x="1382177" y="2853329"/>
              <a:ext cx="8194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#STL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5FEA29C-99E6-498E-88C9-69722E1B2526}"/>
                </a:ext>
              </a:extLst>
            </p:cNvPr>
            <p:cNvSpPr txBox="1"/>
            <p:nvPr/>
          </p:nvSpPr>
          <p:spPr>
            <a:xfrm>
              <a:off x="1382177" y="3192716"/>
              <a:ext cx="29692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&lt;C++ Standard Library&gt; - </a:t>
              </a:r>
              <a:r>
                <a:rPr lang="en-US" altLang="ko-KR" sz="1200" dirty="0" err="1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priority_queue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30FC0EF-60DD-BB90-7206-6A214FC7068B}"/>
              </a:ext>
            </a:extLst>
          </p:cNvPr>
          <p:cNvSpPr txBox="1"/>
          <p:nvPr/>
        </p:nvSpPr>
        <p:spPr>
          <a:xfrm>
            <a:off x="833537" y="2286358"/>
            <a:ext cx="10130081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 err="1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priority_queue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는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항상 </a:t>
            </a:r>
            <a:r>
              <a:rPr lang="ko-KR" altLang="en-US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가장 큰</a:t>
            </a:r>
            <a:r>
              <a:rPr lang="en-US" altLang="ko-KR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/</a:t>
            </a:r>
            <a:r>
              <a:rPr lang="ko-KR" altLang="en-US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작은 요소를 꺼낼 수 있게 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해주는 </a:t>
            </a:r>
            <a:r>
              <a:rPr lang="ko-KR" altLang="en-US" sz="2200" dirty="0" err="1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자료구조입니다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다음 특징을 가지고 있습니다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- 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요소의 삽입과 삭제 연산이 모두 </a:t>
            </a:r>
            <a:r>
              <a:rPr lang="en-US" altLang="ko-KR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O(log N)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에 동작한다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- top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에는 항상 </a:t>
            </a:r>
            <a:r>
              <a:rPr lang="ko-KR" altLang="en-US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가장 큰</a:t>
            </a:r>
            <a:r>
              <a:rPr lang="en-US" altLang="ko-KR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/</a:t>
            </a:r>
            <a:r>
              <a:rPr lang="ko-KR" altLang="en-US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작은 요소가 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들어있다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6268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1D93C-1EA3-C258-0180-0B77D1635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348EC370-92AC-069C-3A52-55DC8E3B0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6909522-EEB2-1105-9929-B8383036A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18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4634977-49A7-DC3B-68A5-E6B1E3366D31}"/>
              </a:ext>
            </a:extLst>
          </p:cNvPr>
          <p:cNvGrpSpPr/>
          <p:nvPr/>
        </p:nvGrpSpPr>
        <p:grpSpPr>
          <a:xfrm>
            <a:off x="4902921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E77E4BC3-D4FC-6C9F-A047-34CAE723E519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1F25CCB5-806A-833E-942F-762FFD4E01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C5BC32F1-BBF0-7B06-9B75-F3A0BF3648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F2B416B7-9424-183C-4F12-CA16A9B7A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90DC451-2AB9-9900-0271-7C9BCA73A246}"/>
              </a:ext>
            </a:extLst>
          </p:cNvPr>
          <p:cNvSpPr txBox="1"/>
          <p:nvPr/>
        </p:nvSpPr>
        <p:spPr>
          <a:xfrm>
            <a:off x="722811" y="2171969"/>
            <a:ext cx="4306385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1. </a:t>
            </a:r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priority_queue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만들기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priority_queue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만들기 위해서는 먼저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</a:t>
            </a:r>
            <a:b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</a:b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&lt;queue&gt; (+ &lt;vector&gt;)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라는 헤더를 불러와야 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이후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priority_queue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&lt;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자료형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&gt;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으로 타입을 정합니다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25FC54-1D0E-7544-BD10-05F205A138DE}"/>
              </a:ext>
            </a:extLst>
          </p:cNvPr>
          <p:cNvSpPr txBox="1"/>
          <p:nvPr/>
        </p:nvSpPr>
        <p:spPr>
          <a:xfrm>
            <a:off x="5281746" y="2218135"/>
            <a:ext cx="655513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&lt;queue&gt;</a:t>
            </a: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    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가장 큰 게 우선    </a:t>
            </a:r>
            <a:endParaRPr lang="ko-KR" alt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priority_queue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pq1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   </a:t>
            </a:r>
          </a:p>
          <a:p>
            <a:pPr>
              <a:buNone/>
            </a:pP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가장 작은 게 우선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</a:t>
            </a:r>
            <a:endParaRPr lang="ko-KR" alt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&lt;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타입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저장할 공간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비교 함수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순서    </a:t>
            </a:r>
            <a:endParaRPr lang="ko-KR" alt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priority_queue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greater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pq2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FC72AE1-89D0-524C-5AF0-6D56FBFFC431}"/>
              </a:ext>
            </a:extLst>
          </p:cNvPr>
          <p:cNvGrpSpPr/>
          <p:nvPr/>
        </p:nvGrpSpPr>
        <p:grpSpPr>
          <a:xfrm>
            <a:off x="722811" y="577310"/>
            <a:ext cx="3080000" cy="750097"/>
            <a:chOff x="1271451" y="2719618"/>
            <a:chExt cx="3080000" cy="7500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F844C54-3E85-11BB-AE81-3E9F51ACFC52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1843EFE-2663-1FF8-E29E-B65BEE863062}"/>
                </a:ext>
              </a:extLst>
            </p:cNvPr>
            <p:cNvSpPr txBox="1"/>
            <p:nvPr/>
          </p:nvSpPr>
          <p:spPr>
            <a:xfrm>
              <a:off x="1382177" y="2853329"/>
              <a:ext cx="8194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#STL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19AECD-0CCB-3A8D-4F40-625E8EC43AB9}"/>
                </a:ext>
              </a:extLst>
            </p:cNvPr>
            <p:cNvSpPr txBox="1"/>
            <p:nvPr/>
          </p:nvSpPr>
          <p:spPr>
            <a:xfrm>
              <a:off x="1382177" y="3192716"/>
              <a:ext cx="29692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&lt;C++ Standard Library&gt; - </a:t>
              </a:r>
              <a:r>
                <a:rPr lang="en-US" altLang="ko-KR" sz="1200" dirty="0" err="1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priority_queue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0676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D90E2-77B7-897D-5EFF-FB69DC596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D970D339-4FB3-8566-60B4-7521C0B31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5CDF041-F87E-F03E-C0D2-E1E2F512D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19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CF61B80-E77B-5FEA-5D3B-195252590512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41224C1-9418-ACFE-D911-6636B9F8AD15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79001ACE-6252-EE89-9ECF-48E9A5B1BF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1BDB8712-C280-2A3C-BD9D-2152726C87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AE5105BE-C0B1-C0D3-7C28-03B2670398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0A54059-B67C-9F3D-2B6D-6B192A9B8983}"/>
              </a:ext>
            </a:extLst>
          </p:cNvPr>
          <p:cNvSpPr txBox="1"/>
          <p:nvPr/>
        </p:nvSpPr>
        <p:spPr>
          <a:xfrm>
            <a:off x="722811" y="2844224"/>
            <a:ext cx="430638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2.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삽입과 삭제 및 읽기 연산</a:t>
            </a:r>
          </a:p>
          <a:p>
            <a:pPr>
              <a:lnSpc>
                <a:spcPct val="150000"/>
              </a:lnSpc>
            </a:pP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priority_queue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의 주된 연산들을 알아봅시다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BE2C6F-7D8A-9136-45C6-57630072C3A7}"/>
              </a:ext>
            </a:extLst>
          </p:cNvPr>
          <p:cNvSpPr txBox="1"/>
          <p:nvPr/>
        </p:nvSpPr>
        <p:spPr>
          <a:xfrm>
            <a:off x="5518749" y="1848803"/>
            <a:ext cx="60960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&lt;queue&gt;</a:t>
            </a: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b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    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priority_queue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   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   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30    </a:t>
            </a: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2    </a:t>
            </a: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0 (false)    </a:t>
            </a: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altLang="ko-K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n-US" altLang="ko-KR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ko-KR" alt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반환값</a:t>
            </a:r>
            <a:r>
              <a:rPr lang="ko-KR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없이 가장 큰 요소만 삭제</a:t>
            </a:r>
            <a:endParaRPr lang="ko-KR" alt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282B66D-31A9-DFFE-B001-498736D41002}"/>
              </a:ext>
            </a:extLst>
          </p:cNvPr>
          <p:cNvGrpSpPr/>
          <p:nvPr/>
        </p:nvGrpSpPr>
        <p:grpSpPr>
          <a:xfrm>
            <a:off x="722811" y="577310"/>
            <a:ext cx="3080000" cy="750097"/>
            <a:chOff x="1271451" y="2719618"/>
            <a:chExt cx="3080000" cy="7500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9BD030B-03E8-45C3-662A-1096EF8C98BA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014B824-A74F-E14A-5D92-64405AE660AC}"/>
                </a:ext>
              </a:extLst>
            </p:cNvPr>
            <p:cNvSpPr txBox="1"/>
            <p:nvPr/>
          </p:nvSpPr>
          <p:spPr>
            <a:xfrm>
              <a:off x="1382177" y="2853329"/>
              <a:ext cx="8194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#STL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959D756-CE21-C229-290F-B27672B64033}"/>
                </a:ext>
              </a:extLst>
            </p:cNvPr>
            <p:cNvSpPr txBox="1"/>
            <p:nvPr/>
          </p:nvSpPr>
          <p:spPr>
            <a:xfrm>
              <a:off x="1382177" y="3192716"/>
              <a:ext cx="29692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&lt;C++ Standard Library&gt; - </a:t>
              </a:r>
              <a:r>
                <a:rPr lang="en-US" altLang="ko-KR" sz="1200" dirty="0" err="1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priority_queue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8284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72FB6-A720-3EA5-8EDB-221EA734A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E3D95777-2F4B-D39F-93F8-BC0D7912C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732AD9A-05E5-7408-CA26-B1DB220A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20</a:t>
            </a:fld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FAF3849-6B7B-39C8-F62B-2A1A54FBF2C0}"/>
              </a:ext>
            </a:extLst>
          </p:cNvPr>
          <p:cNvGrpSpPr/>
          <p:nvPr/>
        </p:nvGrpSpPr>
        <p:grpSpPr>
          <a:xfrm>
            <a:off x="4380938" y="1545201"/>
            <a:ext cx="3430123" cy="430887"/>
            <a:chOff x="1097620" y="1639465"/>
            <a:chExt cx="3430123" cy="430887"/>
          </a:xfrm>
        </p:grpSpPr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023ACF64-6831-3B34-D2D5-F60804D403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97620" y="1740314"/>
              <a:ext cx="257842" cy="330037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8541D32-DD4C-44CF-07BB-C0368DA3A1C0}"/>
                </a:ext>
              </a:extLst>
            </p:cNvPr>
            <p:cNvSpPr txBox="1"/>
            <p:nvPr/>
          </p:nvSpPr>
          <p:spPr>
            <a:xfrm>
              <a:off x="1355463" y="1639465"/>
              <a:ext cx="317228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하늘에서 떨어지는 돈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(JUNGOL #8589)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701E81E-FC0F-8A38-D268-C352B9DC0E57}"/>
              </a:ext>
            </a:extLst>
          </p:cNvPr>
          <p:cNvSpPr txBox="1"/>
          <p:nvPr/>
        </p:nvSpPr>
        <p:spPr>
          <a:xfrm>
            <a:off x="1406100" y="2691344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 설명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8A0E83-580C-F00D-E22F-A0EBA4C2B299}"/>
              </a:ext>
            </a:extLst>
          </p:cNvPr>
          <p:cNvSpPr txBox="1"/>
          <p:nvPr/>
        </p:nvSpPr>
        <p:spPr>
          <a:xfrm>
            <a:off x="1406099" y="3107445"/>
            <a:ext cx="516455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명의 사람이 가진 초기 자금이 주어짐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총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M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번에 걸쳐 돈이 떨어질 때마다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</a:t>
            </a:r>
            <a:b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</a:b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현재 가장 돈이 적은 사람이 그 돈을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가져감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모든 과정이 끝난 후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사람들이 가진 최종 금액을</a:t>
            </a:r>
            <a:b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</a:b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오름차순으로 정렬하여 출력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2EBC77-4100-922A-2C9D-25F699AEB5D9}"/>
              </a:ext>
            </a:extLst>
          </p:cNvPr>
          <p:cNvSpPr txBox="1"/>
          <p:nvPr/>
        </p:nvSpPr>
        <p:spPr>
          <a:xfrm>
            <a:off x="7736971" y="2691344"/>
            <a:ext cx="34718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제약 조건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049841A-889B-959B-95AF-588EAD3F70A5}"/>
                  </a:ext>
                </a:extLst>
              </p:cNvPr>
              <p:cNvSpPr txBox="1"/>
              <p:nvPr/>
            </p:nvSpPr>
            <p:spPr>
              <a:xfrm>
                <a:off x="7736970" y="3107445"/>
                <a:ext cx="3471804" cy="1538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N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200,000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0</a:t>
                </a:r>
                <a:r>
                  <a:rPr lang="en-US" altLang="ko-KR" sz="16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마루 부리OTF 가는" panose="020B0600000101010101" pitchFamily="34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  <m:sSub>
                      <m:sSubPr>
                        <m:ctrlPr>
                          <a:rPr lang="en-US" altLang="ko-KR" sz="16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가는" panose="020B0600000101010101" pitchFamily="34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가는" panose="020B0600000101010101" pitchFamily="34" charset="-127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가는" panose="020B0600000101010101" pitchFamily="34" charset="-127"/>
                          </a:rPr>
                          <m:t>𝑖</m:t>
                        </m:r>
                      </m:sub>
                    </m:sSub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  <m:sSup>
                      <m:sSupPr>
                        <m:ctrlPr>
                          <a:rPr lang="en-US" altLang="ko-KR" sz="16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가는" panose="020B0600000101010101" pitchFamily="34" charset="-127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가는" panose="020B0600000101010101" pitchFamily="34" charset="-127"/>
                          </a:rPr>
                          <m:t>10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가는" panose="020B0600000101010101" pitchFamily="34" charset="-127"/>
                          </a:rPr>
                          <m:t>9</m:t>
                        </m:r>
                      </m:sup>
                    </m:sSup>
                  </m:oMath>
                </a14:m>
                <a:endPara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가는" panose="020B0600000101010101" pitchFamily="34" charset="-127"/>
                  <a:ea typeface="마루 부리OTF 가는" panose="020B0600000101010101" pitchFamily="34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M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200,000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0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마루 부리OTF 가는" panose="020B0600000101010101" pitchFamily="34" charset="-127"/>
                  </a:rPr>
                  <a:t> (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마루 부리OTF 가는" panose="020B0600000101010101" pitchFamily="34" charset="-127"/>
                  </a:rPr>
                  <a:t>떨어지는 돈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마루 부리OTF 가는" panose="020B0600000101010101" pitchFamily="34" charset="-127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  <m:sSup>
                      <m:sSupPr>
                        <m:ctrlPr>
                          <a:rPr lang="en-US" altLang="ko-KR" sz="16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가는" panose="020B0600000101010101" pitchFamily="34" charset="-127"/>
                          </a:rPr>
                        </m:ctrlPr>
                      </m:sSupPr>
                      <m:e>
                        <m:r>
                          <a:rPr lang="en-US" altLang="ko-KR" sz="16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가는" panose="020B0600000101010101" pitchFamily="34" charset="-127"/>
                          </a:rPr>
                          <m:t>10</m:t>
                        </m:r>
                      </m:e>
                      <m:sup>
                        <m:r>
                          <a:rPr lang="en-US" altLang="ko-KR" sz="16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마루 부리OTF 가는" panose="020B0600000101010101" pitchFamily="34" charset="-127"/>
                          </a:rPr>
                          <m:t>9</m:t>
                        </m:r>
                      </m:sup>
                    </m:sSup>
                  </m:oMath>
                </a14:m>
                <a:endPara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가는" panose="020B0600000101010101" pitchFamily="34" charset="-127"/>
                  <a:ea typeface="마루 부리OTF 가는" panose="020B0600000101010101" pitchFamily="34" charset="-127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049841A-889B-959B-95AF-588EAD3F7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6970" y="3107445"/>
                <a:ext cx="3471804" cy="1538883"/>
              </a:xfrm>
              <a:prstGeom prst="rect">
                <a:avLst/>
              </a:prstGeom>
              <a:blipFill>
                <a:blip r:embed="rId3"/>
                <a:stretch>
                  <a:fillRect l="-702" b="-51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그룹 3">
            <a:extLst>
              <a:ext uri="{FF2B5EF4-FFF2-40B4-BE49-F238E27FC236}">
                <a16:creationId xmlns:a16="http://schemas.microsoft.com/office/drawing/2014/main" id="{69AD9700-E217-8453-F3A6-4603FE136DF6}"/>
              </a:ext>
            </a:extLst>
          </p:cNvPr>
          <p:cNvGrpSpPr/>
          <p:nvPr/>
        </p:nvGrpSpPr>
        <p:grpSpPr>
          <a:xfrm>
            <a:off x="722811" y="577310"/>
            <a:ext cx="1941484" cy="750097"/>
            <a:chOff x="1271451" y="2719618"/>
            <a:chExt cx="1941484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D0F29A-DD5F-DA0E-1674-A40E714300FB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642E8-6B75-CE8E-21C8-D7D31717B707}"/>
                </a:ext>
              </a:extLst>
            </p:cNvPr>
            <p:cNvSpPr txBox="1"/>
            <p:nvPr/>
          </p:nvSpPr>
          <p:spPr>
            <a:xfrm>
              <a:off x="1382177" y="2853329"/>
              <a:ext cx="8194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#STL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C39FA32-6796-0F73-31FA-4E6AC8F48320}"/>
                </a:ext>
              </a:extLst>
            </p:cNvPr>
            <p:cNvSpPr txBox="1"/>
            <p:nvPr/>
          </p:nvSpPr>
          <p:spPr>
            <a:xfrm>
              <a:off x="1382177" y="3192716"/>
              <a:ext cx="18307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&lt;C++ Standard Library&gt;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2206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89308-16D6-DA1A-7262-43246106F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ECDAA5CA-ABF1-77E8-4521-6CD21CD74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E3EAEFA-CF64-E638-4006-0AB048912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21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24A0F92-443B-565D-4AAC-C00DDA8D6AD4}"/>
              </a:ext>
            </a:extLst>
          </p:cNvPr>
          <p:cNvGrpSpPr/>
          <p:nvPr/>
        </p:nvGrpSpPr>
        <p:grpSpPr>
          <a:xfrm>
            <a:off x="722811" y="577310"/>
            <a:ext cx="1941484" cy="750097"/>
            <a:chOff x="1271451" y="2719618"/>
            <a:chExt cx="1941484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D38143B-9783-3078-6345-5624D1D9A27C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6699F3-8064-096D-FEFF-2BD87A100443}"/>
                </a:ext>
              </a:extLst>
            </p:cNvPr>
            <p:cNvSpPr txBox="1"/>
            <p:nvPr/>
          </p:nvSpPr>
          <p:spPr>
            <a:xfrm>
              <a:off x="1382177" y="2853329"/>
              <a:ext cx="8194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#STL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7A2D98B-D5AC-E4F2-ACD7-A511177B3BBA}"/>
                </a:ext>
              </a:extLst>
            </p:cNvPr>
            <p:cNvSpPr txBox="1"/>
            <p:nvPr/>
          </p:nvSpPr>
          <p:spPr>
            <a:xfrm>
              <a:off x="1382177" y="3192716"/>
              <a:ext cx="18307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&lt;C++ Standard Library&gt;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82158B44-FB10-5BB6-C364-53F65434B4BF}"/>
              </a:ext>
            </a:extLst>
          </p:cNvPr>
          <p:cNvGrpSpPr/>
          <p:nvPr/>
        </p:nvGrpSpPr>
        <p:grpSpPr>
          <a:xfrm>
            <a:off x="4380938" y="1545201"/>
            <a:ext cx="3430123" cy="430887"/>
            <a:chOff x="1097620" y="1639465"/>
            <a:chExt cx="3430123" cy="430887"/>
          </a:xfrm>
        </p:grpSpPr>
        <p:pic>
          <p:nvPicPr>
            <p:cNvPr id="6" name="그래픽 5">
              <a:extLst>
                <a:ext uri="{FF2B5EF4-FFF2-40B4-BE49-F238E27FC236}">
                  <a16:creationId xmlns:a16="http://schemas.microsoft.com/office/drawing/2014/main" id="{E95DD20F-1761-5EF7-AE13-C4D3F19884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97620" y="1740314"/>
              <a:ext cx="257842" cy="33003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C79B6C-6E10-75DD-E3E9-DD12D7C62685}"/>
                </a:ext>
              </a:extLst>
            </p:cNvPr>
            <p:cNvSpPr txBox="1"/>
            <p:nvPr/>
          </p:nvSpPr>
          <p:spPr>
            <a:xfrm>
              <a:off x="1355463" y="1639465"/>
              <a:ext cx="317228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하늘에서 떨어지는 돈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(JUNGOL #8589)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283574E-4463-674B-4174-E72BC73FD9FD}"/>
              </a:ext>
            </a:extLst>
          </p:cNvPr>
          <p:cNvSpPr txBox="1"/>
          <p:nvPr/>
        </p:nvSpPr>
        <p:spPr>
          <a:xfrm>
            <a:off x="722811" y="2222828"/>
            <a:ext cx="5373189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ll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ios_base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sync_with_stdio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priority_queue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ll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greater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ll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n-US" altLang="ko-KR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B333A7-B4E4-CC7D-EE98-0AB9A575DE95}"/>
              </a:ext>
            </a:extLst>
          </p:cNvPr>
          <p:cNvSpPr txBox="1"/>
          <p:nvPr/>
        </p:nvSpPr>
        <p:spPr>
          <a:xfrm>
            <a:off x="6191956" y="2007384"/>
            <a:ext cx="5373189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ll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dropped_money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dropped_money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현재 가장 돈이 적은 사람의 금액을 가져옴</a:t>
            </a: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ll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least_money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n-US" altLang="ko-KR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n-US" altLang="ko-KR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떨어진 돈을 더해서 다시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힙에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삽입</a:t>
            </a: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n-US" altLang="ko-KR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least_money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dropped_money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최소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힙에서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하나씩 꺼내면 자동으로 오름차순 정렬</a:t>
            </a: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n-US" altLang="ko-KR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n-US" altLang="ko-KR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n-US" altLang="ko-KR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53E6C7D-2633-9663-98B6-659E745C2CF0}"/>
              </a:ext>
            </a:extLst>
          </p:cNvPr>
          <p:cNvGrpSpPr/>
          <p:nvPr/>
        </p:nvGrpSpPr>
        <p:grpSpPr>
          <a:xfrm>
            <a:off x="5891429" y="2073337"/>
            <a:ext cx="252549" cy="4185762"/>
            <a:chOff x="6803262" y="1327407"/>
            <a:chExt cx="252549" cy="4676726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24B555D2-32A6-7B74-0E8F-0789AA7433D9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615121E2-63F8-11EC-3479-7E5822F893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4F9EA31B-FEFC-3638-D9AC-D4AA329DA5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A54A9D80-EADA-9A35-9F3E-813C38FE1F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38906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E6217-1591-9F3E-ACC2-AE43C0729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63CAA73A-EF52-D53C-7FBB-160D88582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77F29B-C23E-C113-7210-9A68107D7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22</a:t>
            </a:fld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03CC3C2-9429-DE4F-1DA2-26C007020A0B}"/>
              </a:ext>
            </a:extLst>
          </p:cNvPr>
          <p:cNvGrpSpPr/>
          <p:nvPr/>
        </p:nvGrpSpPr>
        <p:grpSpPr>
          <a:xfrm>
            <a:off x="833537" y="1761511"/>
            <a:ext cx="4604225" cy="790584"/>
            <a:chOff x="833537" y="1761511"/>
            <a:chExt cx="4604225" cy="790584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12E41432-E77E-FF9F-C801-F30EF0C85C10}"/>
                </a:ext>
              </a:extLst>
            </p:cNvPr>
            <p:cNvGrpSpPr/>
            <p:nvPr/>
          </p:nvGrpSpPr>
          <p:grpSpPr>
            <a:xfrm>
              <a:off x="833537" y="1761511"/>
              <a:ext cx="4604225" cy="430887"/>
              <a:chOff x="1097620" y="1639465"/>
              <a:chExt cx="4604225" cy="430887"/>
            </a:xfrm>
          </p:grpSpPr>
          <p:pic>
            <p:nvPicPr>
              <p:cNvPr id="10" name="그래픽 9">
                <a:extLst>
                  <a:ext uri="{FF2B5EF4-FFF2-40B4-BE49-F238E27FC236}">
                    <a16:creationId xmlns:a16="http://schemas.microsoft.com/office/drawing/2014/main" id="{A15EB4EC-448A-746E-8DCD-83706B4988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1" cy="330037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AF9444-B87C-C299-7280-EAAEA3DD1009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34638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Tutorial : STL Map 1 ( 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기본 개념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)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(JUNGOL #8561)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DD72C6F-4E72-8CE7-2436-3878DBE9BD09}"/>
                </a:ext>
              </a:extLst>
            </p:cNvPr>
            <p:cNvSpPr txBox="1"/>
            <p:nvPr/>
          </p:nvSpPr>
          <p:spPr>
            <a:xfrm>
              <a:off x="1091379" y="2227006"/>
              <a:ext cx="2401276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std::map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에 익숙해지기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38F9D0B-9F32-EF7C-1D44-71A7F732DD96}"/>
              </a:ext>
            </a:extLst>
          </p:cNvPr>
          <p:cNvGrpSpPr/>
          <p:nvPr/>
        </p:nvGrpSpPr>
        <p:grpSpPr>
          <a:xfrm>
            <a:off x="833537" y="3033708"/>
            <a:ext cx="4407057" cy="790584"/>
            <a:chOff x="833537" y="1761511"/>
            <a:chExt cx="4407057" cy="790584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391065CF-2C4C-FB6C-B39A-DAF18F6CBEFA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20" name="그래픽 19">
                <a:extLst>
                  <a:ext uri="{FF2B5EF4-FFF2-40B4-BE49-F238E27FC236}">
                    <a16:creationId xmlns:a16="http://schemas.microsoft.com/office/drawing/2014/main" id="{69E84C8F-EC82-FEA3-E867-FB11062ABC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1" cy="330036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A794C7D-A594-FEC4-D914-B5A524AD1DDA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하늘에서 떨어지는 돈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(JUNGOL #8589)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72C89B5-C3E9-D74A-3924-2B8A7ACB6C20}"/>
                </a:ext>
              </a:extLst>
            </p:cNvPr>
            <p:cNvSpPr txBox="1"/>
            <p:nvPr/>
          </p:nvSpPr>
          <p:spPr>
            <a:xfrm>
              <a:off x="1091379" y="2227006"/>
              <a:ext cx="3110970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우선순위 큐의 중요한 성질을 알아보기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2519DB1-0B83-C9F6-5C83-9D24C1BE687C}"/>
              </a:ext>
            </a:extLst>
          </p:cNvPr>
          <p:cNvGrpSpPr/>
          <p:nvPr/>
        </p:nvGrpSpPr>
        <p:grpSpPr>
          <a:xfrm>
            <a:off x="6886356" y="1761511"/>
            <a:ext cx="4709013" cy="790584"/>
            <a:chOff x="833537" y="1761511"/>
            <a:chExt cx="4709013" cy="790584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4427F9A8-8833-E32E-F62F-2F2F09A3A722}"/>
                </a:ext>
              </a:extLst>
            </p:cNvPr>
            <p:cNvGrpSpPr/>
            <p:nvPr/>
          </p:nvGrpSpPr>
          <p:grpSpPr>
            <a:xfrm>
              <a:off x="833537" y="1761511"/>
              <a:ext cx="4709013" cy="430887"/>
              <a:chOff x="1097620" y="1639465"/>
              <a:chExt cx="4709013" cy="430887"/>
            </a:xfrm>
          </p:grpSpPr>
          <p:pic>
            <p:nvPicPr>
              <p:cNvPr id="35" name="그래픽 34">
                <a:extLst>
                  <a:ext uri="{FF2B5EF4-FFF2-40B4-BE49-F238E27FC236}">
                    <a16:creationId xmlns:a16="http://schemas.microsoft.com/office/drawing/2014/main" id="{A1DE9CC0-3463-4A31-2BE6-0BA86AAA42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1" cy="330036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4FAA7CD-050C-F488-DB4E-BBF6BD25CBFC}"/>
                  </a:ext>
                </a:extLst>
              </p:cNvPr>
              <p:cNvSpPr txBox="1"/>
              <p:nvPr/>
            </p:nvSpPr>
            <p:spPr>
              <a:xfrm>
                <a:off x="1355462" y="1639465"/>
                <a:ext cx="445117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Tutorial: STL Set 1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(JUNGOL #4637)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4611C53-D318-EB3E-047C-05994246A54F}"/>
                </a:ext>
              </a:extLst>
            </p:cNvPr>
            <p:cNvSpPr txBox="1"/>
            <p:nvPr/>
          </p:nvSpPr>
          <p:spPr>
            <a:xfrm>
              <a:off x="1091379" y="2227006"/>
              <a:ext cx="2401276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std::set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에 익숙해지기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1294685-B29E-7ED0-B134-76235FF8CC98}"/>
              </a:ext>
            </a:extLst>
          </p:cNvPr>
          <p:cNvGrpSpPr/>
          <p:nvPr/>
        </p:nvGrpSpPr>
        <p:grpSpPr>
          <a:xfrm>
            <a:off x="722811" y="577310"/>
            <a:ext cx="1941484" cy="750097"/>
            <a:chOff x="1271451" y="2719618"/>
            <a:chExt cx="1941484" cy="750097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E5CCC18-6C0B-4D95-A880-70AB3B63D9F6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9960A89-DD4B-A0E2-56B7-163A5592C202}"/>
                </a:ext>
              </a:extLst>
            </p:cNvPr>
            <p:cNvSpPr txBox="1"/>
            <p:nvPr/>
          </p:nvSpPr>
          <p:spPr>
            <a:xfrm>
              <a:off x="1382177" y="2853329"/>
              <a:ext cx="14285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필수 문제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B9EB02-5DFA-F4A1-6A83-0BAB08E0DAF5}"/>
                </a:ext>
              </a:extLst>
            </p:cNvPr>
            <p:cNvSpPr txBox="1"/>
            <p:nvPr/>
          </p:nvSpPr>
          <p:spPr>
            <a:xfrm>
              <a:off x="1382177" y="3192716"/>
              <a:ext cx="18307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&lt;C++ Standard Library&gt;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3212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23</a:t>
            </a:fld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341961C-51C8-AD09-6FA4-6D0313682DC7}"/>
              </a:ext>
            </a:extLst>
          </p:cNvPr>
          <p:cNvGrpSpPr/>
          <p:nvPr/>
        </p:nvGrpSpPr>
        <p:grpSpPr>
          <a:xfrm>
            <a:off x="833537" y="1761511"/>
            <a:ext cx="4407057" cy="790584"/>
            <a:chOff x="833537" y="1761511"/>
            <a:chExt cx="4407057" cy="790584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F12F775-532B-3A5C-6513-23CDFA918780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10" name="그래픽 9">
                <a:extLst>
                  <a:ext uri="{FF2B5EF4-FFF2-40B4-BE49-F238E27FC236}">
                    <a16:creationId xmlns:a16="http://schemas.microsoft.com/office/drawing/2014/main" id="{A7BE940B-E6D3-53BC-717F-055402626E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1" cy="330037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47AF04-800F-CF98-2ED6-27C83E4530FE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Tutorial : STL Priority Queue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(JUNGOL #8587)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5DDAAB-1D20-DCB5-EE2A-4CEE275E3B91}"/>
                </a:ext>
              </a:extLst>
            </p:cNvPr>
            <p:cNvSpPr txBox="1"/>
            <p:nvPr/>
          </p:nvSpPr>
          <p:spPr>
            <a:xfrm>
              <a:off x="1091378" y="2227006"/>
              <a:ext cx="3821089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연산자 오버로딩에 대해서도 알아 볼까요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?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09B881D0-0D3E-2900-7089-66A29F56E436}"/>
              </a:ext>
            </a:extLst>
          </p:cNvPr>
          <p:cNvGrpSpPr/>
          <p:nvPr/>
        </p:nvGrpSpPr>
        <p:grpSpPr>
          <a:xfrm>
            <a:off x="833537" y="4305905"/>
            <a:ext cx="4407057" cy="790584"/>
            <a:chOff x="833537" y="1761511"/>
            <a:chExt cx="4407057" cy="790584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A561F1D2-699D-8BE1-AFD5-8C50D93384C8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40" name="그래픽 39">
                <a:extLst>
                  <a:ext uri="{FF2B5EF4-FFF2-40B4-BE49-F238E27FC236}">
                    <a16:creationId xmlns:a16="http://schemas.microsoft.com/office/drawing/2014/main" id="{E5C0FA43-F596-3BCE-ADAB-B48F7FF518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0" cy="330036"/>
              </a:xfrm>
              <a:prstGeom prst="rect">
                <a:avLst/>
              </a:prstGeom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33AADE3-E9AE-DDC3-A52E-CA0DA4DE8075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별의 대칭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(JUNGOL #11048)</a:t>
                </a: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B22A60C-EB8A-18B8-34D1-DA1240F9DEFD}"/>
                </a:ext>
              </a:extLst>
            </p:cNvPr>
            <p:cNvSpPr txBox="1"/>
            <p:nvPr/>
          </p:nvSpPr>
          <p:spPr>
            <a:xfrm>
              <a:off x="1091379" y="2227006"/>
              <a:ext cx="3886968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2023 ICPC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Seoul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Regional 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예선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K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번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76C1E0DD-5993-75F7-D3B5-91583433E9DD}"/>
              </a:ext>
            </a:extLst>
          </p:cNvPr>
          <p:cNvGrpSpPr/>
          <p:nvPr/>
        </p:nvGrpSpPr>
        <p:grpSpPr>
          <a:xfrm>
            <a:off x="722811" y="577310"/>
            <a:ext cx="1941484" cy="750097"/>
            <a:chOff x="1271451" y="2719618"/>
            <a:chExt cx="1941484" cy="750097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D2672E3-A7F1-D2CB-8791-DCB1DE8C27E9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A87577D-E08C-5231-357B-F17F7E5FE45B}"/>
                </a:ext>
              </a:extLst>
            </p:cNvPr>
            <p:cNvSpPr txBox="1"/>
            <p:nvPr/>
          </p:nvSpPr>
          <p:spPr>
            <a:xfrm>
              <a:off x="1382177" y="2853329"/>
              <a:ext cx="14285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연습 문제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A413EA0-C1C8-6015-54EA-AB513C4DBBFA}"/>
                </a:ext>
              </a:extLst>
            </p:cNvPr>
            <p:cNvSpPr txBox="1"/>
            <p:nvPr/>
          </p:nvSpPr>
          <p:spPr>
            <a:xfrm>
              <a:off x="1382177" y="3192716"/>
              <a:ext cx="18307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&lt;C++ Standard Library&gt;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C5DBB869-6B5F-7568-D098-AE3D0BE99319}"/>
              </a:ext>
            </a:extLst>
          </p:cNvPr>
          <p:cNvGrpSpPr/>
          <p:nvPr/>
        </p:nvGrpSpPr>
        <p:grpSpPr>
          <a:xfrm>
            <a:off x="833537" y="3033708"/>
            <a:ext cx="4407057" cy="790584"/>
            <a:chOff x="833537" y="1761511"/>
            <a:chExt cx="4407057" cy="790584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9726FDE1-C83C-EFC5-E5B6-40DD653AF79B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14" name="그래픽 13">
                <a:extLst>
                  <a:ext uri="{FF2B5EF4-FFF2-40B4-BE49-F238E27FC236}">
                    <a16:creationId xmlns:a16="http://schemas.microsoft.com/office/drawing/2014/main" id="{551767BC-2F85-8A01-48FF-5C4C31593F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1" cy="330036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05343A6-7500-33E4-8956-83F56D0ABF9B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평행하는 선분의 수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(JUNGOL #8036)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B70D8E-8F8A-B1B1-83F7-8A5333B76A7C}"/>
                </a:ext>
              </a:extLst>
            </p:cNvPr>
            <p:cNvSpPr txBox="1"/>
            <p:nvPr/>
          </p:nvSpPr>
          <p:spPr>
            <a:xfrm>
              <a:off x="1091379" y="2227006"/>
              <a:ext cx="3110970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오늘 배운 내용을 어떻게 활용할 수 있을까요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?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2588E06-8E8E-C294-F42D-DF4D0F8EAE78}"/>
              </a:ext>
            </a:extLst>
          </p:cNvPr>
          <p:cNvGrpSpPr/>
          <p:nvPr/>
        </p:nvGrpSpPr>
        <p:grpSpPr>
          <a:xfrm>
            <a:off x="6886356" y="1761511"/>
            <a:ext cx="4709013" cy="790584"/>
            <a:chOff x="833537" y="1761511"/>
            <a:chExt cx="4709013" cy="790584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08DD7347-0E0C-C259-733C-F426E0894014}"/>
                </a:ext>
              </a:extLst>
            </p:cNvPr>
            <p:cNvGrpSpPr/>
            <p:nvPr/>
          </p:nvGrpSpPr>
          <p:grpSpPr>
            <a:xfrm>
              <a:off x="833537" y="1761511"/>
              <a:ext cx="4709013" cy="430887"/>
              <a:chOff x="1097620" y="1639465"/>
              <a:chExt cx="4709013" cy="430887"/>
            </a:xfrm>
          </p:grpSpPr>
          <p:pic>
            <p:nvPicPr>
              <p:cNvPr id="26" name="그래픽 25">
                <a:extLst>
                  <a:ext uri="{FF2B5EF4-FFF2-40B4-BE49-F238E27FC236}">
                    <a16:creationId xmlns:a16="http://schemas.microsoft.com/office/drawing/2014/main" id="{C72EFCB0-7794-B8F6-FD8F-6D1C9F6343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1" cy="330036"/>
              </a:xfrm>
              <a:prstGeom prst="rect">
                <a:avLst/>
              </a:prstGeom>
            </p:spPr>
          </p:pic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1CF331B-FDB9-59FB-012D-943768314779}"/>
                  </a:ext>
                </a:extLst>
              </p:cNvPr>
              <p:cNvSpPr txBox="1"/>
              <p:nvPr/>
            </p:nvSpPr>
            <p:spPr>
              <a:xfrm>
                <a:off x="1355462" y="1639465"/>
                <a:ext cx="445117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Tutorial : STL Map 2 ( 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원소 검색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)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(JUNGOL #8562)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37ED1B2-E379-5D3B-6A97-A2751F8177EA}"/>
                </a:ext>
              </a:extLst>
            </p:cNvPr>
            <p:cNvSpPr txBox="1"/>
            <p:nvPr/>
          </p:nvSpPr>
          <p:spPr>
            <a:xfrm>
              <a:off x="1091379" y="2227006"/>
              <a:ext cx="2401276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std::map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에 조금 더 익숙해지기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F7BF4F5B-22EF-8A6A-9804-6348F74BD352}"/>
              </a:ext>
            </a:extLst>
          </p:cNvPr>
          <p:cNvGrpSpPr/>
          <p:nvPr/>
        </p:nvGrpSpPr>
        <p:grpSpPr>
          <a:xfrm>
            <a:off x="6886356" y="4305905"/>
            <a:ext cx="4407057" cy="790584"/>
            <a:chOff x="833537" y="1761511"/>
            <a:chExt cx="4407057" cy="790584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D00276DF-ADF8-E970-513D-FF3699538D4B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51" name="그래픽 50">
                <a:extLst>
                  <a:ext uri="{FF2B5EF4-FFF2-40B4-BE49-F238E27FC236}">
                    <a16:creationId xmlns:a16="http://schemas.microsoft.com/office/drawing/2014/main" id="{1FE265D2-4271-A2FF-6105-4BAD3CD32F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0" cy="330036"/>
              </a:xfrm>
              <a:prstGeom prst="rect">
                <a:avLst/>
              </a:prstGeom>
            </p:spPr>
          </p:pic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9965CC1-A728-49C8-BC88-94356802A2E3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중앙값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(JUNGOL #1570)</a:t>
                </a: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DC6363E-F11B-D50C-DCBB-CC931D4A809A}"/>
                </a:ext>
              </a:extLst>
            </p:cNvPr>
            <p:cNvSpPr txBox="1"/>
            <p:nvPr/>
          </p:nvSpPr>
          <p:spPr>
            <a:xfrm>
              <a:off x="1091379" y="2227006"/>
              <a:ext cx="2401276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코테에도 많이 나오는 아이디어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306AF155-D01C-7106-8BCE-24E69F83B287}"/>
              </a:ext>
            </a:extLst>
          </p:cNvPr>
          <p:cNvGrpSpPr/>
          <p:nvPr/>
        </p:nvGrpSpPr>
        <p:grpSpPr>
          <a:xfrm>
            <a:off x="6886356" y="3033706"/>
            <a:ext cx="4407057" cy="790584"/>
            <a:chOff x="833537" y="1761511"/>
            <a:chExt cx="4407057" cy="790584"/>
          </a:xfrm>
        </p:grpSpPr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EBB690B0-A3AB-5DC1-F363-AE47ACA1936A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61" name="그래픽 60">
                <a:extLst>
                  <a:ext uri="{FF2B5EF4-FFF2-40B4-BE49-F238E27FC236}">
                    <a16:creationId xmlns:a16="http://schemas.microsoft.com/office/drawing/2014/main" id="{D5E375C6-D49A-4C89-0DF6-E856411C26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0" cy="330036"/>
              </a:xfrm>
              <a:prstGeom prst="rect">
                <a:avLst/>
              </a:prstGeom>
            </p:spPr>
          </p:pic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6833242-251F-CDFC-0CA7-C604DD4706B7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나는 기말고사형 인간이야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(JUNGOL #8278)</a:t>
                </a: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52AA59F-6B50-26B0-8AF1-9662F90279F5}"/>
                </a:ext>
              </a:extLst>
            </p:cNvPr>
            <p:cNvSpPr txBox="1"/>
            <p:nvPr/>
          </p:nvSpPr>
          <p:spPr>
            <a:xfrm>
              <a:off x="1091379" y="2227006"/>
              <a:ext cx="2401276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나도 기말고사형 인간인 거 같은데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9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DADD5D3-D80A-B325-031A-24B03E6F6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849" y="859251"/>
            <a:ext cx="5164301" cy="5139497"/>
          </a:xfrm>
          <a:prstGeom prst="rect">
            <a:avLst/>
          </a:prstGeom>
        </p:spPr>
      </p:pic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D30E43B8-2951-E15D-BD76-7F35D61508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DEC1C4-6E65-763D-88C9-C9873240F4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18" name="바닥글 개체 틀 4">
            <a:extLst>
              <a:ext uri="{FF2B5EF4-FFF2-40B4-BE49-F238E27FC236}">
                <a16:creationId xmlns:a16="http://schemas.microsoft.com/office/drawing/2014/main" id="{EB4CC88C-A23F-C22E-F092-68A9A8DEA023}"/>
              </a:ext>
            </a:extLst>
          </p:cNvPr>
          <p:cNvSpPr txBox="1">
            <a:spLocks/>
          </p:cNvSpPr>
          <p:nvPr/>
        </p:nvSpPr>
        <p:spPr>
          <a:xfrm>
            <a:off x="9387697" y="385042"/>
            <a:ext cx="20681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2026 ALOHA 1</a:t>
            </a:r>
            <a:r>
              <a:rPr lang="ko-KR" altLang="en-US" dirty="0"/>
              <a:t>학기 멘토링</a:t>
            </a:r>
          </a:p>
        </p:txBody>
      </p:sp>
    </p:spTree>
    <p:extLst>
      <p:ext uri="{BB962C8B-B14F-4D97-AF65-F5344CB8AC3E}">
        <p14:creationId xmlns:p14="http://schemas.microsoft.com/office/powerpoint/2010/main" val="2258968274"/>
      </p:ext>
    </p:extLst>
  </p:cSld>
  <p:clrMapOvr>
    <a:masterClrMapping/>
  </p:clrMapOvr>
</p:sld>
</file>

<file path=ppt/theme/theme1.xml><?xml version="1.0" encoding="utf-8"?>
<a:theme xmlns:a="http://schemas.openxmlformats.org/drawingml/2006/main" name="내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2649</Words>
  <Application>Microsoft Office PowerPoint</Application>
  <PresentationFormat>와이드스크린</PresentationFormat>
  <Paragraphs>428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3" baseType="lpstr">
      <vt:lpstr>마루 부리OTF 아주가는</vt:lpstr>
      <vt:lpstr>Cambria Math</vt:lpstr>
      <vt:lpstr>마루 부리OTF 중간</vt:lpstr>
      <vt:lpstr>마루 부리OTF 굵은</vt:lpstr>
      <vt:lpstr>맑은 고딕</vt:lpstr>
      <vt:lpstr>Arial</vt:lpstr>
      <vt:lpstr>Consolas</vt:lpstr>
      <vt:lpstr>마루 부리OTF 가는</vt:lpstr>
      <vt:lpstr>내용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최철민</dc:creator>
  <cp:lastModifiedBy>김태우</cp:lastModifiedBy>
  <cp:revision>128</cp:revision>
  <dcterms:created xsi:type="dcterms:W3CDTF">2023-01-29T15:02:12Z</dcterms:created>
  <dcterms:modified xsi:type="dcterms:W3CDTF">2026-05-18T08:49:36Z</dcterms:modified>
</cp:coreProperties>
</file>