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4"/>
  </p:notesMasterIdLst>
  <p:sldIdLst>
    <p:sldId id="258" r:id="rId2"/>
    <p:sldId id="257" r:id="rId3"/>
    <p:sldId id="260" r:id="rId4"/>
    <p:sldId id="268" r:id="rId5"/>
    <p:sldId id="271" r:id="rId6"/>
    <p:sldId id="270" r:id="rId7"/>
    <p:sldId id="272" r:id="rId8"/>
    <p:sldId id="269" r:id="rId9"/>
    <p:sldId id="273" r:id="rId10"/>
    <p:sldId id="277" r:id="rId11"/>
    <p:sldId id="278" r:id="rId12"/>
    <p:sldId id="279" r:id="rId13"/>
    <p:sldId id="280" r:id="rId14"/>
    <p:sldId id="281" r:id="rId15"/>
    <p:sldId id="284" r:id="rId16"/>
    <p:sldId id="282" r:id="rId17"/>
    <p:sldId id="283" r:id="rId18"/>
    <p:sldId id="27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94" r:id="rId27"/>
    <p:sldId id="298" r:id="rId28"/>
    <p:sldId id="295" r:id="rId29"/>
    <p:sldId id="266" r:id="rId30"/>
    <p:sldId id="296" r:id="rId31"/>
    <p:sldId id="297" r:id="rId32"/>
    <p:sldId id="267" r:id="rId33"/>
  </p:sldIdLst>
  <p:sldSz cx="12192000" cy="6858000"/>
  <p:notesSz cx="6858000" cy="9144000"/>
  <p:embeddedFontLst>
    <p:embeddedFont>
      <p:font typeface="Cambria Math" panose="02040503050406030204" pitchFamily="18" charset="0"/>
      <p:regular r:id="rId35"/>
    </p:embeddedFont>
    <p:embeddedFont>
      <p:font typeface="Consolas" panose="020B0609020204030204" pitchFamily="49" charset="0"/>
      <p:regular r:id="rId36"/>
      <p:bold r:id="rId37"/>
      <p:italic r:id="rId38"/>
      <p:boldItalic r:id="rId39"/>
    </p:embeddedFont>
    <p:embeddedFont>
      <p:font typeface="Lucida Console" panose="020B0609040504020204" pitchFamily="49" charset="0"/>
      <p:regular r:id="rId40"/>
    </p:embeddedFont>
    <p:embeddedFont>
      <p:font typeface="마루 부리OTF 가는" panose="020B0600000101010101" pitchFamily="34" charset="-127"/>
      <p:regular r:id="rId41"/>
    </p:embeddedFont>
    <p:embeddedFont>
      <p:font typeface="마루 부리OTF 굵은" panose="020B0600000101010101" pitchFamily="34" charset="-127"/>
      <p:bold r:id="rId42"/>
    </p:embeddedFont>
    <p:embeddedFont>
      <p:font typeface="마루 부리OTF 아주가는" panose="020B0600000101010101" pitchFamily="34" charset="-127"/>
      <p:regular r:id="rId43"/>
    </p:embeddedFont>
    <p:embeddedFont>
      <p:font typeface="마루 부리OTF 중간" panose="020B0600000101010101" pitchFamily="34" charset="-127"/>
      <p:regular r:id="rId44"/>
    </p:embeddedFont>
    <p:embeddedFont>
      <p:font typeface="맑은 고딕" panose="020B0503020000020004" pitchFamily="34" charset="-127"/>
      <p:regular r:id="rId45"/>
      <p:bold r:id="rId4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2CC6"/>
    <a:srgbClr val="A281E3"/>
    <a:srgbClr val="ECE4F9"/>
    <a:srgbClr val="F1D9F7"/>
    <a:srgbClr val="411E86"/>
    <a:srgbClr val="D8D8F0"/>
    <a:srgbClr val="E6EAF5"/>
    <a:srgbClr val="DFF0F0"/>
    <a:srgbClr val="682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34" autoAdjust="0"/>
  </p:normalViewPr>
  <p:slideViewPr>
    <p:cSldViewPr snapToGrid="0">
      <p:cViewPr varScale="1">
        <p:scale>
          <a:sx n="79" d="100"/>
          <a:sy n="79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1035CC-7918-48BD-BA57-57F0E2EF3882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894BBA-063B-483F-AD13-0B789DD504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5083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CF63A8-972B-ECC2-BFF9-57AA5D7DA1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F1CAAA-13CE-86E2-9CAC-F9EA562579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B4A81B2-C6F3-F12C-506B-D4C59CBD95B2}"/>
              </a:ext>
            </a:extLst>
          </p:cNvPr>
          <p:cNvGrpSpPr/>
          <p:nvPr userDrawn="1"/>
        </p:nvGrpSpPr>
        <p:grpSpPr>
          <a:xfrm>
            <a:off x="225725" y="191278"/>
            <a:ext cx="733245" cy="733245"/>
            <a:chOff x="225725" y="191278"/>
            <a:chExt cx="733245" cy="733245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6D09339-08DF-FB29-D024-5F7FB628FBD2}"/>
                </a:ext>
              </a:extLst>
            </p:cNvPr>
            <p:cNvCxnSpPr/>
            <p:nvPr userDrawn="1"/>
          </p:nvCxnSpPr>
          <p:spPr>
            <a:xfrm flipV="1">
              <a:off x="353684" y="191278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B22D98D-6BA8-70E2-6007-7BBD41B48EF0}"/>
                </a:ext>
              </a:extLst>
            </p:cNvPr>
            <p:cNvCxnSpPr>
              <a:cxnSpLocks/>
            </p:cNvCxnSpPr>
            <p:nvPr userDrawn="1"/>
          </p:nvCxnSpPr>
          <p:spPr>
            <a:xfrm rot="16200000" flipV="1">
              <a:off x="592348" y="-53136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175F06D8-3CB9-0691-A0AF-A1931AF7C8C1}"/>
              </a:ext>
            </a:extLst>
          </p:cNvPr>
          <p:cNvGrpSpPr/>
          <p:nvPr userDrawn="1"/>
        </p:nvGrpSpPr>
        <p:grpSpPr>
          <a:xfrm rot="10800000">
            <a:off x="11233030" y="5988229"/>
            <a:ext cx="733245" cy="733245"/>
            <a:chOff x="225725" y="2494533"/>
            <a:chExt cx="733245" cy="733245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622511F4-9359-2FAE-041A-325A2BC10867}"/>
                </a:ext>
              </a:extLst>
            </p:cNvPr>
            <p:cNvCxnSpPr/>
            <p:nvPr userDrawn="1"/>
          </p:nvCxnSpPr>
          <p:spPr>
            <a:xfrm flipV="1">
              <a:off x="353684" y="2494533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276E7DD0-E965-F1D7-10C5-4D58405D6209}"/>
                </a:ext>
              </a:extLst>
            </p:cNvPr>
            <p:cNvCxnSpPr>
              <a:cxnSpLocks/>
            </p:cNvCxnSpPr>
            <p:nvPr userDrawn="1"/>
          </p:nvCxnSpPr>
          <p:spPr>
            <a:xfrm rot="16200000" flipV="1">
              <a:off x="592348" y="2250119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DADC4BF-FE32-584A-3BC3-0B1DFB87B194}"/>
              </a:ext>
            </a:extLst>
          </p:cNvPr>
          <p:cNvCxnSpPr>
            <a:cxnSpLocks/>
          </p:cNvCxnSpPr>
          <p:nvPr userDrawn="1"/>
        </p:nvCxnSpPr>
        <p:spPr>
          <a:xfrm>
            <a:off x="3094727" y="6547509"/>
            <a:ext cx="2415396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D8295AD6-1EA1-D8F7-7C92-B18363EF007D}"/>
              </a:ext>
            </a:extLst>
          </p:cNvPr>
          <p:cNvCxnSpPr>
            <a:cxnSpLocks/>
          </p:cNvCxnSpPr>
          <p:nvPr userDrawn="1"/>
        </p:nvCxnSpPr>
        <p:spPr>
          <a:xfrm flipH="1">
            <a:off x="6673251" y="6547509"/>
            <a:ext cx="2415396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1662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3FE0DE-AF28-31A2-02B0-E48F52B7E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마루 부리OTF 가는" panose="020B0600000101010101" pitchFamily="34" charset="-127"/>
                <a:ea typeface="마루 부리OTF 가는" panose="020B0600000101010101" pitchFamily="34" charset="-127"/>
              </a:defRPr>
            </a:lvl1pPr>
          </a:lstStyle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75F046-FB8B-E15D-481E-1199DD491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413" y="260289"/>
            <a:ext cx="543465" cy="395319"/>
          </a:xfrm>
        </p:spPr>
        <p:txBody>
          <a:bodyPr/>
          <a:lstStyle/>
          <a:p>
            <a:fld id="{799F3C2E-C46B-4DBF-95A4-B7A6069EE53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4692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83EE82-BAA9-28ED-53F9-4F931A8ADA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18749" y="6356349"/>
            <a:ext cx="11545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defRPr>
            </a:lvl1pPr>
          </a:lstStyle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DF162B-8A73-F673-A4AD-AAE8E550C2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879" y="192775"/>
            <a:ext cx="510396" cy="3845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defRPr>
            </a:lvl1pPr>
          </a:lstStyle>
          <a:p>
            <a:fld id="{799F3C2E-C46B-4DBF-95A4-B7A6069EE53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8C74D6D9-55CE-5D6B-3663-19F0ACEE75D5}"/>
              </a:ext>
            </a:extLst>
          </p:cNvPr>
          <p:cNvGrpSpPr/>
          <p:nvPr userDrawn="1"/>
        </p:nvGrpSpPr>
        <p:grpSpPr>
          <a:xfrm>
            <a:off x="225725" y="191278"/>
            <a:ext cx="733245" cy="733245"/>
            <a:chOff x="225725" y="191278"/>
            <a:chExt cx="733245" cy="733245"/>
          </a:xfrm>
        </p:grpSpPr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76FE59A8-3A13-4DBF-848D-0A4B5F9B8F04}"/>
                </a:ext>
              </a:extLst>
            </p:cNvPr>
            <p:cNvCxnSpPr/>
            <p:nvPr userDrawn="1"/>
          </p:nvCxnSpPr>
          <p:spPr>
            <a:xfrm flipV="1">
              <a:off x="353684" y="191278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5A518FA-5657-6C47-1D47-B2BFC20026AC}"/>
                </a:ext>
              </a:extLst>
            </p:cNvPr>
            <p:cNvCxnSpPr>
              <a:cxnSpLocks/>
            </p:cNvCxnSpPr>
            <p:nvPr userDrawn="1"/>
          </p:nvCxnSpPr>
          <p:spPr>
            <a:xfrm rot="16200000" flipV="1">
              <a:off x="592348" y="-53136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B321921-3606-5ADE-F485-50A4B9E6E1C8}"/>
              </a:ext>
            </a:extLst>
          </p:cNvPr>
          <p:cNvGrpSpPr/>
          <p:nvPr userDrawn="1"/>
        </p:nvGrpSpPr>
        <p:grpSpPr>
          <a:xfrm rot="10800000">
            <a:off x="11233030" y="5988229"/>
            <a:ext cx="733245" cy="733245"/>
            <a:chOff x="225725" y="2494533"/>
            <a:chExt cx="733245" cy="733245"/>
          </a:xfrm>
        </p:grpSpPr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A82FE0F-27D4-74D7-332C-5C9331F832CD}"/>
                </a:ext>
              </a:extLst>
            </p:cNvPr>
            <p:cNvCxnSpPr/>
            <p:nvPr userDrawn="1"/>
          </p:nvCxnSpPr>
          <p:spPr>
            <a:xfrm flipV="1">
              <a:off x="353684" y="2494533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96DE33B7-835C-5480-6E5F-7A74EEADE292}"/>
                </a:ext>
              </a:extLst>
            </p:cNvPr>
            <p:cNvCxnSpPr>
              <a:cxnSpLocks/>
            </p:cNvCxnSpPr>
            <p:nvPr userDrawn="1"/>
          </p:nvCxnSpPr>
          <p:spPr>
            <a:xfrm rot="16200000" flipV="1">
              <a:off x="592348" y="2250119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" name="그림 36">
            <a:extLst>
              <a:ext uri="{FF2B5EF4-FFF2-40B4-BE49-F238E27FC236}">
                <a16:creationId xmlns:a16="http://schemas.microsoft.com/office/drawing/2014/main" id="{6AD6205D-B609-2452-D290-A4DE110C8E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66" b="10603"/>
          <a:stretch/>
        </p:blipFill>
        <p:spPr>
          <a:xfrm>
            <a:off x="225725" y="6209799"/>
            <a:ext cx="470317" cy="456923"/>
          </a:xfrm>
          <a:prstGeom prst="rect">
            <a:avLst/>
          </a:prstGeom>
        </p:spPr>
      </p:pic>
      <p:sp>
        <p:nvSpPr>
          <p:cNvPr id="38" name="바닥글 개체 틀 4">
            <a:extLst>
              <a:ext uri="{FF2B5EF4-FFF2-40B4-BE49-F238E27FC236}">
                <a16:creationId xmlns:a16="http://schemas.microsoft.com/office/drawing/2014/main" id="{C0E0A9F9-BFED-2416-F40F-DD106DA58DA1}"/>
              </a:ext>
            </a:extLst>
          </p:cNvPr>
          <p:cNvSpPr txBox="1">
            <a:spLocks/>
          </p:cNvSpPr>
          <p:nvPr userDrawn="1"/>
        </p:nvSpPr>
        <p:spPr>
          <a:xfrm>
            <a:off x="5061909" y="136526"/>
            <a:ext cx="20681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2026 ALOHA 1</a:t>
            </a:r>
            <a:r>
              <a:rPr lang="ko-KR" altLang="en-US" dirty="0"/>
              <a:t>학기 멘토링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24350478-F844-BB21-FA6C-3CC25C1073D8}"/>
              </a:ext>
            </a:extLst>
          </p:cNvPr>
          <p:cNvCxnSpPr>
            <a:cxnSpLocks/>
          </p:cNvCxnSpPr>
          <p:nvPr userDrawn="1"/>
        </p:nvCxnSpPr>
        <p:spPr>
          <a:xfrm>
            <a:off x="3094727" y="6547509"/>
            <a:ext cx="2415396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AA7F571-F1CD-87DD-6713-9CCF463C44AB}"/>
              </a:ext>
            </a:extLst>
          </p:cNvPr>
          <p:cNvCxnSpPr>
            <a:cxnSpLocks/>
          </p:cNvCxnSpPr>
          <p:nvPr userDrawn="1"/>
        </p:nvCxnSpPr>
        <p:spPr>
          <a:xfrm flipH="1">
            <a:off x="6673251" y="6547509"/>
            <a:ext cx="2415396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2597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6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9" Type="http://schemas.openxmlformats.org/officeDocument/2006/relationships/image" Target="../media/image30.sv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F94019-F726-1E6D-0E88-10F4330AF42D}"/>
              </a:ext>
            </a:extLst>
          </p:cNvPr>
          <p:cNvSpPr/>
          <p:nvPr/>
        </p:nvSpPr>
        <p:spPr>
          <a:xfrm>
            <a:off x="833536" y="4234933"/>
            <a:ext cx="6420703" cy="267422"/>
          </a:xfrm>
          <a:prstGeom prst="rect">
            <a:avLst/>
          </a:prstGeom>
          <a:gradFill flip="none" rotWithShape="1">
            <a:gsLst>
              <a:gs pos="0">
                <a:srgbClr val="DFF0F0"/>
              </a:gs>
              <a:gs pos="50000">
                <a:srgbClr val="D8D8F0"/>
              </a:gs>
              <a:gs pos="100000">
                <a:srgbClr val="F1D9F7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D30E43B8-2951-E15D-BD76-7F35D61508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518749" y="6356349"/>
            <a:ext cx="1154502" cy="365125"/>
          </a:xfrm>
        </p:spPr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9DEC1C4-6E65-763D-88C9-C9873240F4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55879" y="192775"/>
            <a:ext cx="510396" cy="384535"/>
          </a:xfrm>
        </p:spPr>
        <p:txBody>
          <a:bodyPr/>
          <a:lstStyle/>
          <a:p>
            <a:fld id="{799F3C2E-C46B-4DBF-95A4-B7A6069EE539}" type="slidenum">
              <a:rPr lang="ko-KR" altLang="en-US" smtClean="0"/>
              <a:pPr/>
              <a:t>1</a:t>
            </a:fld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2047305-A02C-DD1E-B312-F3215FD81342}"/>
              </a:ext>
            </a:extLst>
          </p:cNvPr>
          <p:cNvGrpSpPr/>
          <p:nvPr/>
        </p:nvGrpSpPr>
        <p:grpSpPr>
          <a:xfrm>
            <a:off x="722811" y="577310"/>
            <a:ext cx="1877556" cy="533821"/>
            <a:chOff x="1271451" y="2719618"/>
            <a:chExt cx="1877556" cy="53382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A7C9B61-52A7-B26F-60AA-D2DC1991375C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4001C9F-D26D-C499-FAE9-918B1981B58A}"/>
                </a:ext>
              </a:extLst>
            </p:cNvPr>
            <p:cNvSpPr txBox="1"/>
            <p:nvPr/>
          </p:nvSpPr>
          <p:spPr>
            <a:xfrm>
              <a:off x="1382177" y="2853329"/>
              <a:ext cx="17668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 err="1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중급반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 </a:t>
              </a:r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1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주차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E99FB9E-EA1E-734D-F71F-83B64E922638}"/>
              </a:ext>
            </a:extLst>
          </p:cNvPr>
          <p:cNvSpPr txBox="1"/>
          <p:nvPr/>
        </p:nvSpPr>
        <p:spPr>
          <a:xfrm>
            <a:off x="833537" y="2967335"/>
            <a:ext cx="68227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dirty="0">
                <a:latin typeface="마루 부리OTF 굵은" panose="020B0600000101010101" pitchFamily="34" charset="-127"/>
                <a:ea typeface="마루 부리OTF 굵은" panose="020B0600000101010101" pitchFamily="34" charset="-127"/>
              </a:rPr>
              <a:t>시간 복잡도 </a:t>
            </a:r>
            <a:r>
              <a:rPr lang="en-US" altLang="ko-KR" sz="5400" dirty="0">
                <a:latin typeface="마루 부리OTF 굵은" panose="020B0600000101010101" pitchFamily="34" charset="-127"/>
                <a:ea typeface="마루 부리OTF 굵은" panose="020B0600000101010101" pitchFamily="34" charset="-127"/>
              </a:rPr>
              <a:t>&amp; </a:t>
            </a:r>
            <a:r>
              <a:rPr lang="ko-KR" altLang="en-US" sz="5400" dirty="0">
                <a:latin typeface="마루 부리OTF 굵은" panose="020B0600000101010101" pitchFamily="34" charset="-127"/>
                <a:ea typeface="마루 부리OTF 굵은" panose="020B0600000101010101" pitchFamily="34" charset="-127"/>
              </a:rPr>
              <a:t>누적 합</a:t>
            </a:r>
            <a:endParaRPr lang="en-US" altLang="ko-KR" sz="5400" dirty="0">
              <a:latin typeface="마루 부리OTF 굵은" panose="020B0600000101010101" pitchFamily="34" charset="-127"/>
              <a:ea typeface="마루 부리OTF 굵은" panose="020B0600000101010101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03DC33-A844-11CC-894B-5415B8862189}"/>
              </a:ext>
            </a:extLst>
          </p:cNvPr>
          <p:cNvSpPr txBox="1"/>
          <p:nvPr/>
        </p:nvSpPr>
        <p:spPr>
          <a:xfrm>
            <a:off x="833537" y="3888377"/>
            <a:ext cx="64724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&lt;Time</a:t>
            </a: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en-US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Complexity &amp; Prefix Sum&gt;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FCEE5E-885A-C1E9-5E11-79268F7A9F64}"/>
              </a:ext>
            </a:extLst>
          </p:cNvPr>
          <p:cNvSpPr txBox="1"/>
          <p:nvPr/>
        </p:nvSpPr>
        <p:spPr>
          <a:xfrm>
            <a:off x="9124029" y="2905101"/>
            <a:ext cx="1449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/&lt;</a:t>
            </a:r>
            <a:r>
              <a:rPr lang="ko-KR" altLang="en-US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누적 합</a:t>
            </a:r>
            <a:r>
              <a:rPr lang="en-US" altLang="ko-KR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&gt;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870063-8E01-A127-F685-6C6CD52D9B60}"/>
              </a:ext>
            </a:extLst>
          </p:cNvPr>
          <p:cNvSpPr txBox="1"/>
          <p:nvPr/>
        </p:nvSpPr>
        <p:spPr>
          <a:xfrm>
            <a:off x="9124029" y="3583239"/>
            <a:ext cx="16979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/&lt;</a:t>
            </a:r>
            <a:r>
              <a:rPr lang="ko-KR" altLang="en-US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필수 문제</a:t>
            </a:r>
            <a:r>
              <a:rPr lang="en-US" altLang="ko-KR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&gt;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541306-8F21-F040-9C26-C931E511A8F2}"/>
              </a:ext>
            </a:extLst>
          </p:cNvPr>
          <p:cNvSpPr txBox="1"/>
          <p:nvPr/>
        </p:nvSpPr>
        <p:spPr>
          <a:xfrm>
            <a:off x="9124029" y="4261377"/>
            <a:ext cx="22669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/&lt;</a:t>
            </a:r>
            <a:r>
              <a:rPr lang="ko-KR" altLang="en-US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연습 문제 도전</a:t>
            </a:r>
            <a:r>
              <a:rPr lang="en-US" altLang="ko-KR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&gt;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19258861-5C4F-CC0A-9440-242C4BA7EC3B}"/>
              </a:ext>
            </a:extLst>
          </p:cNvPr>
          <p:cNvGrpSpPr/>
          <p:nvPr/>
        </p:nvGrpSpPr>
        <p:grpSpPr>
          <a:xfrm>
            <a:off x="8451668" y="2457795"/>
            <a:ext cx="252549" cy="2044560"/>
            <a:chOff x="8451668" y="2457795"/>
            <a:chExt cx="252549" cy="2044560"/>
          </a:xfrm>
        </p:grpSpPr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8E27AB33-5A6B-4634-15D2-D6A12A1E8853}"/>
                </a:ext>
              </a:extLst>
            </p:cNvPr>
            <p:cNvCxnSpPr>
              <a:cxnSpLocks/>
            </p:cNvCxnSpPr>
            <p:nvPr/>
          </p:nvCxnSpPr>
          <p:spPr>
            <a:xfrm>
              <a:off x="8577943" y="2457795"/>
              <a:ext cx="0" cy="204456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6759ECAA-C41B-C794-AED6-51B7894A5A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51668" y="4368668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8FB0FDD-40B6-D13A-F44C-8817C07CDB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51668" y="2592120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2297504-9286-A4C0-50E2-E179B34DD0BD}"/>
              </a:ext>
            </a:extLst>
          </p:cNvPr>
          <p:cNvSpPr txBox="1"/>
          <p:nvPr/>
        </p:nvSpPr>
        <p:spPr>
          <a:xfrm>
            <a:off x="9124029" y="2226963"/>
            <a:ext cx="19463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/&lt;</a:t>
            </a:r>
            <a:r>
              <a:rPr lang="ko-KR" altLang="en-US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시간 복잡도</a:t>
            </a:r>
            <a:r>
              <a:rPr lang="en-US" altLang="ko-KR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&gt;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FEE29A-D9E9-DA92-A526-15ACEE0A665F}"/>
              </a:ext>
            </a:extLst>
          </p:cNvPr>
          <p:cNvSpPr txBox="1"/>
          <p:nvPr/>
        </p:nvSpPr>
        <p:spPr>
          <a:xfrm>
            <a:off x="8925898" y="2204895"/>
            <a:ext cx="346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2p</a:t>
            </a:r>
            <a:endParaRPr lang="ko-KR" altLang="en-US" sz="1100" dirty="0"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D97A53-70B9-3966-AB5D-07ED56F18C5F}"/>
              </a:ext>
            </a:extLst>
          </p:cNvPr>
          <p:cNvSpPr txBox="1"/>
          <p:nvPr/>
        </p:nvSpPr>
        <p:spPr>
          <a:xfrm>
            <a:off x="8921891" y="2855266"/>
            <a:ext cx="4010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16p</a:t>
            </a:r>
            <a:endParaRPr lang="ko-KR" altLang="en-US" sz="1100" dirty="0"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5C1605-8F38-93BC-63F7-222E9B54CCCE}"/>
              </a:ext>
            </a:extLst>
          </p:cNvPr>
          <p:cNvSpPr txBox="1"/>
          <p:nvPr/>
        </p:nvSpPr>
        <p:spPr>
          <a:xfrm>
            <a:off x="8921891" y="3538195"/>
            <a:ext cx="4154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27p</a:t>
            </a:r>
            <a:endParaRPr lang="ko-KR" altLang="en-US" sz="1100" dirty="0"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E6DCA7-6EFB-B437-84D1-507F21E4C0F3}"/>
              </a:ext>
            </a:extLst>
          </p:cNvPr>
          <p:cNvSpPr txBox="1"/>
          <p:nvPr/>
        </p:nvSpPr>
        <p:spPr>
          <a:xfrm>
            <a:off x="8921891" y="4183055"/>
            <a:ext cx="4267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28p</a:t>
            </a:r>
            <a:endParaRPr lang="ko-KR" altLang="en-US" sz="1100" dirty="0"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</p:txBody>
      </p:sp>
      <p:sp>
        <p:nvSpPr>
          <p:cNvPr id="48" name="바닥글 개체 틀 4">
            <a:extLst>
              <a:ext uri="{FF2B5EF4-FFF2-40B4-BE49-F238E27FC236}">
                <a16:creationId xmlns:a16="http://schemas.microsoft.com/office/drawing/2014/main" id="{1776CB56-E99B-DBFF-D8EA-E49C7345FACA}"/>
              </a:ext>
            </a:extLst>
          </p:cNvPr>
          <p:cNvSpPr txBox="1">
            <a:spLocks/>
          </p:cNvSpPr>
          <p:nvPr/>
        </p:nvSpPr>
        <p:spPr>
          <a:xfrm>
            <a:off x="9387697" y="385042"/>
            <a:ext cx="20681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2026 ALOHA 1</a:t>
            </a:r>
            <a:r>
              <a:rPr lang="ko-KR" altLang="en-US" dirty="0"/>
              <a:t>학기 멘토링</a:t>
            </a:r>
          </a:p>
        </p:txBody>
      </p:sp>
    </p:spTree>
    <p:extLst>
      <p:ext uri="{BB962C8B-B14F-4D97-AF65-F5344CB8AC3E}">
        <p14:creationId xmlns:p14="http://schemas.microsoft.com/office/powerpoint/2010/main" val="183260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0B7CC59-84C9-2748-2E2B-35FB175E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B6E928-A89E-1AED-3811-F5F5BEA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E72617A-0684-D6D5-BB9C-31CCE7B434CD}"/>
              </a:ext>
            </a:extLst>
          </p:cNvPr>
          <p:cNvGrpSpPr/>
          <p:nvPr/>
        </p:nvGrpSpPr>
        <p:grpSpPr>
          <a:xfrm>
            <a:off x="722811" y="577310"/>
            <a:ext cx="1787788" cy="750097"/>
            <a:chOff x="1271451" y="2719618"/>
            <a:chExt cx="1787788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142C132-BEF2-02D3-6F81-30206456B364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383A93D-F4E0-E683-C473-2AD0E7A50B52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시간 복잡도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A857BA1-8FCA-A55B-C236-2F13404B1B7E}"/>
                </a:ext>
              </a:extLst>
            </p:cNvPr>
            <p:cNvSpPr txBox="1"/>
            <p:nvPr/>
          </p:nvSpPr>
          <p:spPr>
            <a:xfrm>
              <a:off x="1382177" y="3192716"/>
              <a:ext cx="154587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&lt;Time Complexity&gt;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D1F2EB7-016A-866E-BBAF-A86DA568226A}"/>
              </a:ext>
            </a:extLst>
          </p:cNvPr>
          <p:cNvSpPr txBox="1"/>
          <p:nvPr/>
        </p:nvSpPr>
        <p:spPr>
          <a:xfrm>
            <a:off x="833537" y="2286358"/>
            <a:ext cx="79399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알고리즘의 </a:t>
            </a:r>
            <a:r>
              <a:rPr lang="ko-KR" altLang="en-US" sz="22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성능을 평가하는 지표 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중 하나이자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,</a:t>
            </a:r>
          </a:p>
          <a:p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문제를 해결하는 데 걸리는 시간과 입력의 관계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를 </a:t>
            </a:r>
            <a:r>
              <a:rPr lang="ko-KR" altLang="en-US" sz="220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나타내는 함수</a:t>
            </a:r>
            <a:endParaRPr lang="en-US" altLang="ko-KR" sz="22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1934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0B7CC59-84C9-2748-2E2B-35FB175E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B6E928-A89E-1AED-3811-F5F5BEA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1F2EB7-016A-866E-BBAF-A86DA568226A}"/>
              </a:ext>
            </a:extLst>
          </p:cNvPr>
          <p:cNvSpPr txBox="1"/>
          <p:nvPr/>
        </p:nvSpPr>
        <p:spPr>
          <a:xfrm>
            <a:off x="833537" y="2126040"/>
            <a:ext cx="9119804" cy="14388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(PS </a:t>
            </a: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한정</a:t>
            </a:r>
            <a:r>
              <a:rPr lang="en-US" altLang="ko-KR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) </a:t>
            </a:r>
            <a:r>
              <a:rPr lang="ko-KR" altLang="en-US" sz="20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최악의 경우</a:t>
            </a: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를 가정한다</a:t>
            </a:r>
            <a:r>
              <a:rPr lang="en-US" altLang="ko-KR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사칙연산</a:t>
            </a:r>
            <a:r>
              <a:rPr lang="en-US" altLang="ko-KR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, </a:t>
            </a: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대입 연산 등의 </a:t>
            </a:r>
            <a:r>
              <a:rPr lang="ko-KR" altLang="en-US" sz="20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기본 연산</a:t>
            </a: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이 수행되는 횟수를 대략적으로 계산한다</a:t>
            </a:r>
            <a:r>
              <a:rPr lang="en-US" altLang="ko-KR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 err="1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최고차항의</a:t>
            </a: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차수를 확인한다</a:t>
            </a:r>
            <a:r>
              <a:rPr lang="en-US" altLang="ko-KR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 (10p</a:t>
            </a: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에서 설명</a:t>
            </a:r>
            <a:r>
              <a:rPr lang="en-US" altLang="ko-KR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1B1431-AA6B-ABBE-4F23-7D3FF327FEDC}"/>
              </a:ext>
            </a:extLst>
          </p:cNvPr>
          <p:cNvSpPr txBox="1"/>
          <p:nvPr/>
        </p:nvSpPr>
        <p:spPr>
          <a:xfrm>
            <a:off x="833537" y="4579804"/>
            <a:ext cx="6299634" cy="832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PS = Problem Solving, 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알고리즘 문제 풀이</a:t>
            </a:r>
            <a:b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</a:b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알고리즘 대회에서 접하는 문제들은 최악의 경우만 가정해도 되지만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전공 과목이나 연구에서는 다양한 상황을 고려합니다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.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B042FD4C-900A-688C-EFCA-5940B50E0F65}"/>
              </a:ext>
            </a:extLst>
          </p:cNvPr>
          <p:cNvGrpSpPr/>
          <p:nvPr/>
        </p:nvGrpSpPr>
        <p:grpSpPr>
          <a:xfrm>
            <a:off x="722811" y="577310"/>
            <a:ext cx="2745037" cy="750097"/>
            <a:chOff x="1271451" y="2719618"/>
            <a:chExt cx="2745037" cy="75009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360266E-B24B-B5A2-0D26-B641F7310257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A57FF3C-D8FF-E3FC-E9D5-A2D55D8B322A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시간 복잡도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1053492-3277-09E0-CCAD-59182D68657C}"/>
                </a:ext>
              </a:extLst>
            </p:cNvPr>
            <p:cNvSpPr txBox="1"/>
            <p:nvPr/>
          </p:nvSpPr>
          <p:spPr>
            <a:xfrm>
              <a:off x="1382177" y="3192716"/>
              <a:ext cx="263431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&lt;Time Complexity&gt;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계산하는 방법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0459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B79B8-FA57-5C29-30E4-C08D6FD9D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59885FB8-6772-4445-FBD1-60536330B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AB260E2-0851-4379-4297-49CA611C2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4</a:t>
            </a:fld>
            <a:endParaRPr lang="ko-KR" altLang="en-US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1CF4181-32E3-3389-0ACD-7BC96E3E4898}"/>
              </a:ext>
            </a:extLst>
          </p:cNvPr>
          <p:cNvGrpSpPr/>
          <p:nvPr/>
        </p:nvGrpSpPr>
        <p:grpSpPr>
          <a:xfrm>
            <a:off x="5052397" y="1545201"/>
            <a:ext cx="2087205" cy="430887"/>
            <a:chOff x="1097620" y="1639465"/>
            <a:chExt cx="2087205" cy="430887"/>
          </a:xfrm>
        </p:grpSpPr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F657B888-2FE0-9485-B0CA-09B6EE7CE9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97620" y="1740314"/>
              <a:ext cx="257842" cy="330037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44E87FA-316A-EE93-6417-CC820102FD19}"/>
                </a:ext>
              </a:extLst>
            </p:cNvPr>
            <p:cNvSpPr txBox="1"/>
            <p:nvPr/>
          </p:nvSpPr>
          <p:spPr>
            <a:xfrm>
              <a:off x="1355463" y="1639465"/>
              <a:ext cx="182936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N </a:t>
              </a: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찍기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(BOJ #2741)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CAC89F9A-B02F-7A02-AD7C-53ED77EBA668}"/>
              </a:ext>
            </a:extLst>
          </p:cNvPr>
          <p:cNvGrpSpPr/>
          <p:nvPr/>
        </p:nvGrpSpPr>
        <p:grpSpPr>
          <a:xfrm>
            <a:off x="722811" y="577310"/>
            <a:ext cx="2446878" cy="750097"/>
            <a:chOff x="1271451" y="2719618"/>
            <a:chExt cx="2446878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E548518-F059-FC29-1144-072566E9A9FC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0EFC384-D134-A8F9-2BFE-0C1188D5EB48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시간 복잡도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7E0B3E7-EC4E-7135-293C-4B111FC3752A}"/>
                </a:ext>
              </a:extLst>
            </p:cNvPr>
            <p:cNvSpPr txBox="1"/>
            <p:nvPr/>
          </p:nvSpPr>
          <p:spPr>
            <a:xfrm>
              <a:off x="1382177" y="3192716"/>
              <a:ext cx="23361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&lt;Time Complexity&gt;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계산 예시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014DCA7-FB1B-473B-C9C3-872A9E58A28B}"/>
              </a:ext>
            </a:extLst>
          </p:cNvPr>
          <p:cNvSpPr txBox="1"/>
          <p:nvPr/>
        </p:nvSpPr>
        <p:spPr>
          <a:xfrm>
            <a:off x="1406100" y="2691344"/>
            <a:ext cx="43063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문제 설명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A547A1-ED59-B150-9FFB-554F7D37735E}"/>
              </a:ext>
            </a:extLst>
          </p:cNvPr>
          <p:cNvSpPr txBox="1"/>
          <p:nvPr/>
        </p:nvSpPr>
        <p:spPr>
          <a:xfrm>
            <a:off x="1406099" y="3107445"/>
            <a:ext cx="516455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자연수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 주어짐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부터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까지 한 줄에 하나씩 출력하기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C269CA-CA63-AB10-008D-F14E5458473F}"/>
              </a:ext>
            </a:extLst>
          </p:cNvPr>
          <p:cNvSpPr txBox="1"/>
          <p:nvPr/>
        </p:nvSpPr>
        <p:spPr>
          <a:xfrm>
            <a:off x="1406099" y="4108321"/>
            <a:ext cx="34718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제약 조건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BF35A43-5E0F-53B6-2BFB-044741FE1F56}"/>
                  </a:ext>
                </a:extLst>
              </p:cNvPr>
              <p:cNvSpPr txBox="1"/>
              <p:nvPr/>
            </p:nvSpPr>
            <p:spPr>
              <a:xfrm>
                <a:off x="1406098" y="4524422"/>
                <a:ext cx="347180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1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N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100,000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BF35A43-5E0F-53B6-2BFB-044741FE1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098" y="4524422"/>
                <a:ext cx="3471804" cy="430887"/>
              </a:xfrm>
              <a:prstGeom prst="rect">
                <a:avLst/>
              </a:prstGeom>
              <a:blipFill>
                <a:blip r:embed="rId4"/>
                <a:stretch>
                  <a:fillRect l="-703" b="-1831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그룹 26">
            <a:extLst>
              <a:ext uri="{FF2B5EF4-FFF2-40B4-BE49-F238E27FC236}">
                <a16:creationId xmlns:a16="http://schemas.microsoft.com/office/drawing/2014/main" id="{D3FDEC5B-616A-3FAD-5640-34E1A198DBC0}"/>
              </a:ext>
            </a:extLst>
          </p:cNvPr>
          <p:cNvGrpSpPr/>
          <p:nvPr/>
        </p:nvGrpSpPr>
        <p:grpSpPr>
          <a:xfrm>
            <a:off x="5965496" y="2200047"/>
            <a:ext cx="252549" cy="3932343"/>
            <a:chOff x="5266200" y="2270759"/>
            <a:chExt cx="252549" cy="3932343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EF41D6F8-F018-817C-3E82-113633021997}"/>
                </a:ext>
              </a:extLst>
            </p:cNvPr>
            <p:cNvGrpSpPr/>
            <p:nvPr/>
          </p:nvGrpSpPr>
          <p:grpSpPr>
            <a:xfrm>
              <a:off x="5266200" y="2270759"/>
              <a:ext cx="252549" cy="3932343"/>
              <a:chOff x="6803262" y="1384440"/>
              <a:chExt cx="252549" cy="4676726"/>
            </a:xfrm>
          </p:grpSpPr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C59EF716-BC70-2FA6-69C4-DD39BECD4B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B11DD945-173C-0FAE-A9B9-9598A6D9AE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231ECDD6-9E9B-0ABB-822F-5FA8286FE3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6200" y="2470256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70D6363F-0431-D4B9-2354-7C07F1FC4301}"/>
              </a:ext>
            </a:extLst>
          </p:cNvPr>
          <p:cNvSpPr txBox="1"/>
          <p:nvPr/>
        </p:nvSpPr>
        <p:spPr>
          <a:xfrm>
            <a:off x="6949944" y="2905731"/>
            <a:ext cx="4493596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#</a:t>
            </a:r>
            <a:r>
              <a:rPr lang="en-US" altLang="ko-KR" sz="16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include</a:t>
            </a:r>
            <a:r>
              <a:rPr lang="en-US" altLang="ko-KR" sz="16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600" b="0" i="0" dirty="0">
                <a:solidFill>
                  <a:srgbClr val="032F62"/>
                </a:solidFill>
                <a:effectLst/>
                <a:latin typeface="Lucida Console" panose="020B0609040504020204" pitchFamily="49" charset="0"/>
              </a:rPr>
              <a:t>&lt;iostream&gt;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</a:p>
          <a:p>
            <a:r>
              <a:rPr lang="en-US" altLang="ko-KR" sz="16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using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6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namespace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std; </a:t>
            </a:r>
          </a:p>
          <a:p>
            <a:r>
              <a:rPr lang="en-US" altLang="ko-KR" sz="16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600" b="0" i="0" dirty="0">
                <a:solidFill>
                  <a:srgbClr val="6F42C1"/>
                </a:solidFill>
                <a:effectLst/>
                <a:latin typeface="Lucida Console" panose="020B0609040504020204" pitchFamily="49" charset="0"/>
              </a:rPr>
              <a:t>main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() {</a:t>
            </a:r>
          </a:p>
          <a:p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    </a:t>
            </a:r>
            <a:r>
              <a:rPr lang="en-US" altLang="ko-KR" sz="16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N;</a:t>
            </a:r>
          </a:p>
          <a:p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   </a:t>
            </a:r>
            <a:r>
              <a:rPr lang="en-US" altLang="ko-KR" sz="16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cin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&gt;&gt; N; </a:t>
            </a:r>
          </a:p>
          <a:p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    </a:t>
            </a:r>
            <a:r>
              <a:rPr lang="en-US" altLang="ko-KR" sz="16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for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lang="en-US" altLang="ko-KR" sz="16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6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=</a:t>
            </a:r>
            <a:r>
              <a:rPr lang="en-US" altLang="ko-KR" sz="16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1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; </a:t>
            </a:r>
            <a:r>
              <a:rPr lang="en-US" altLang="ko-KR" sz="16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&lt;= N; </a:t>
            </a:r>
            <a:r>
              <a:rPr lang="en-US" altLang="ko-KR" sz="16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++){</a:t>
            </a:r>
          </a:p>
          <a:p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       </a:t>
            </a:r>
            <a:r>
              <a:rPr lang="en-US" altLang="ko-KR" sz="16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cout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&lt;&lt; </a:t>
            </a:r>
            <a:r>
              <a:rPr lang="en-US" altLang="ko-KR" sz="16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&lt;&lt; </a:t>
            </a:r>
            <a:r>
              <a:rPr lang="en-US" altLang="ko-KR" sz="1600" b="0" i="0" dirty="0">
                <a:solidFill>
                  <a:srgbClr val="032F62"/>
                </a:solidFill>
                <a:effectLst/>
                <a:latin typeface="Lucida Console" panose="020B0609040504020204" pitchFamily="49" charset="0"/>
              </a:rPr>
              <a:t>'\n’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; </a:t>
            </a:r>
          </a:p>
          <a:p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    } </a:t>
            </a:r>
          </a:p>
          <a:p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}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464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D6343-5EB5-C2B7-26C0-1B099D52D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F7C0E21C-86EA-1BF1-5CE1-AAF6B36EC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D298009-8435-1001-09E2-BB9B9B9F4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5</a:t>
            </a:fld>
            <a:endParaRPr lang="ko-KR" altLang="en-US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9BD0BBFB-F573-795C-177E-AEC8F62BFB42}"/>
              </a:ext>
            </a:extLst>
          </p:cNvPr>
          <p:cNvGrpSpPr/>
          <p:nvPr/>
        </p:nvGrpSpPr>
        <p:grpSpPr>
          <a:xfrm>
            <a:off x="5052397" y="1545201"/>
            <a:ext cx="2087205" cy="430887"/>
            <a:chOff x="1097620" y="1639465"/>
            <a:chExt cx="2087205" cy="430887"/>
          </a:xfrm>
        </p:grpSpPr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D094486E-DA97-0746-FA47-E137840731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97620" y="1740314"/>
              <a:ext cx="257842" cy="330037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BD5F2B3-2C7A-2329-4C95-C4A43BE00DD4}"/>
                </a:ext>
              </a:extLst>
            </p:cNvPr>
            <p:cNvSpPr txBox="1"/>
            <p:nvPr/>
          </p:nvSpPr>
          <p:spPr>
            <a:xfrm>
              <a:off x="1355463" y="1639465"/>
              <a:ext cx="182936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N </a:t>
              </a: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찍기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(BOJ #2741)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7CE7E2F7-25C3-852D-F03D-FD5E9D194063}"/>
              </a:ext>
            </a:extLst>
          </p:cNvPr>
          <p:cNvGrpSpPr/>
          <p:nvPr/>
        </p:nvGrpSpPr>
        <p:grpSpPr>
          <a:xfrm>
            <a:off x="722811" y="577310"/>
            <a:ext cx="2446878" cy="750097"/>
            <a:chOff x="1271451" y="2719618"/>
            <a:chExt cx="2446878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2DF5255-1E78-85E6-B26C-3A7D1864E9AD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905098-9E61-C4B1-E73C-177C3395DD91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시간 복잡도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181083B-CD75-9E6E-3D25-92EED6757F90}"/>
                </a:ext>
              </a:extLst>
            </p:cNvPr>
            <p:cNvSpPr txBox="1"/>
            <p:nvPr/>
          </p:nvSpPr>
          <p:spPr>
            <a:xfrm>
              <a:off x="1382177" y="3192716"/>
              <a:ext cx="23361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&lt;Time Complexity&gt;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계산 예시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AB0203C-F8A9-1A6C-056E-DD5FBC18F559}"/>
              </a:ext>
            </a:extLst>
          </p:cNvPr>
          <p:cNvSpPr txBox="1"/>
          <p:nvPr/>
        </p:nvSpPr>
        <p:spPr>
          <a:xfrm>
            <a:off x="833538" y="2905731"/>
            <a:ext cx="43063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연산 횟수 계산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681E0C-154A-FD0B-647E-AAC77F8566E6}"/>
              </a:ext>
            </a:extLst>
          </p:cNvPr>
          <p:cNvSpPr txBox="1"/>
          <p:nvPr/>
        </p:nvSpPr>
        <p:spPr>
          <a:xfrm>
            <a:off x="833537" y="3321832"/>
            <a:ext cx="516455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변수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을 선언하고 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입력받음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-&gt; 2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번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for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문으로 </a:t>
            </a:r>
            <a:r>
              <a:rPr lang="en-US" altLang="ko-KR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i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=1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부터 </a:t>
            </a:r>
            <a:r>
              <a:rPr lang="en-US" altLang="ko-KR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i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=N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까지 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더해줌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-&gt; N+1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번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For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문 내에서 출력 사용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-&gt; 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번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연산 횟수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T(N) = 2N+3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C5804FA-3840-6693-18EB-93485DB65BFF}"/>
              </a:ext>
            </a:extLst>
          </p:cNvPr>
          <p:cNvGrpSpPr/>
          <p:nvPr/>
        </p:nvGrpSpPr>
        <p:grpSpPr>
          <a:xfrm>
            <a:off x="5965496" y="2200047"/>
            <a:ext cx="252549" cy="3932343"/>
            <a:chOff x="5266200" y="2270759"/>
            <a:chExt cx="252549" cy="3932343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40B8255F-8B14-1AC9-2A45-EB4845C60920}"/>
                </a:ext>
              </a:extLst>
            </p:cNvPr>
            <p:cNvGrpSpPr/>
            <p:nvPr/>
          </p:nvGrpSpPr>
          <p:grpSpPr>
            <a:xfrm>
              <a:off x="5266200" y="2270759"/>
              <a:ext cx="252549" cy="3932343"/>
              <a:chOff x="6803262" y="1384440"/>
              <a:chExt cx="252549" cy="4676726"/>
            </a:xfrm>
          </p:grpSpPr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E15D602F-0B20-06B8-2A8A-F5A8150B46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558BFC9C-935D-061F-6074-B4E00D5AFFB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3433A3-9F08-9ADC-7CF9-32C7C36169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6200" y="2470256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F528742-0906-A102-B4BA-70A13CDE9A52}"/>
              </a:ext>
            </a:extLst>
          </p:cNvPr>
          <p:cNvSpPr txBox="1"/>
          <p:nvPr/>
        </p:nvSpPr>
        <p:spPr>
          <a:xfrm>
            <a:off x="6949944" y="2905731"/>
            <a:ext cx="4493596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#</a:t>
            </a:r>
            <a:r>
              <a:rPr lang="en-US" altLang="ko-KR" sz="16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include</a:t>
            </a:r>
            <a:r>
              <a:rPr lang="en-US" altLang="ko-KR" sz="16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600" b="0" i="0" dirty="0">
                <a:solidFill>
                  <a:srgbClr val="032F62"/>
                </a:solidFill>
                <a:effectLst/>
                <a:latin typeface="Lucida Console" panose="020B0609040504020204" pitchFamily="49" charset="0"/>
              </a:rPr>
              <a:t>&lt;iostream&gt;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</a:p>
          <a:p>
            <a:r>
              <a:rPr lang="en-US" altLang="ko-KR" sz="16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using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6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namespace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std; </a:t>
            </a:r>
          </a:p>
          <a:p>
            <a:r>
              <a:rPr lang="en-US" altLang="ko-KR" sz="16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600" b="0" i="0" dirty="0">
                <a:solidFill>
                  <a:srgbClr val="6F42C1"/>
                </a:solidFill>
                <a:effectLst/>
                <a:latin typeface="Lucida Console" panose="020B0609040504020204" pitchFamily="49" charset="0"/>
              </a:rPr>
              <a:t>main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() {</a:t>
            </a:r>
          </a:p>
          <a:p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    </a:t>
            </a:r>
            <a:r>
              <a:rPr lang="en-US" altLang="ko-KR" sz="16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N;</a:t>
            </a:r>
          </a:p>
          <a:p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   </a:t>
            </a:r>
            <a:r>
              <a:rPr lang="en-US" altLang="ko-KR" sz="16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cin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&gt;&gt; N; </a:t>
            </a:r>
          </a:p>
          <a:p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    </a:t>
            </a:r>
            <a:r>
              <a:rPr lang="en-US" altLang="ko-KR" sz="16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for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lang="en-US" altLang="ko-KR" sz="16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6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=</a:t>
            </a:r>
            <a:r>
              <a:rPr lang="en-US" altLang="ko-KR" sz="16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1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; </a:t>
            </a:r>
            <a:r>
              <a:rPr lang="en-US" altLang="ko-KR" sz="16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&lt;= N; </a:t>
            </a:r>
            <a:r>
              <a:rPr lang="en-US" altLang="ko-KR" sz="16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++){</a:t>
            </a:r>
          </a:p>
          <a:p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       </a:t>
            </a:r>
            <a:r>
              <a:rPr lang="en-US" altLang="ko-KR" sz="16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cout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&lt;&lt; </a:t>
            </a:r>
            <a:r>
              <a:rPr lang="en-US" altLang="ko-KR" sz="16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&lt;&lt; </a:t>
            </a:r>
            <a:r>
              <a:rPr lang="en-US" altLang="ko-KR" sz="1600" b="0" i="0" dirty="0">
                <a:solidFill>
                  <a:srgbClr val="032F62"/>
                </a:solidFill>
                <a:effectLst/>
                <a:latin typeface="Lucida Console" panose="020B0609040504020204" pitchFamily="49" charset="0"/>
              </a:rPr>
              <a:t>'\n’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; </a:t>
            </a:r>
          </a:p>
          <a:p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    } </a:t>
            </a:r>
          </a:p>
          <a:p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}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065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E55F0-D89E-03EF-F818-4F3B239D6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3D9E4C33-2A69-2A79-232F-91BD5BD70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97B6936-7E2A-51E6-B216-D0AF0A9EA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6</a:t>
            </a:fld>
            <a:endParaRPr lang="ko-KR" altLang="en-US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9FA3824-1380-6E89-60ED-8EF9C3E3D0F9}"/>
              </a:ext>
            </a:extLst>
          </p:cNvPr>
          <p:cNvGrpSpPr/>
          <p:nvPr/>
        </p:nvGrpSpPr>
        <p:grpSpPr>
          <a:xfrm>
            <a:off x="5052397" y="1545201"/>
            <a:ext cx="2087205" cy="430887"/>
            <a:chOff x="1097620" y="1639465"/>
            <a:chExt cx="2087205" cy="430887"/>
          </a:xfrm>
        </p:grpSpPr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1DDC32B8-0D0B-0DA0-8511-E4E9704ED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97620" y="1740314"/>
              <a:ext cx="257842" cy="330037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DD22909-D41B-B43F-0E96-749BE1F7A1B9}"/>
                </a:ext>
              </a:extLst>
            </p:cNvPr>
            <p:cNvSpPr txBox="1"/>
            <p:nvPr/>
          </p:nvSpPr>
          <p:spPr>
            <a:xfrm>
              <a:off x="1355463" y="1639465"/>
              <a:ext cx="182936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별 찍기 </a:t>
              </a: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1</a:t>
              </a: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(BOJ #2438)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E90CFC4D-9275-D8FB-11F3-22B83166CA53}"/>
              </a:ext>
            </a:extLst>
          </p:cNvPr>
          <p:cNvGrpSpPr/>
          <p:nvPr/>
        </p:nvGrpSpPr>
        <p:grpSpPr>
          <a:xfrm>
            <a:off x="722811" y="577310"/>
            <a:ext cx="2446878" cy="750097"/>
            <a:chOff x="1271451" y="2719618"/>
            <a:chExt cx="2446878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5E4473F-C5B3-9580-280E-07F9EF31B6C3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F98637-31CD-35FB-ED65-E50F5533360C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시간 복잡도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8EA3A13-A606-357B-CB9B-B026C54748C4}"/>
                </a:ext>
              </a:extLst>
            </p:cNvPr>
            <p:cNvSpPr txBox="1"/>
            <p:nvPr/>
          </p:nvSpPr>
          <p:spPr>
            <a:xfrm>
              <a:off x="1382177" y="3192716"/>
              <a:ext cx="23361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&lt;Time Complexity&gt;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계산 예시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112AFAF-42CD-98FB-D472-80E61FE9544A}"/>
              </a:ext>
            </a:extLst>
          </p:cNvPr>
          <p:cNvSpPr txBox="1"/>
          <p:nvPr/>
        </p:nvSpPr>
        <p:spPr>
          <a:xfrm>
            <a:off x="1406100" y="2691344"/>
            <a:ext cx="43063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문제 설명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CE6A07-5707-A24F-3C85-36BA539DAB59}"/>
              </a:ext>
            </a:extLst>
          </p:cNvPr>
          <p:cNvSpPr txBox="1"/>
          <p:nvPr/>
        </p:nvSpPr>
        <p:spPr>
          <a:xfrm>
            <a:off x="1406099" y="3107445"/>
            <a:ext cx="516455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자연수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 주어짐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첫째 줄에는 별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개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둘째 줄에는 별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2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개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…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번째 줄에는 별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개를 찍는 문제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7F4C7B-FA6A-6DD9-0D9D-B86676879395}"/>
              </a:ext>
            </a:extLst>
          </p:cNvPr>
          <p:cNvSpPr txBox="1"/>
          <p:nvPr/>
        </p:nvSpPr>
        <p:spPr>
          <a:xfrm>
            <a:off x="1406099" y="4282209"/>
            <a:ext cx="34718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제약 조건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0461028-5DB7-6E3F-07AF-2F9181BD75FD}"/>
                  </a:ext>
                </a:extLst>
              </p:cNvPr>
              <p:cNvSpPr txBox="1"/>
              <p:nvPr/>
            </p:nvSpPr>
            <p:spPr>
              <a:xfrm>
                <a:off x="1406098" y="4698310"/>
                <a:ext cx="347180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1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N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100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0461028-5DB7-6E3F-07AF-2F9181BD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098" y="4698310"/>
                <a:ext cx="3471804" cy="430887"/>
              </a:xfrm>
              <a:prstGeom prst="rect">
                <a:avLst/>
              </a:prstGeom>
              <a:blipFill>
                <a:blip r:embed="rId4"/>
                <a:stretch>
                  <a:fillRect l="-703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그룹 26">
            <a:extLst>
              <a:ext uri="{FF2B5EF4-FFF2-40B4-BE49-F238E27FC236}">
                <a16:creationId xmlns:a16="http://schemas.microsoft.com/office/drawing/2014/main" id="{40700C5D-FD9E-9274-2401-E2F0010AB3FC}"/>
              </a:ext>
            </a:extLst>
          </p:cNvPr>
          <p:cNvGrpSpPr/>
          <p:nvPr/>
        </p:nvGrpSpPr>
        <p:grpSpPr>
          <a:xfrm>
            <a:off x="5965496" y="2200047"/>
            <a:ext cx="252549" cy="3932343"/>
            <a:chOff x="5266200" y="2270759"/>
            <a:chExt cx="252549" cy="3932343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1DCB2C9F-2D43-6489-4179-A2128E186FB0}"/>
                </a:ext>
              </a:extLst>
            </p:cNvPr>
            <p:cNvGrpSpPr/>
            <p:nvPr/>
          </p:nvGrpSpPr>
          <p:grpSpPr>
            <a:xfrm>
              <a:off x="5266200" y="2270759"/>
              <a:ext cx="252549" cy="3932343"/>
              <a:chOff x="6803262" y="1384440"/>
              <a:chExt cx="252549" cy="4676726"/>
            </a:xfrm>
          </p:grpSpPr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CB14D006-C3D9-C679-73ED-AB3B8665BF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255C92B8-D733-5352-12DF-F903D8F0910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59555A67-1598-71F9-B25A-4DD5472DB9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6200" y="2470256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0C5DC162-62A2-6E40-0FBC-8F2057DE6771}"/>
              </a:ext>
            </a:extLst>
          </p:cNvPr>
          <p:cNvSpPr txBox="1"/>
          <p:nvPr/>
        </p:nvSpPr>
        <p:spPr>
          <a:xfrm>
            <a:off x="6974743" y="2519614"/>
            <a:ext cx="4343467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#</a:t>
            </a:r>
            <a:r>
              <a:rPr lang="en-US" altLang="ko-KR" sz="16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include</a:t>
            </a:r>
            <a:r>
              <a:rPr lang="en-US" altLang="ko-KR" sz="16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600" b="0" i="0" dirty="0">
                <a:solidFill>
                  <a:srgbClr val="032F62"/>
                </a:solidFill>
                <a:effectLst/>
                <a:latin typeface="Lucida Console" panose="020B0609040504020204" pitchFamily="49" charset="0"/>
              </a:rPr>
              <a:t>&lt;iostream&gt;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</a:p>
          <a:p>
            <a:r>
              <a:rPr lang="en-US" altLang="ko-KR" sz="16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using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6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namespace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std; </a:t>
            </a:r>
          </a:p>
          <a:p>
            <a:endParaRPr lang="en-US" altLang="ko-KR" sz="1600" b="0" i="0" dirty="0">
              <a:solidFill>
                <a:srgbClr val="24292E"/>
              </a:solidFill>
              <a:effectLst/>
              <a:latin typeface="Lucida Console" panose="020B0609040504020204" pitchFamily="49" charset="0"/>
            </a:endParaRPr>
          </a:p>
          <a:p>
            <a:r>
              <a:rPr lang="en-US" altLang="ko-KR" sz="16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600" b="0" i="0" dirty="0">
                <a:solidFill>
                  <a:srgbClr val="6F42C1"/>
                </a:solidFill>
                <a:effectLst/>
                <a:latin typeface="Lucida Console" panose="020B0609040504020204" pitchFamily="49" charset="0"/>
              </a:rPr>
              <a:t>main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() { </a:t>
            </a:r>
          </a:p>
          <a:p>
            <a:r>
              <a:rPr lang="en-US" altLang="ko-KR" sz="1600" dirty="0">
                <a:solidFill>
                  <a:srgbClr val="24292E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ko-KR" sz="16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N; </a:t>
            </a:r>
          </a:p>
          <a:p>
            <a:r>
              <a:rPr lang="en-US" altLang="ko-KR" sz="1600" dirty="0">
                <a:solidFill>
                  <a:srgbClr val="24292E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ko-KR" sz="16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cin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&gt;&gt; N; </a:t>
            </a:r>
          </a:p>
          <a:p>
            <a:r>
              <a:rPr lang="en-US" altLang="ko-KR" sz="1600" dirty="0">
                <a:solidFill>
                  <a:srgbClr val="24292E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ko-KR" sz="16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for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lang="en-US" altLang="ko-KR" sz="16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6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=</a:t>
            </a:r>
            <a:r>
              <a:rPr lang="en-US" altLang="ko-KR" sz="16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1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; </a:t>
            </a:r>
            <a:r>
              <a:rPr lang="en-US" altLang="ko-KR" sz="16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&lt;= N; </a:t>
            </a:r>
            <a:r>
              <a:rPr lang="en-US" altLang="ko-KR" sz="16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++){ </a:t>
            </a:r>
          </a:p>
          <a:p>
            <a:r>
              <a:rPr lang="en-US" altLang="ko-KR" sz="1600" dirty="0">
                <a:solidFill>
                  <a:srgbClr val="24292E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ko-KR" sz="16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for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lang="en-US" altLang="ko-KR" sz="16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j=</a:t>
            </a:r>
            <a:r>
              <a:rPr lang="en-US" altLang="ko-KR" sz="16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1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; j &lt;= </a:t>
            </a:r>
            <a:r>
              <a:rPr lang="en-US" altLang="ko-KR" sz="16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; </a:t>
            </a:r>
            <a:r>
              <a:rPr lang="en-US" altLang="ko-KR" sz="16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j++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){ </a:t>
            </a:r>
          </a:p>
          <a:p>
            <a:r>
              <a:rPr lang="en-US" altLang="ko-KR" sz="1600" dirty="0">
                <a:solidFill>
                  <a:srgbClr val="24292E"/>
                </a:solidFill>
                <a:latin typeface="Lucida Console" panose="020B0609040504020204" pitchFamily="49" charset="0"/>
              </a:rPr>
              <a:t>            </a:t>
            </a:r>
            <a:r>
              <a:rPr lang="en-US" altLang="ko-KR" sz="16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cout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&lt;&lt; </a:t>
            </a:r>
            <a:r>
              <a:rPr lang="en-US" altLang="ko-KR" sz="1600" b="0" i="0" dirty="0">
                <a:solidFill>
                  <a:srgbClr val="032F62"/>
                </a:solidFill>
                <a:effectLst/>
                <a:latin typeface="Lucida Console" panose="020B0609040504020204" pitchFamily="49" charset="0"/>
              </a:rPr>
              <a:t>'*’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; </a:t>
            </a:r>
          </a:p>
          <a:p>
            <a:r>
              <a:rPr lang="en-US" altLang="ko-KR" sz="1600" dirty="0">
                <a:solidFill>
                  <a:srgbClr val="24292E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} </a:t>
            </a:r>
          </a:p>
          <a:p>
            <a:r>
              <a:rPr lang="en-US" altLang="ko-KR" sz="1600" dirty="0">
                <a:solidFill>
                  <a:srgbClr val="24292E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ko-KR" sz="16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cout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&lt;&lt; </a:t>
            </a:r>
            <a:r>
              <a:rPr lang="en-US" altLang="ko-KR" sz="1600" b="0" i="0" dirty="0">
                <a:solidFill>
                  <a:srgbClr val="032F62"/>
                </a:solidFill>
                <a:effectLst/>
                <a:latin typeface="Lucida Console" panose="020B0609040504020204" pitchFamily="49" charset="0"/>
              </a:rPr>
              <a:t>'\n’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; </a:t>
            </a:r>
          </a:p>
          <a:p>
            <a:r>
              <a:rPr lang="en-US" altLang="ko-KR" sz="1600" dirty="0">
                <a:solidFill>
                  <a:srgbClr val="24292E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} </a:t>
            </a:r>
          </a:p>
          <a:p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}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756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087C4-51A5-3EB6-8D1E-E7154C480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C4D30B24-1619-A995-F85E-67E314707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96024AA-AA5E-0D99-BF0D-80DA04D73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7</a:t>
            </a:fld>
            <a:endParaRPr lang="ko-KR" altLang="en-US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3395C7A5-3982-CF61-BB39-48F8853B7972}"/>
              </a:ext>
            </a:extLst>
          </p:cNvPr>
          <p:cNvGrpSpPr/>
          <p:nvPr/>
        </p:nvGrpSpPr>
        <p:grpSpPr>
          <a:xfrm>
            <a:off x="5052397" y="1545201"/>
            <a:ext cx="2087205" cy="430887"/>
            <a:chOff x="1097620" y="1639465"/>
            <a:chExt cx="2087205" cy="430887"/>
          </a:xfrm>
        </p:grpSpPr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116ED9DF-FD26-8334-685C-BEE94FAA5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97620" y="1740314"/>
              <a:ext cx="257842" cy="330037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02A39A3-5C0E-5529-8E38-58B008CCE5D7}"/>
                </a:ext>
              </a:extLst>
            </p:cNvPr>
            <p:cNvSpPr txBox="1"/>
            <p:nvPr/>
          </p:nvSpPr>
          <p:spPr>
            <a:xfrm>
              <a:off x="1355463" y="1639465"/>
              <a:ext cx="182936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별 찍기 </a:t>
              </a: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1</a:t>
              </a: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(BOJ #2438)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4721B28-42EF-0E56-2893-7908559A0CF0}"/>
              </a:ext>
            </a:extLst>
          </p:cNvPr>
          <p:cNvGrpSpPr/>
          <p:nvPr/>
        </p:nvGrpSpPr>
        <p:grpSpPr>
          <a:xfrm>
            <a:off x="722811" y="577310"/>
            <a:ext cx="2446878" cy="750097"/>
            <a:chOff x="1271451" y="2719618"/>
            <a:chExt cx="2446878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6CA5997-2D88-F106-C761-89C2484E9EAF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0E1F59E-4233-B5C5-3232-5E3DAA850CE3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시간 복잡도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782F054-9FFB-A868-D89B-140A3096677D}"/>
                </a:ext>
              </a:extLst>
            </p:cNvPr>
            <p:cNvSpPr txBox="1"/>
            <p:nvPr/>
          </p:nvSpPr>
          <p:spPr>
            <a:xfrm>
              <a:off x="1382177" y="3192716"/>
              <a:ext cx="23361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&lt;Time Complexity&gt;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계산 예시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07535CBF-EB24-CA7D-64F2-41C30061B679}"/>
              </a:ext>
            </a:extLst>
          </p:cNvPr>
          <p:cNvGrpSpPr/>
          <p:nvPr/>
        </p:nvGrpSpPr>
        <p:grpSpPr>
          <a:xfrm>
            <a:off x="5965496" y="2200047"/>
            <a:ext cx="252549" cy="3932343"/>
            <a:chOff x="5266200" y="2270759"/>
            <a:chExt cx="252549" cy="3932343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EFEAE51B-A333-AE18-271B-5CA68CE61287}"/>
                </a:ext>
              </a:extLst>
            </p:cNvPr>
            <p:cNvGrpSpPr/>
            <p:nvPr/>
          </p:nvGrpSpPr>
          <p:grpSpPr>
            <a:xfrm>
              <a:off x="5266200" y="2270759"/>
              <a:ext cx="252549" cy="3932343"/>
              <a:chOff x="6803262" y="1384440"/>
              <a:chExt cx="252549" cy="4676726"/>
            </a:xfrm>
          </p:grpSpPr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25093CF2-3592-420C-97DA-C2B1AA92BB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0D3A42AD-AC7D-611E-A933-EE3E69A8429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8E5544FA-5FCE-C5C4-6AF3-E8819CB880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6200" y="2470256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D29D4969-1A65-93CF-BC87-C165929D768E}"/>
              </a:ext>
            </a:extLst>
          </p:cNvPr>
          <p:cNvSpPr txBox="1"/>
          <p:nvPr/>
        </p:nvSpPr>
        <p:spPr>
          <a:xfrm>
            <a:off x="6974743" y="2519614"/>
            <a:ext cx="4343467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#</a:t>
            </a:r>
            <a:r>
              <a:rPr lang="en-US" altLang="ko-KR" sz="16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include</a:t>
            </a:r>
            <a:r>
              <a:rPr lang="en-US" altLang="ko-KR" sz="16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600" b="0" i="0" dirty="0">
                <a:solidFill>
                  <a:srgbClr val="032F62"/>
                </a:solidFill>
                <a:effectLst/>
                <a:latin typeface="Lucida Console" panose="020B0609040504020204" pitchFamily="49" charset="0"/>
              </a:rPr>
              <a:t>&lt;iostream&gt;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</a:p>
          <a:p>
            <a:r>
              <a:rPr lang="en-US" altLang="ko-KR" sz="16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using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6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namespace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std; </a:t>
            </a:r>
          </a:p>
          <a:p>
            <a:endParaRPr lang="en-US" altLang="ko-KR" sz="1600" b="0" i="0" dirty="0">
              <a:solidFill>
                <a:srgbClr val="24292E"/>
              </a:solidFill>
              <a:effectLst/>
              <a:latin typeface="Lucida Console" panose="020B0609040504020204" pitchFamily="49" charset="0"/>
            </a:endParaRPr>
          </a:p>
          <a:p>
            <a:r>
              <a:rPr lang="en-US" altLang="ko-KR" sz="16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600" b="0" i="0" dirty="0">
                <a:solidFill>
                  <a:srgbClr val="6F42C1"/>
                </a:solidFill>
                <a:effectLst/>
                <a:latin typeface="Lucida Console" panose="020B0609040504020204" pitchFamily="49" charset="0"/>
              </a:rPr>
              <a:t>main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() { </a:t>
            </a:r>
          </a:p>
          <a:p>
            <a:r>
              <a:rPr lang="en-US" altLang="ko-KR" sz="1600" dirty="0">
                <a:solidFill>
                  <a:srgbClr val="24292E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ko-KR" sz="16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N; </a:t>
            </a:r>
          </a:p>
          <a:p>
            <a:r>
              <a:rPr lang="en-US" altLang="ko-KR" sz="1600" dirty="0">
                <a:solidFill>
                  <a:srgbClr val="24292E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ko-KR" sz="16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cin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&gt;&gt; N; </a:t>
            </a:r>
          </a:p>
          <a:p>
            <a:r>
              <a:rPr lang="en-US" altLang="ko-KR" sz="1600" dirty="0">
                <a:solidFill>
                  <a:srgbClr val="24292E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ko-KR" sz="16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for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lang="en-US" altLang="ko-KR" sz="16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6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=</a:t>
            </a:r>
            <a:r>
              <a:rPr lang="en-US" altLang="ko-KR" sz="16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1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; </a:t>
            </a:r>
            <a:r>
              <a:rPr lang="en-US" altLang="ko-KR" sz="16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&lt;= N; </a:t>
            </a:r>
            <a:r>
              <a:rPr lang="en-US" altLang="ko-KR" sz="16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++){ </a:t>
            </a:r>
          </a:p>
          <a:p>
            <a:r>
              <a:rPr lang="en-US" altLang="ko-KR" sz="1600" dirty="0">
                <a:solidFill>
                  <a:srgbClr val="24292E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ko-KR" sz="16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for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lang="en-US" altLang="ko-KR" sz="16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j=</a:t>
            </a:r>
            <a:r>
              <a:rPr lang="en-US" altLang="ko-KR" sz="16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1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; j &lt;= </a:t>
            </a:r>
            <a:r>
              <a:rPr lang="en-US" altLang="ko-KR" sz="16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; </a:t>
            </a:r>
            <a:r>
              <a:rPr lang="en-US" altLang="ko-KR" sz="16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j++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){ </a:t>
            </a:r>
          </a:p>
          <a:p>
            <a:r>
              <a:rPr lang="en-US" altLang="ko-KR" sz="1600" dirty="0">
                <a:solidFill>
                  <a:srgbClr val="24292E"/>
                </a:solidFill>
                <a:latin typeface="Lucida Console" panose="020B0609040504020204" pitchFamily="49" charset="0"/>
              </a:rPr>
              <a:t>            </a:t>
            </a:r>
            <a:r>
              <a:rPr lang="en-US" altLang="ko-KR" sz="16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cout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&lt;&lt; </a:t>
            </a:r>
            <a:r>
              <a:rPr lang="en-US" altLang="ko-KR" sz="1600" b="0" i="0" dirty="0">
                <a:solidFill>
                  <a:srgbClr val="032F62"/>
                </a:solidFill>
                <a:effectLst/>
                <a:latin typeface="Lucida Console" panose="020B0609040504020204" pitchFamily="49" charset="0"/>
              </a:rPr>
              <a:t>'*’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; </a:t>
            </a:r>
          </a:p>
          <a:p>
            <a:r>
              <a:rPr lang="en-US" altLang="ko-KR" sz="1600" dirty="0">
                <a:solidFill>
                  <a:srgbClr val="24292E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} </a:t>
            </a:r>
          </a:p>
          <a:p>
            <a:r>
              <a:rPr lang="en-US" altLang="ko-KR" sz="1600" dirty="0">
                <a:solidFill>
                  <a:srgbClr val="24292E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ko-KR" sz="16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cout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&lt;&lt; </a:t>
            </a:r>
            <a:r>
              <a:rPr lang="en-US" altLang="ko-KR" sz="1600" b="0" i="0" dirty="0">
                <a:solidFill>
                  <a:srgbClr val="032F62"/>
                </a:solidFill>
                <a:effectLst/>
                <a:latin typeface="Lucida Console" panose="020B0609040504020204" pitchFamily="49" charset="0"/>
              </a:rPr>
              <a:t>'\n’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; </a:t>
            </a:r>
          </a:p>
          <a:p>
            <a:r>
              <a:rPr lang="en-US" altLang="ko-KR" sz="1600" dirty="0">
                <a:solidFill>
                  <a:srgbClr val="24292E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} </a:t>
            </a:r>
          </a:p>
          <a:p>
            <a:r>
              <a:rPr lang="en-US" altLang="ko-KR" sz="16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}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65EB72-EB04-E2C2-28E1-E243D0B514A1}"/>
              </a:ext>
            </a:extLst>
          </p:cNvPr>
          <p:cNvSpPr txBox="1"/>
          <p:nvPr/>
        </p:nvSpPr>
        <p:spPr>
          <a:xfrm>
            <a:off x="833537" y="2900677"/>
            <a:ext cx="43063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연산 횟수 계산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6D825E-0BB4-D2D7-A446-2DCDF9C3E1A1}"/>
                  </a:ext>
                </a:extLst>
              </p:cNvPr>
              <p:cNvSpPr txBox="1"/>
              <p:nvPr/>
            </p:nvSpPr>
            <p:spPr>
              <a:xfrm>
                <a:off x="833536" y="3316778"/>
                <a:ext cx="5164559" cy="1908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변수 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N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을 선언하고 </a:t>
                </a:r>
                <a:r>
                  <a:rPr lang="ko-KR" alt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입력받음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-&gt; 2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번</a:t>
                </a:r>
                <a:endPara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가는" panose="020B0600000101010101" pitchFamily="34" charset="-127"/>
                  <a:ea typeface="마루 부리OTF 가는" panose="020B0600000101010101" pitchFamily="34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i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=1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에서 </a:t>
                </a:r>
                <a:r>
                  <a:rPr lang="en-US" altLang="ko-KR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i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=N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까지 </a:t>
                </a:r>
                <a:r>
                  <a:rPr lang="ko-KR" alt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더해줌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-&gt; N+1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번</a:t>
                </a:r>
                <a:endPara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가는" panose="020B0600000101010101" pitchFamily="34" charset="-127"/>
                  <a:ea typeface="마루 부리OTF 가는" panose="020B0600000101010101" pitchFamily="34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첫번째 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For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문 내에서 일어나는 연산 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-&gt; 2*i+2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번</a:t>
                </a:r>
                <a:endPara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가는" panose="020B0600000101010101" pitchFamily="34" charset="-127"/>
                  <a:ea typeface="마루 부리OTF 가는" panose="020B0600000101010101" pitchFamily="34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가는" panose="020B0600000101010101" pitchFamily="34" charset="-127"/>
                  <a:ea typeface="마루 부리OTF 가는" panose="020B0600000101010101" pitchFamily="34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연산 횟수 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T(N)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N</m:t>
                    </m:r>
                    <m:r>
                      <a:rPr lang="en-US" altLang="ko-KR" sz="16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+3+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sz="16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가는" panose="020B0600000101010101" pitchFamily="34" charset="-127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ko-KR" sz="16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가는" panose="020B0600000101010101" pitchFamily="34" charset="-127"/>
                          </a:rPr>
                          <m:t>(2</m:t>
                        </m:r>
                        <m:r>
                          <a:rPr lang="en-US" altLang="ko-KR" sz="16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가는" panose="020B0600000101010101" pitchFamily="34" charset="-127"/>
                          </a:rPr>
                          <m:t>𝑖</m:t>
                        </m:r>
                        <m:r>
                          <a:rPr lang="en-US" altLang="ko-KR" sz="16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가는" panose="020B0600000101010101" pitchFamily="34" charset="-127"/>
                          </a:rPr>
                          <m:t>+2)</m:t>
                        </m:r>
                      </m:e>
                    </m:nary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가는" panose="020B0600000101010101" pitchFamily="34" charset="-127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가는" panose="020B0600000101010101" pitchFamily="34" charset="-127"/>
                          </a:rPr>
                          <m:t>𝑁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가는" panose="020B0600000101010101" pitchFamily="34" charset="-127"/>
                          </a:rPr>
                          <m:t>2</m:t>
                        </m:r>
                      </m:sup>
                    </m:sSup>
                    <m:r>
                      <a:rPr lang="en-US" altLang="ko-KR" sz="16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+4</m:t>
                    </m:r>
                    <m:r>
                      <a:rPr lang="en-US" altLang="ko-KR" sz="16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𝑁</m:t>
                    </m:r>
                    <m:r>
                      <a:rPr lang="en-US" altLang="ko-KR" sz="16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+3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6D825E-0BB4-D2D7-A446-2DCDF9C3E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36" y="3316778"/>
                <a:ext cx="5164559" cy="1908215"/>
              </a:xfrm>
              <a:prstGeom prst="rect">
                <a:avLst/>
              </a:prstGeom>
              <a:blipFill>
                <a:blip r:embed="rId4"/>
                <a:stretch>
                  <a:fillRect l="-472" b="-290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988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305CF-CC76-F05B-6B4B-EC8DFEEEF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7A93D377-B040-F042-6AD4-508B38789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D11BC73-6C64-64A1-E00B-B86B93F6B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8</a:t>
            </a:fld>
            <a:endParaRPr lang="ko-KR" altLang="en-US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06C88F2-8D54-1F40-A741-66E9CBCF2AB3}"/>
              </a:ext>
            </a:extLst>
          </p:cNvPr>
          <p:cNvGrpSpPr/>
          <p:nvPr/>
        </p:nvGrpSpPr>
        <p:grpSpPr>
          <a:xfrm>
            <a:off x="5052397" y="1545201"/>
            <a:ext cx="2087205" cy="430887"/>
            <a:chOff x="1097620" y="1639465"/>
            <a:chExt cx="2087205" cy="430887"/>
          </a:xfrm>
        </p:grpSpPr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A7DCD423-B6A7-70E6-D949-ADA67127CE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97620" y="1740314"/>
              <a:ext cx="257841" cy="330037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98C1435-6206-F206-6901-52F4F5BDF8AD}"/>
                </a:ext>
              </a:extLst>
            </p:cNvPr>
            <p:cNvSpPr txBox="1"/>
            <p:nvPr/>
          </p:nvSpPr>
          <p:spPr>
            <a:xfrm>
              <a:off x="1355463" y="1639465"/>
              <a:ext cx="182936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소수 찾기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(BOJ #1978)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A9A287A5-849D-276E-F47B-6BF7594DA561}"/>
              </a:ext>
            </a:extLst>
          </p:cNvPr>
          <p:cNvGrpSpPr/>
          <p:nvPr/>
        </p:nvGrpSpPr>
        <p:grpSpPr>
          <a:xfrm>
            <a:off x="722811" y="577310"/>
            <a:ext cx="2446878" cy="750097"/>
            <a:chOff x="1271451" y="2719618"/>
            <a:chExt cx="2446878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2BCC6D3-7D60-81A5-0253-E418C1C66656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73FFC44-DB49-362F-21D0-1F51CC97769F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시간 복잡도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A47996C-9518-0F52-2F75-E26510595704}"/>
                </a:ext>
              </a:extLst>
            </p:cNvPr>
            <p:cNvSpPr txBox="1"/>
            <p:nvPr/>
          </p:nvSpPr>
          <p:spPr>
            <a:xfrm>
              <a:off x="1382177" y="3192716"/>
              <a:ext cx="23361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&lt;Time Complexity&gt;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계산 예시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B614C41-3605-875E-D5FA-9F90A46DAF9B}"/>
              </a:ext>
            </a:extLst>
          </p:cNvPr>
          <p:cNvSpPr txBox="1"/>
          <p:nvPr/>
        </p:nvSpPr>
        <p:spPr>
          <a:xfrm>
            <a:off x="1406100" y="2691344"/>
            <a:ext cx="43063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문제 설명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9B0569-E5BD-5EEE-5A1B-6C40E386C667}"/>
              </a:ext>
            </a:extLst>
          </p:cNvPr>
          <p:cNvSpPr txBox="1"/>
          <p:nvPr/>
        </p:nvSpPr>
        <p:spPr>
          <a:xfrm>
            <a:off x="1406099" y="3107445"/>
            <a:ext cx="516455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개의 자연수가 주어짐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주어진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개의 수 중 소수의 개수를 구하기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3A4F1-FCC1-A2E3-787C-0028BCC99CFA}"/>
              </a:ext>
            </a:extLst>
          </p:cNvPr>
          <p:cNvSpPr txBox="1"/>
          <p:nvPr/>
        </p:nvSpPr>
        <p:spPr>
          <a:xfrm>
            <a:off x="1406099" y="4108321"/>
            <a:ext cx="34718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제약 조건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845CB5D-FF60-7B39-8B7A-8F14CE7DD70A}"/>
                  </a:ext>
                </a:extLst>
              </p:cNvPr>
              <p:cNvSpPr txBox="1"/>
              <p:nvPr/>
            </p:nvSpPr>
            <p:spPr>
              <a:xfrm>
                <a:off x="1406098" y="4524422"/>
                <a:ext cx="3471804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1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N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100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주어지는 수는 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1,000 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이하 자연수</a:t>
                </a:r>
                <a:endPara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가는" panose="020B0600000101010101" pitchFamily="34" charset="-127"/>
                  <a:ea typeface="마루 부리OTF 가는" panose="020B0600000101010101" pitchFamily="34" charset="-127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845CB5D-FF60-7B39-8B7A-8F14CE7DD7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098" y="4524422"/>
                <a:ext cx="3471804" cy="800219"/>
              </a:xfrm>
              <a:prstGeom prst="rect">
                <a:avLst/>
              </a:prstGeom>
              <a:blipFill>
                <a:blip r:embed="rId4"/>
                <a:stretch>
                  <a:fillRect l="-703" b="-99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그룹 26">
            <a:extLst>
              <a:ext uri="{FF2B5EF4-FFF2-40B4-BE49-F238E27FC236}">
                <a16:creationId xmlns:a16="http://schemas.microsoft.com/office/drawing/2014/main" id="{C601D089-2019-982A-4CCA-60585FA9E109}"/>
              </a:ext>
            </a:extLst>
          </p:cNvPr>
          <p:cNvGrpSpPr/>
          <p:nvPr/>
        </p:nvGrpSpPr>
        <p:grpSpPr>
          <a:xfrm>
            <a:off x="5965496" y="2200047"/>
            <a:ext cx="252549" cy="3932343"/>
            <a:chOff x="5266200" y="2270759"/>
            <a:chExt cx="252549" cy="3932343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0AE9E1DB-16A1-AB1F-DCB0-4D2B3E8029D0}"/>
                </a:ext>
              </a:extLst>
            </p:cNvPr>
            <p:cNvGrpSpPr/>
            <p:nvPr/>
          </p:nvGrpSpPr>
          <p:grpSpPr>
            <a:xfrm>
              <a:off x="5266200" y="2270759"/>
              <a:ext cx="252549" cy="3932343"/>
              <a:chOff x="6803262" y="1384440"/>
              <a:chExt cx="252549" cy="4676726"/>
            </a:xfrm>
          </p:grpSpPr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26067CA2-1196-DC20-62FB-BD9A386FFC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EFB684FC-3092-E4D1-191C-00877C99EA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06C74F1-A49F-C918-CDC6-3A1F1A2518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6200" y="2470256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7AA7D6F0-BE1C-0DAD-C6C2-44ACD0F23DD8}"/>
              </a:ext>
            </a:extLst>
          </p:cNvPr>
          <p:cNvSpPr txBox="1"/>
          <p:nvPr/>
        </p:nvSpPr>
        <p:spPr>
          <a:xfrm>
            <a:off x="7049625" y="2073338"/>
            <a:ext cx="451552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#</a:t>
            </a:r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include</a:t>
            </a:r>
            <a:r>
              <a:rPr lang="en-US" altLang="ko-KR" sz="14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400" b="0" i="0" dirty="0">
                <a:solidFill>
                  <a:srgbClr val="032F62"/>
                </a:solidFill>
                <a:effectLst/>
                <a:latin typeface="Lucida Console" panose="020B0609040504020204" pitchFamily="49" charset="0"/>
              </a:rPr>
              <a:t>&lt;iostream&gt;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</a:p>
          <a:p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using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namespace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std; </a:t>
            </a:r>
          </a:p>
          <a:p>
            <a:endParaRPr lang="en-US" altLang="ko-KR" sz="1400" b="0" i="0" dirty="0">
              <a:solidFill>
                <a:srgbClr val="24292E"/>
              </a:solidFill>
              <a:effectLst/>
              <a:latin typeface="Lucida Console" panose="020B0609040504020204" pitchFamily="49" charset="0"/>
            </a:endParaRPr>
          </a:p>
          <a:p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400" b="0" i="0" dirty="0" err="1">
                <a:solidFill>
                  <a:srgbClr val="6F42C1"/>
                </a:solidFill>
                <a:effectLst/>
                <a:latin typeface="Lucida Console" panose="020B0609040504020204" pitchFamily="49" charset="0"/>
              </a:rPr>
              <a:t>isPrime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A) { </a:t>
            </a:r>
          </a:p>
          <a:p>
            <a:r>
              <a:rPr lang="en-US" altLang="ko-KR" sz="1400" dirty="0">
                <a:solidFill>
                  <a:srgbClr val="24292E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if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(A == </a:t>
            </a:r>
            <a:r>
              <a:rPr lang="en-US" altLang="ko-KR" sz="14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1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) </a:t>
            </a:r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return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4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0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; </a:t>
            </a:r>
          </a:p>
          <a:p>
            <a:r>
              <a:rPr lang="en-US" altLang="ko-KR" sz="1400" dirty="0">
                <a:solidFill>
                  <a:srgbClr val="24292E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for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=</a:t>
            </a:r>
            <a:r>
              <a:rPr lang="en-US" altLang="ko-KR" sz="14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2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;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*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&lt;= A;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++){ </a:t>
            </a:r>
          </a:p>
          <a:p>
            <a:r>
              <a:rPr lang="en-US" altLang="ko-KR" sz="1400" dirty="0">
                <a:solidFill>
                  <a:srgbClr val="24292E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if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(A %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== </a:t>
            </a:r>
            <a:r>
              <a:rPr lang="en-US" altLang="ko-KR" sz="14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0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) </a:t>
            </a:r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return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4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0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; </a:t>
            </a:r>
          </a:p>
          <a:p>
            <a:r>
              <a:rPr lang="en-US" altLang="ko-KR" sz="1400" dirty="0">
                <a:solidFill>
                  <a:srgbClr val="24292E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} </a:t>
            </a:r>
          </a:p>
          <a:p>
            <a:r>
              <a:rPr lang="en-US" altLang="ko-KR" sz="1400" dirty="0">
                <a:solidFill>
                  <a:srgbClr val="24292E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return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4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1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; </a:t>
            </a:r>
          </a:p>
          <a:p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} </a:t>
            </a:r>
          </a:p>
          <a:p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400" b="0" i="0" dirty="0">
                <a:solidFill>
                  <a:srgbClr val="6F42C1"/>
                </a:solidFill>
                <a:effectLst/>
                <a:latin typeface="Lucida Console" panose="020B0609040504020204" pitchFamily="49" charset="0"/>
              </a:rPr>
              <a:t>main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() { </a:t>
            </a:r>
          </a:p>
          <a:p>
            <a:r>
              <a:rPr lang="en-US" altLang="ko-KR" sz="1400" dirty="0">
                <a:solidFill>
                  <a:srgbClr val="24292E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N,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ans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=</a:t>
            </a:r>
            <a:r>
              <a:rPr lang="en-US" altLang="ko-KR" sz="14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0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; </a:t>
            </a:r>
          </a:p>
          <a:p>
            <a:r>
              <a:rPr lang="en-US" altLang="ko-KR" sz="1400" dirty="0">
                <a:solidFill>
                  <a:srgbClr val="24292E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cin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&gt;&gt; N; </a:t>
            </a:r>
          </a:p>
          <a:p>
            <a:r>
              <a:rPr lang="en-US" altLang="ko-KR" sz="1400" dirty="0">
                <a:solidFill>
                  <a:srgbClr val="24292E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for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=</a:t>
            </a:r>
            <a:r>
              <a:rPr lang="en-US" altLang="ko-KR" sz="14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0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;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&lt; N;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++){ </a:t>
            </a:r>
          </a:p>
          <a:p>
            <a:r>
              <a:rPr lang="en-US" altLang="ko-KR" sz="1400" dirty="0">
                <a:solidFill>
                  <a:srgbClr val="24292E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x;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cin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&gt;&gt; x; </a:t>
            </a:r>
          </a:p>
          <a:p>
            <a:r>
              <a:rPr lang="en-US" altLang="ko-KR" sz="1400" dirty="0">
                <a:solidFill>
                  <a:srgbClr val="24292E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ans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+= </a:t>
            </a:r>
            <a:r>
              <a:rPr lang="en-US" altLang="ko-KR" sz="1400" b="0" i="0" dirty="0" err="1">
                <a:solidFill>
                  <a:srgbClr val="E36209"/>
                </a:solidFill>
                <a:effectLst/>
                <a:latin typeface="Lucida Console" panose="020B0609040504020204" pitchFamily="49" charset="0"/>
              </a:rPr>
              <a:t>isPrime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(x); </a:t>
            </a:r>
          </a:p>
          <a:p>
            <a:r>
              <a:rPr lang="en-US" altLang="ko-KR" sz="1400" dirty="0">
                <a:solidFill>
                  <a:srgbClr val="24292E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} </a:t>
            </a:r>
          </a:p>
          <a:p>
            <a:r>
              <a:rPr lang="en-US" altLang="ko-KR" sz="1400" dirty="0">
                <a:solidFill>
                  <a:srgbClr val="24292E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cout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&lt;&lt;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ans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; </a:t>
            </a:r>
          </a:p>
          <a:p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}</a:t>
            </a:r>
            <a:endParaRPr lang="en-US" altLang="ko-K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803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64BF8-179A-9E6E-365E-688C35B98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57282323-5F67-61D7-237F-9DE55B3E9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9618034-5FCB-9D0C-3924-8C5E75BBD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9</a:t>
            </a:fld>
            <a:endParaRPr lang="ko-KR" altLang="en-US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2DFFE854-60F3-9056-F348-8197779B85A8}"/>
              </a:ext>
            </a:extLst>
          </p:cNvPr>
          <p:cNvGrpSpPr/>
          <p:nvPr/>
        </p:nvGrpSpPr>
        <p:grpSpPr>
          <a:xfrm>
            <a:off x="5052397" y="1545201"/>
            <a:ext cx="2087205" cy="430887"/>
            <a:chOff x="1097620" y="1639465"/>
            <a:chExt cx="2087205" cy="430887"/>
          </a:xfrm>
        </p:grpSpPr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198BB740-ED84-822F-5674-03A2E1082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97620" y="1740314"/>
              <a:ext cx="257841" cy="330037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E2FD903-C010-542B-596E-B68E9CDFD879}"/>
                </a:ext>
              </a:extLst>
            </p:cNvPr>
            <p:cNvSpPr txBox="1"/>
            <p:nvPr/>
          </p:nvSpPr>
          <p:spPr>
            <a:xfrm>
              <a:off x="1355463" y="1639465"/>
              <a:ext cx="182936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소수 찾기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(BOJ #1978)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E0A939D7-6DBA-C0F3-7A2E-866EB310368B}"/>
              </a:ext>
            </a:extLst>
          </p:cNvPr>
          <p:cNvGrpSpPr/>
          <p:nvPr/>
        </p:nvGrpSpPr>
        <p:grpSpPr>
          <a:xfrm>
            <a:off x="722811" y="577310"/>
            <a:ext cx="2446878" cy="750097"/>
            <a:chOff x="1271451" y="2719618"/>
            <a:chExt cx="2446878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BB76E0C-3594-F6BF-3809-4DF3B2DA4FF8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7B23939-0F7F-9E86-DCF5-EF8681225E8C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시간 복잡도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0601ADA-5274-3B19-5213-B6D9EB329C5A}"/>
                </a:ext>
              </a:extLst>
            </p:cNvPr>
            <p:cNvSpPr txBox="1"/>
            <p:nvPr/>
          </p:nvSpPr>
          <p:spPr>
            <a:xfrm>
              <a:off x="1382177" y="3192716"/>
              <a:ext cx="23361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&lt;Time Complexity&gt;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계산 예시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E5293D5-6F68-D676-8FDE-DF8A2A9A67BF}"/>
              </a:ext>
            </a:extLst>
          </p:cNvPr>
          <p:cNvGrpSpPr/>
          <p:nvPr/>
        </p:nvGrpSpPr>
        <p:grpSpPr>
          <a:xfrm>
            <a:off x="5965496" y="2200047"/>
            <a:ext cx="252549" cy="3932343"/>
            <a:chOff x="5266200" y="2270759"/>
            <a:chExt cx="252549" cy="3932343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F3CD9949-905F-CD8B-4448-6B687DF35223}"/>
                </a:ext>
              </a:extLst>
            </p:cNvPr>
            <p:cNvGrpSpPr/>
            <p:nvPr/>
          </p:nvGrpSpPr>
          <p:grpSpPr>
            <a:xfrm>
              <a:off x="5266200" y="2270759"/>
              <a:ext cx="252549" cy="3932343"/>
              <a:chOff x="6803262" y="1384440"/>
              <a:chExt cx="252549" cy="4676726"/>
            </a:xfrm>
          </p:grpSpPr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B6DC5B7A-37CB-AC90-F597-50EC4F5FD6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F52C6E8E-EA69-D459-BCD8-715D69CCBE4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74B0B766-D9DB-F483-CEE7-19568E52EA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6200" y="2470256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565D0A37-5E36-D53C-35A7-623938BB7EC0}"/>
              </a:ext>
            </a:extLst>
          </p:cNvPr>
          <p:cNvSpPr txBox="1"/>
          <p:nvPr/>
        </p:nvSpPr>
        <p:spPr>
          <a:xfrm>
            <a:off x="7049625" y="2073338"/>
            <a:ext cx="451552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#</a:t>
            </a:r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include</a:t>
            </a:r>
            <a:r>
              <a:rPr lang="en-US" altLang="ko-KR" sz="14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400" b="0" i="0" dirty="0">
                <a:solidFill>
                  <a:srgbClr val="032F62"/>
                </a:solidFill>
                <a:effectLst/>
                <a:latin typeface="Lucida Console" panose="020B0609040504020204" pitchFamily="49" charset="0"/>
              </a:rPr>
              <a:t>&lt;iostream&gt;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</a:p>
          <a:p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using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namespace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std; </a:t>
            </a:r>
          </a:p>
          <a:p>
            <a:endParaRPr lang="en-US" altLang="ko-KR" sz="1400" b="0" i="0" dirty="0">
              <a:solidFill>
                <a:srgbClr val="24292E"/>
              </a:solidFill>
              <a:effectLst/>
              <a:latin typeface="Lucida Console" panose="020B0609040504020204" pitchFamily="49" charset="0"/>
            </a:endParaRPr>
          </a:p>
          <a:p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400" b="0" i="0" dirty="0" err="1">
                <a:solidFill>
                  <a:srgbClr val="6F42C1"/>
                </a:solidFill>
                <a:effectLst/>
                <a:latin typeface="Lucida Console" panose="020B0609040504020204" pitchFamily="49" charset="0"/>
              </a:rPr>
              <a:t>isPrime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A) { </a:t>
            </a:r>
          </a:p>
          <a:p>
            <a:r>
              <a:rPr lang="en-US" altLang="ko-KR" sz="1400" dirty="0">
                <a:solidFill>
                  <a:srgbClr val="24292E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if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(A == </a:t>
            </a:r>
            <a:r>
              <a:rPr lang="en-US" altLang="ko-KR" sz="14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1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) </a:t>
            </a:r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return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4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0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; </a:t>
            </a:r>
          </a:p>
          <a:p>
            <a:r>
              <a:rPr lang="en-US" altLang="ko-KR" sz="1400" dirty="0">
                <a:solidFill>
                  <a:srgbClr val="24292E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for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=</a:t>
            </a:r>
            <a:r>
              <a:rPr lang="en-US" altLang="ko-KR" sz="14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2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;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*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&lt;= A;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++){ </a:t>
            </a:r>
          </a:p>
          <a:p>
            <a:r>
              <a:rPr lang="en-US" altLang="ko-KR" sz="1400" dirty="0">
                <a:solidFill>
                  <a:srgbClr val="24292E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if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(A %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== </a:t>
            </a:r>
            <a:r>
              <a:rPr lang="en-US" altLang="ko-KR" sz="14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0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) </a:t>
            </a:r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return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4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0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; </a:t>
            </a:r>
          </a:p>
          <a:p>
            <a:r>
              <a:rPr lang="en-US" altLang="ko-KR" sz="1400" dirty="0">
                <a:solidFill>
                  <a:srgbClr val="24292E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} </a:t>
            </a:r>
          </a:p>
          <a:p>
            <a:r>
              <a:rPr lang="en-US" altLang="ko-KR" sz="1400" dirty="0">
                <a:solidFill>
                  <a:srgbClr val="24292E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return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4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1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; </a:t>
            </a:r>
          </a:p>
          <a:p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} </a:t>
            </a:r>
          </a:p>
          <a:p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400" b="0" i="0" dirty="0">
                <a:solidFill>
                  <a:srgbClr val="6F42C1"/>
                </a:solidFill>
                <a:effectLst/>
                <a:latin typeface="Lucida Console" panose="020B0609040504020204" pitchFamily="49" charset="0"/>
              </a:rPr>
              <a:t>main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() { </a:t>
            </a:r>
          </a:p>
          <a:p>
            <a:r>
              <a:rPr lang="en-US" altLang="ko-KR" sz="1400" dirty="0">
                <a:solidFill>
                  <a:srgbClr val="24292E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N,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ans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=</a:t>
            </a:r>
            <a:r>
              <a:rPr lang="en-US" altLang="ko-KR" sz="14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0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; </a:t>
            </a:r>
          </a:p>
          <a:p>
            <a:r>
              <a:rPr lang="en-US" altLang="ko-KR" sz="1400" dirty="0">
                <a:solidFill>
                  <a:srgbClr val="24292E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cin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&gt;&gt; N; </a:t>
            </a:r>
          </a:p>
          <a:p>
            <a:r>
              <a:rPr lang="en-US" altLang="ko-KR" sz="1400" dirty="0">
                <a:solidFill>
                  <a:srgbClr val="24292E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for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=</a:t>
            </a:r>
            <a:r>
              <a:rPr lang="en-US" altLang="ko-KR" sz="14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0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;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&lt; N;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++){ </a:t>
            </a:r>
          </a:p>
          <a:p>
            <a:r>
              <a:rPr lang="en-US" altLang="ko-KR" sz="1400" dirty="0">
                <a:solidFill>
                  <a:srgbClr val="24292E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x;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cin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&gt;&gt; x; </a:t>
            </a:r>
          </a:p>
          <a:p>
            <a:r>
              <a:rPr lang="en-US" altLang="ko-KR" sz="1400" dirty="0">
                <a:solidFill>
                  <a:srgbClr val="24292E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ans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+= </a:t>
            </a:r>
            <a:r>
              <a:rPr lang="en-US" altLang="ko-KR" sz="1400" b="0" i="0" dirty="0" err="1">
                <a:solidFill>
                  <a:srgbClr val="E36209"/>
                </a:solidFill>
                <a:effectLst/>
                <a:latin typeface="Lucida Console" panose="020B0609040504020204" pitchFamily="49" charset="0"/>
              </a:rPr>
              <a:t>isPrime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(x); </a:t>
            </a:r>
          </a:p>
          <a:p>
            <a:r>
              <a:rPr lang="en-US" altLang="ko-KR" sz="1400" dirty="0">
                <a:solidFill>
                  <a:srgbClr val="24292E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} </a:t>
            </a:r>
          </a:p>
          <a:p>
            <a:r>
              <a:rPr lang="en-US" altLang="ko-KR" sz="1400" dirty="0">
                <a:solidFill>
                  <a:srgbClr val="24292E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cout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&lt;&lt;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ans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; </a:t>
            </a:r>
          </a:p>
          <a:p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}</a:t>
            </a:r>
            <a:endParaRPr lang="en-US" altLang="ko-K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93CFE-32D0-7FB8-AC51-812D73780C03}"/>
              </a:ext>
            </a:extLst>
          </p:cNvPr>
          <p:cNvSpPr txBox="1"/>
          <p:nvPr/>
        </p:nvSpPr>
        <p:spPr>
          <a:xfrm>
            <a:off x="833537" y="2900677"/>
            <a:ext cx="43063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연산 횟수 계산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4210EC-2836-D2BC-4757-FDF1317C757B}"/>
                  </a:ext>
                </a:extLst>
              </p:cNvPr>
              <p:cNvSpPr txBox="1"/>
              <p:nvPr/>
            </p:nvSpPr>
            <p:spPr>
              <a:xfrm>
                <a:off x="833536" y="3316778"/>
                <a:ext cx="5164559" cy="202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isPrime() 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함수의 연산 횟수는 약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ko-KR" altLang="en-US" sz="16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가는" panose="020B0600000101010101" pitchFamily="34" charset="-127"/>
                          </a:rPr>
                        </m:ctrlPr>
                      </m:radPr>
                      <m:deg/>
                      <m:e>
                        <m:r>
                          <a:rPr lang="en-US" altLang="ko-KR" sz="16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가는" panose="020B0600000101010101" pitchFamily="34" charset="-127"/>
                          </a:rPr>
                          <m:t>𝐴</m:t>
                        </m:r>
                      </m:e>
                    </m:rad>
                  </m:oMath>
                </a14:m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번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가는" panose="020B0600000101010101" pitchFamily="34" charset="-127"/>
                  <a:ea typeface="마루 부리OTF 가는" panose="020B0600000101010101" pitchFamily="34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주어진 자연수를 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A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라 하면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,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연산 횟수 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T(N)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sz="16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ad>
                          <m:radPr>
                            <m:degHide m:val="on"/>
                            <m:ctrlPr>
                              <a:rPr lang="en-US" altLang="ko-KR" sz="16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16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rad>
                      </m:e>
                    </m:nary>
                    <m:r>
                      <a:rPr lang="en-US" altLang="ko-KR" sz="16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≤ </m:t>
                    </m:r>
                    <m:r>
                      <a:rPr lang="en-US" altLang="ko-KR" sz="16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ad>
                      <m:radPr>
                        <m:degHide m:val="on"/>
                        <m:ctrlPr>
                          <a:rPr lang="en-US" altLang="ko-KR" sz="16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ko-KR" sz="16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rad>
                  </m:oMath>
                </a14:m>
                <a:endPara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가는" panose="020B0600000101010101" pitchFamily="34" charset="-127"/>
                  <a:ea typeface="마루 부리OTF 가는" panose="020B0600000101010101" pitchFamily="34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A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의 최댓값은 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1,000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이므로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, T(N)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ko-KR" sz="16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ko-KR" sz="16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1000</m:t>
                        </m:r>
                      </m:e>
                    </m:rad>
                    <m:r>
                      <a:rPr lang="en-US" altLang="ko-KR" sz="16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endPara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가는" panose="020B0600000101010101" pitchFamily="34" charset="-127"/>
                  <a:ea typeface="마루 부리OTF 가는" panose="020B0600000101010101" pitchFamily="34" charset="-127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4210EC-2836-D2BC-4757-FDF1317C75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36" y="3316778"/>
                <a:ext cx="5164559" cy="2024721"/>
              </a:xfrm>
              <a:prstGeom prst="rect">
                <a:avLst/>
              </a:prstGeom>
              <a:blipFill>
                <a:blip r:embed="rId4"/>
                <a:stretch>
                  <a:fillRect l="-472" b="-66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2888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D5F43-A56F-8800-6797-CD68BDCC0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C7020C0F-53FA-E505-163D-CE555798B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47746E7-91B4-1B21-CD9E-3A59FDFE8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A63B9A5-0257-A58D-DFDB-0BA7C006C652}"/>
                  </a:ext>
                </a:extLst>
              </p:cNvPr>
              <p:cNvSpPr txBox="1"/>
              <p:nvPr/>
            </p:nvSpPr>
            <p:spPr>
              <a:xfrm>
                <a:off x="833537" y="2286358"/>
                <a:ext cx="7311617" cy="31393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200" dirty="0"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함수에서 가장 중요한 정보</a:t>
                </a:r>
                <a:r>
                  <a:rPr lang="en-US" altLang="ko-KR" sz="2200" dirty="0"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: </a:t>
                </a:r>
                <a:r>
                  <a:rPr lang="ko-KR" altLang="en-US" sz="2200" dirty="0" err="1">
                    <a:solidFill>
                      <a:srgbClr val="5F2CC6"/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최고차항의</a:t>
                </a:r>
                <a:r>
                  <a:rPr lang="ko-KR" altLang="en-US" sz="2200" dirty="0">
                    <a:solidFill>
                      <a:srgbClr val="5F2CC6"/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 </a:t>
                </a:r>
                <a:r>
                  <a:rPr lang="ko-KR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highlight>
                      <a:srgbClr val="ECE4F9"/>
                    </a:highlight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차수</a:t>
                </a:r>
                <a:endParaRPr lang="en-US" altLang="ko-KR" sz="2200" dirty="0">
                  <a:solidFill>
                    <a:schemeClr val="tx1">
                      <a:lumMod val="85000"/>
                      <a:lumOff val="15000"/>
                    </a:schemeClr>
                  </a:solidFill>
                  <a:highlight>
                    <a:srgbClr val="ECE4F9"/>
                  </a:highlight>
                  <a:latin typeface="마루 부리OTF 중간" panose="020B0600000101010101" pitchFamily="34" charset="-127"/>
                  <a:ea typeface="마루 부리OTF 중간" panose="020B0600000101010101" pitchFamily="34" charset="-127"/>
                </a:endParaRPr>
              </a:p>
              <a:p>
                <a:endParaRPr lang="en-US" altLang="ko-KR" sz="2200" dirty="0">
                  <a:solidFill>
                    <a:schemeClr val="tx1">
                      <a:lumMod val="85000"/>
                      <a:lumOff val="15000"/>
                    </a:schemeClr>
                  </a:solidFill>
                  <a:highlight>
                    <a:srgbClr val="ECE4F9"/>
                  </a:highlight>
                  <a:latin typeface="마루 부리OTF 중간" panose="020B0600000101010101" pitchFamily="34" charset="-127"/>
                  <a:ea typeface="마루 부리OTF 중간" panose="020B0600000101010101" pitchFamily="34" charset="-127"/>
                </a:endParaRPr>
              </a:p>
              <a:p>
                <a:r>
                  <a:rPr lang="en-US" altLang="ko-KR" sz="2200" dirty="0"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 - </a:t>
                </a:r>
                <a14:m>
                  <m:oMath xmlns:m="http://schemas.openxmlformats.org/officeDocument/2006/math">
                    <m:r>
                      <a:rPr lang="en-US" altLang="ko-KR" sz="22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𝑓</m:t>
                    </m:r>
                    <m:d>
                      <m:dPr>
                        <m:ctrlPr>
                          <a:rPr lang="en-US" altLang="ko-KR" sz="2200" b="0" i="1" smtClean="0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dPr>
                      <m:e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𝑥</m:t>
                        </m:r>
                      </m:e>
                    </m:d>
                    <m:r>
                      <a:rPr lang="en-US" altLang="ko-KR" sz="22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=3</m:t>
                    </m:r>
                    <m:sSup>
                      <m:sSupPr>
                        <m:ctrlPr>
                          <a:rPr lang="en-US" altLang="ko-KR" sz="2200" b="0" i="1" smtClean="0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sSupPr>
                      <m:e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𝑥</m:t>
                        </m:r>
                      </m:e>
                      <m:sup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2</m:t>
                        </m:r>
                      </m:sup>
                    </m:sSup>
                    <m:r>
                      <a:rPr lang="en-US" altLang="ko-KR" sz="22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+10,  </m:t>
                    </m:r>
                    <m:r>
                      <a:rPr lang="en-US" altLang="ko-KR" sz="22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𝑔</m:t>
                    </m:r>
                    <m:d>
                      <m:dPr>
                        <m:ctrlPr>
                          <a:rPr lang="en-US" altLang="ko-KR" sz="2200" b="0" i="1" smtClean="0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dPr>
                      <m:e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𝑥</m:t>
                        </m:r>
                      </m:e>
                    </m:d>
                    <m:r>
                      <a:rPr lang="en-US" altLang="ko-KR" sz="22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=100</m:t>
                    </m:r>
                    <m:r>
                      <a:rPr lang="en-US" altLang="ko-KR" sz="22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𝑥</m:t>
                    </m:r>
                  </m:oMath>
                </a14:m>
                <a:endParaRPr lang="en-US" altLang="ko-KR" sz="2200" dirty="0">
                  <a:solidFill>
                    <a:schemeClr val="tx1">
                      <a:lumMod val="85000"/>
                      <a:lumOff val="15000"/>
                    </a:schemeClr>
                  </a:solidFill>
                  <a:highlight>
                    <a:srgbClr val="ECE4F9"/>
                  </a:highlight>
                  <a:latin typeface="마루 부리OTF 중간" panose="020B0600000101010101" pitchFamily="34" charset="-127"/>
                  <a:ea typeface="마루 부리OTF 중간" panose="020B0600000101010101" pitchFamily="34" charset="-127"/>
                </a:endParaRPr>
              </a:p>
              <a:p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	- </a:t>
                </a:r>
                <a14:m>
                  <m:oMath xmlns:m="http://schemas.openxmlformats.org/officeDocument/2006/math"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𝑓</m:t>
                    </m:r>
                    <m:d>
                      <m:dPr>
                        <m:ctrlP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dPr>
                      <m:e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1</m:t>
                        </m:r>
                      </m:e>
                    </m:d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=13</m:t>
                    </m:r>
                  </m:oMath>
                </a14:m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			</a:t>
                </a:r>
                <a14:m>
                  <m:oMath xmlns:m="http://schemas.openxmlformats.org/officeDocument/2006/math">
                    <m:r>
                      <a:rPr lang="en-US" altLang="ko-KR" sz="2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𝑔</m:t>
                    </m:r>
                    <m:d>
                      <m:dPr>
                        <m:ctrlPr>
                          <a:rPr lang="en-US" altLang="ko-KR" sz="2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dPr>
                      <m:e>
                        <m:r>
                          <a:rPr lang="en-US" altLang="ko-KR" sz="2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1</m:t>
                        </m:r>
                      </m:e>
                    </m:d>
                    <m:r>
                      <a:rPr lang="en-US" altLang="ko-KR" sz="2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=100</m:t>
                    </m:r>
                  </m:oMath>
                </a14:m>
                <a:endParaRPr lang="en-US" altLang="ko-KR" sz="2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endParaRPr>
              </a:p>
              <a:p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	- </a:t>
                </a:r>
                <a14:m>
                  <m:oMath xmlns:m="http://schemas.openxmlformats.org/officeDocument/2006/math"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𝑓</m:t>
                    </m:r>
                    <m:d>
                      <m:dPr>
                        <m:ctrlP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dPr>
                      <m:e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10</m:t>
                        </m:r>
                      </m:e>
                    </m:d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=310</m:t>
                    </m:r>
                  </m:oMath>
                </a14:m>
                <a:r>
                  <a:rPr lang="en-US" altLang="ko-KR" sz="22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			</a:t>
                </a:r>
                <a14:m>
                  <m:oMath xmlns:m="http://schemas.openxmlformats.org/officeDocument/2006/math">
                    <m:r>
                      <a:rPr lang="en-US" altLang="ko-KR" sz="2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𝑔</m:t>
                    </m:r>
                    <m:d>
                      <m:dPr>
                        <m:ctrlPr>
                          <a:rPr lang="en-US" altLang="ko-KR" sz="2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dPr>
                      <m:e>
                        <m:r>
                          <a:rPr lang="en-US" altLang="ko-KR" sz="2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10</m:t>
                        </m:r>
                      </m:e>
                    </m:d>
                    <m:r>
                      <a:rPr lang="en-US" altLang="ko-KR" sz="2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=1,000</m:t>
                    </m:r>
                  </m:oMath>
                </a14:m>
                <a:endParaRPr lang="en-US" altLang="ko-KR" sz="22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endParaRPr>
              </a:p>
              <a:p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	- </a:t>
                </a:r>
                <a14:m>
                  <m:oMath xmlns:m="http://schemas.openxmlformats.org/officeDocument/2006/math"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𝑓</m:t>
                    </m:r>
                    <m:d>
                      <m:dPr>
                        <m:ctrlP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dPr>
                      <m:e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100</m:t>
                        </m:r>
                      </m:e>
                    </m:d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=30,010</m:t>
                    </m:r>
                  </m:oMath>
                </a14:m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ko-KR" sz="2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𝑔</m:t>
                    </m:r>
                    <m:d>
                      <m:dPr>
                        <m:ctrlPr>
                          <a:rPr lang="en-US" altLang="ko-KR" sz="2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dPr>
                      <m:e>
                        <m:r>
                          <a:rPr lang="en-US" altLang="ko-KR" sz="2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100</m:t>
                        </m:r>
                      </m:e>
                    </m:d>
                    <m:r>
                      <a:rPr lang="en-US" altLang="ko-KR" sz="2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=10,000</m:t>
                    </m:r>
                  </m:oMath>
                </a14:m>
                <a:endParaRPr lang="en-US" altLang="ko-KR" sz="2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endParaRPr>
              </a:p>
              <a:p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	- </a:t>
                </a:r>
                <a14:m>
                  <m:oMath xmlns:m="http://schemas.openxmlformats.org/officeDocument/2006/math"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𝑓</m:t>
                    </m:r>
                    <m:d>
                      <m:dPr>
                        <m:ctrlP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dPr>
                      <m:e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1000</m:t>
                        </m:r>
                      </m:e>
                    </m:d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=3,000,010</m:t>
                    </m:r>
                  </m:oMath>
                </a14:m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ko-KR" sz="2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𝑔</m:t>
                    </m:r>
                    <m:d>
                      <m:dPr>
                        <m:ctrlPr>
                          <a:rPr lang="en-US" altLang="ko-KR" sz="2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dPr>
                      <m:e>
                        <m:r>
                          <a:rPr lang="en-US" altLang="ko-KR" sz="2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1000</m:t>
                        </m:r>
                      </m:e>
                    </m:d>
                    <m:r>
                      <a:rPr lang="en-US" altLang="ko-KR" sz="2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=100,000</m:t>
                    </m:r>
                  </m:oMath>
                </a14:m>
                <a:endParaRPr lang="en-US" altLang="ko-KR" sz="2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endParaRPr>
              </a:p>
              <a:p>
                <a:endParaRPr lang="en-US" altLang="ko-KR" sz="2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endParaRPr>
              </a:p>
              <a:p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 - x</a:t>
                </a:r>
                <a:r>
                  <a:rPr lang="ko-KR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가 </a:t>
                </a:r>
                <a:r>
                  <a:rPr lang="ko-KR" altLang="en-US" sz="2200" dirty="0">
                    <a:solidFill>
                      <a:srgbClr val="5F2CC6"/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특정 수보다 크면</a:t>
                </a:r>
                <a:r>
                  <a:rPr lang="en-US" altLang="ko-KR" sz="2200" dirty="0">
                    <a:solidFill>
                      <a:srgbClr val="5F2CC6"/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, </a:t>
                </a:r>
                <a:r>
                  <a:rPr lang="ko-KR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highlight>
                      <a:srgbClr val="ECE4F9"/>
                    </a:highlight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항상 </a:t>
                </a:r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highlight>
                      <a:srgbClr val="ECE4F9"/>
                    </a:highlight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f(x)&gt;g(x)</a:t>
                </a:r>
                <a:r>
                  <a:rPr lang="ko-KR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highlight>
                      <a:srgbClr val="ECE4F9"/>
                    </a:highlight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를 만족함</a:t>
                </a:r>
                <a:endParaRPr lang="en-US" altLang="ko-KR" sz="2200" dirty="0">
                  <a:solidFill>
                    <a:schemeClr val="tx1">
                      <a:lumMod val="85000"/>
                      <a:lumOff val="15000"/>
                    </a:schemeClr>
                  </a:solidFill>
                  <a:highlight>
                    <a:srgbClr val="ECE4F9"/>
                  </a:highlight>
                  <a:latin typeface="마루 부리OTF 중간" panose="020B0600000101010101" pitchFamily="34" charset="-127"/>
                  <a:ea typeface="마루 부리OTF 중간" panose="020B0600000101010101" pitchFamily="34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A63B9A5-0257-A58D-DFDB-0BA7C006C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37" y="2286358"/>
                <a:ext cx="7311617" cy="3139321"/>
              </a:xfrm>
              <a:prstGeom prst="rect">
                <a:avLst/>
              </a:prstGeom>
              <a:blipFill>
                <a:blip r:embed="rId2"/>
                <a:stretch>
                  <a:fillRect l="-1084" t="-1553" b="-29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그룹 3">
            <a:extLst>
              <a:ext uri="{FF2B5EF4-FFF2-40B4-BE49-F238E27FC236}">
                <a16:creationId xmlns:a16="http://schemas.microsoft.com/office/drawing/2014/main" id="{B127AC42-0454-75DC-A2B3-A89E65631793}"/>
              </a:ext>
            </a:extLst>
          </p:cNvPr>
          <p:cNvGrpSpPr/>
          <p:nvPr/>
        </p:nvGrpSpPr>
        <p:grpSpPr>
          <a:xfrm>
            <a:off x="722811" y="577310"/>
            <a:ext cx="2595958" cy="750097"/>
            <a:chOff x="1271451" y="2719618"/>
            <a:chExt cx="2595958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C7FA35D-8338-66AC-39EB-93558B3A4989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D740C75-F5E5-8F6D-BCE8-C4098EF870FC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시간 복잡도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CC9CF67-EBAC-1635-FFBC-6D1EA69E1D03}"/>
                </a:ext>
              </a:extLst>
            </p:cNvPr>
            <p:cNvSpPr txBox="1"/>
            <p:nvPr/>
          </p:nvSpPr>
          <p:spPr>
            <a:xfrm>
              <a:off x="1382177" y="3192716"/>
              <a:ext cx="24852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&lt;Time Complexity&gt;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점근 표기법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3235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7E665-00B1-3876-DDAB-1EBD44F03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7A270DE6-1677-F88C-97AE-C8DA6AE87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7D68F52-BD92-4CEE-524F-1A3C996F1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AEFBC9-7CB5-9949-7D36-09322D3E03E1}"/>
                  </a:ext>
                </a:extLst>
              </p:cNvPr>
              <p:cNvSpPr txBox="1"/>
              <p:nvPr/>
            </p:nvSpPr>
            <p:spPr>
              <a:xfrm>
                <a:off x="833537" y="2286358"/>
                <a:ext cx="7221849" cy="28443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시간</a:t>
                </a:r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 </a:t>
                </a:r>
                <a:r>
                  <a:rPr lang="ko-KR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복잡도는 대개 </a:t>
                </a:r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Big-O </a:t>
                </a:r>
                <a:r>
                  <a:rPr lang="ko-KR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표기법을 사용해서 표기합니다</a:t>
                </a:r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.</a:t>
                </a:r>
              </a:p>
              <a:p>
                <a:endParaRPr lang="en-US" altLang="ko-KR" sz="2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endParaRPr>
              </a:p>
              <a:p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 - </a:t>
                </a:r>
                <a14:m>
                  <m:oMath xmlns:m="http://schemas.openxmlformats.org/officeDocument/2006/math"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𝑓</m:t>
                    </m:r>
                    <m:d>
                      <m:dPr>
                        <m:ctrlP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dPr>
                      <m:e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𝑛</m:t>
                        </m:r>
                      </m:e>
                    </m:d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ko-KR" sz="22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2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altLang="ko-KR" sz="22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endParaRPr>
              </a:p>
              <a:p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	- </a:t>
                </a:r>
                <a:r>
                  <a:rPr lang="ko-KR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어떤 양수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sSubPr>
                      <m:e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𝑛</m:t>
                        </m:r>
                      </m:e>
                      <m:sub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와 </a:t>
                </a:r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c</a:t>
                </a:r>
                <a:r>
                  <a:rPr lang="ko-KR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가 존재하여</a:t>
                </a:r>
                <a:endParaRPr lang="en-US" altLang="ko-KR" sz="2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endParaRPr>
              </a:p>
              <a:p>
                <a:r>
                  <a:rPr lang="en-US" altLang="ko-KR" sz="22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	- </a:t>
                </a:r>
                <a14:m>
                  <m:oMath xmlns:m="http://schemas.openxmlformats.org/officeDocument/2006/math"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𝑛</m:t>
                    </m:r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≥</m:t>
                    </m:r>
                    <m:sSub>
                      <m:sSubPr>
                        <m:ctrlP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sSubPr>
                      <m:e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𝑛</m:t>
                        </m:r>
                      </m:e>
                      <m:sub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을 만족하는 모든 </a:t>
                </a:r>
                <a14:m>
                  <m:oMath xmlns:m="http://schemas.openxmlformats.org/officeDocument/2006/math">
                    <m:r>
                      <a:rPr lang="en-US" altLang="ko-KR" sz="2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𝑛</m:t>
                    </m:r>
                  </m:oMath>
                </a14:m>
                <a:r>
                  <a:rPr lang="ko-KR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에 대해</a:t>
                </a:r>
                <a:endParaRPr lang="en-US" altLang="ko-KR" sz="2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endParaRPr>
              </a:p>
              <a:p>
                <a:r>
                  <a:rPr lang="en-US" altLang="ko-KR" sz="22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	- </a:t>
                </a:r>
                <a14:m>
                  <m:oMath xmlns:m="http://schemas.openxmlformats.org/officeDocument/2006/math"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0≤</m:t>
                    </m:r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𝑓</m:t>
                    </m:r>
                    <m:d>
                      <m:dPr>
                        <m:ctrlP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dPr>
                      <m:e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𝑛</m:t>
                        </m:r>
                      </m:e>
                    </m:d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≤</m:t>
                    </m:r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𝑐𝑔</m:t>
                    </m:r>
                    <m:d>
                      <m:dPr>
                        <m:ctrlP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dPr>
                      <m:e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𝑛</m:t>
                        </m:r>
                      </m:e>
                    </m:d>
                  </m:oMath>
                </a14:m>
                <a:r>
                  <a:rPr lang="ko-KR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을 만족한다</a:t>
                </a:r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. </a:t>
                </a:r>
              </a:p>
              <a:p>
                <a:endParaRPr lang="en-US" altLang="ko-KR" sz="22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endParaRPr>
              </a:p>
              <a:p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 - ..</a:t>
                </a:r>
                <a:r>
                  <a:rPr lang="en-US" altLang="ko-KR" sz="22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?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AEFBC9-7CB5-9949-7D36-09322D3E0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37" y="2286358"/>
                <a:ext cx="7221849" cy="2844368"/>
              </a:xfrm>
              <a:prstGeom prst="rect">
                <a:avLst/>
              </a:prstGeom>
              <a:blipFill>
                <a:blip r:embed="rId2"/>
                <a:stretch>
                  <a:fillRect l="-1098" t="-1713" r="-422" b="-34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그룹 3">
            <a:extLst>
              <a:ext uri="{FF2B5EF4-FFF2-40B4-BE49-F238E27FC236}">
                <a16:creationId xmlns:a16="http://schemas.microsoft.com/office/drawing/2014/main" id="{16F5C3F4-81B5-CE57-90FD-C8A5F7C57BE0}"/>
              </a:ext>
            </a:extLst>
          </p:cNvPr>
          <p:cNvGrpSpPr/>
          <p:nvPr/>
        </p:nvGrpSpPr>
        <p:grpSpPr>
          <a:xfrm>
            <a:off x="722811" y="577310"/>
            <a:ext cx="2595958" cy="750097"/>
            <a:chOff x="1271451" y="2719618"/>
            <a:chExt cx="2595958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764DC0C-F224-E95A-A168-AF43716A410A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B2DC738-5B48-3D7B-4242-56F55B9D1924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시간 복잡도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ED49EDF-7419-29C6-FCAA-316615C30447}"/>
                </a:ext>
              </a:extLst>
            </p:cNvPr>
            <p:cNvSpPr txBox="1"/>
            <p:nvPr/>
          </p:nvSpPr>
          <p:spPr>
            <a:xfrm>
              <a:off x="1382177" y="3192716"/>
              <a:ext cx="24852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&lt;Time Complexity&gt;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점근 표기법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4160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45864-7937-EF86-50CD-5ED40B5A3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4D4FEE6A-5955-334E-B13E-580550E17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94F08DA-D3DC-0C6F-EB1C-DD65A18AA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950515-5A26-1547-5E5A-7E890FA2B889}"/>
                  </a:ext>
                </a:extLst>
              </p:cNvPr>
              <p:cNvSpPr txBox="1"/>
              <p:nvPr/>
            </p:nvSpPr>
            <p:spPr>
              <a:xfrm>
                <a:off x="833537" y="2286358"/>
                <a:ext cx="8924879" cy="31829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 - </a:t>
                </a:r>
                <a14:m>
                  <m:oMath xmlns:m="http://schemas.openxmlformats.org/officeDocument/2006/math"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𝑓</m:t>
                    </m:r>
                    <m:d>
                      <m:dPr>
                        <m:ctrlP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dPr>
                      <m:e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𝑛</m:t>
                        </m:r>
                      </m:e>
                    </m:d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ko-KR" sz="22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2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altLang="ko-KR" sz="22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endParaRPr>
              </a:p>
              <a:p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	- </a:t>
                </a:r>
                <a:r>
                  <a:rPr lang="ko-KR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어떤 양수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sSubPr>
                      <m:e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𝑛</m:t>
                        </m:r>
                      </m:e>
                      <m:sub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와 </a:t>
                </a:r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c</a:t>
                </a:r>
                <a:r>
                  <a:rPr lang="ko-KR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가 존재하여 </a:t>
                </a:r>
                <a14:m>
                  <m:oMath xmlns:m="http://schemas.openxmlformats.org/officeDocument/2006/math"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𝑛</m:t>
                    </m:r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≥</m:t>
                    </m:r>
                    <m:sSub>
                      <m:sSubPr>
                        <m:ctrlP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sSubPr>
                      <m:e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𝑛</m:t>
                        </m:r>
                      </m:e>
                      <m:sub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을 만족하는 모든 </a:t>
                </a:r>
                <a14:m>
                  <m:oMath xmlns:m="http://schemas.openxmlformats.org/officeDocument/2006/math">
                    <m:r>
                      <a:rPr lang="en-US" altLang="ko-KR" sz="2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𝑛</m:t>
                    </m:r>
                  </m:oMath>
                </a14:m>
                <a:r>
                  <a:rPr lang="ko-KR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에 대해</a:t>
                </a:r>
                <a:endParaRPr lang="en-US" altLang="ko-KR" sz="2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endParaRPr>
              </a:p>
              <a:p>
                <a:r>
                  <a:rPr lang="en-US" altLang="ko-KR" sz="22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	- </a:t>
                </a:r>
                <a14:m>
                  <m:oMath xmlns:m="http://schemas.openxmlformats.org/officeDocument/2006/math"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0≤</m:t>
                    </m:r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𝑓</m:t>
                    </m:r>
                    <m:d>
                      <m:dPr>
                        <m:ctrlP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dPr>
                      <m:e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𝑛</m:t>
                        </m:r>
                      </m:e>
                    </m:d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≤</m:t>
                    </m:r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𝑐𝑔</m:t>
                    </m:r>
                    <m:d>
                      <m:dPr>
                        <m:ctrlP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dPr>
                      <m:e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𝑛</m:t>
                        </m:r>
                      </m:e>
                    </m:d>
                  </m:oMath>
                </a14:m>
                <a:r>
                  <a:rPr lang="ko-KR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을 만족한다</a:t>
                </a:r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.</a:t>
                </a:r>
              </a:p>
              <a:p>
                <a:endParaRPr lang="en-US" altLang="ko-KR" sz="2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endParaRPr>
              </a:p>
              <a:p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Cambria Math" panose="02040503050406030204" pitchFamily="18" charset="0"/>
                  </a:rPr>
                  <a:t> - </a:t>
                </a:r>
                <a14:m>
                  <m:oMath xmlns:m="http://schemas.openxmlformats.org/officeDocument/2006/math"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𝑛</m:t>
                    </m:r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≥</m:t>
                    </m:r>
                    <m:sSub>
                      <m:sSubPr>
                        <m:ctrlP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sSubPr>
                      <m:e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𝑛</m:t>
                        </m:r>
                      </m:e>
                      <m:sub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을 만족하는 모든 </a:t>
                </a:r>
                <a14:m>
                  <m:oMath xmlns:m="http://schemas.openxmlformats.org/officeDocument/2006/math">
                    <m:r>
                      <a:rPr lang="en-US" altLang="ko-KR" sz="2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𝑛</m:t>
                    </m:r>
                  </m:oMath>
                </a14:m>
                <a:endParaRPr lang="en-US" altLang="ko-KR" sz="2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endParaRPr>
              </a:p>
              <a:p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	- </a:t>
                </a:r>
                <a14:m>
                  <m:oMath xmlns:m="http://schemas.openxmlformats.org/officeDocument/2006/math">
                    <m:r>
                      <a:rPr lang="en-US" altLang="ko-KR" sz="220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𝑛</m:t>
                    </m:r>
                  </m:oMath>
                </a14:m>
                <a:r>
                  <a:rPr lang="ko-KR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이 </a:t>
                </a:r>
                <a:r>
                  <a:rPr lang="ko-KR" altLang="en-US" sz="2200" dirty="0">
                    <a:solidFill>
                      <a:srgbClr val="5F2CC6"/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한 없이 커지면</a:t>
                </a:r>
                <a:r>
                  <a:rPr lang="ko-KR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 항상 부등호 성립</a:t>
                </a:r>
                <a:endParaRPr lang="en-US" altLang="ko-KR" sz="2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endParaRPr>
              </a:p>
              <a:p>
                <a:r>
                  <a:rPr lang="en-US" altLang="ko-KR" sz="22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 - </a:t>
                </a:r>
                <a:r>
                  <a:rPr lang="ko-KR" altLang="en-US" sz="22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어떤 양수 </a:t>
                </a:r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c</a:t>
                </a:r>
              </a:p>
              <a:p>
                <a:r>
                  <a:rPr lang="en-US" altLang="ko-KR" sz="22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	- </a:t>
                </a:r>
                <a:r>
                  <a:rPr lang="ko-KR" altLang="en-US" sz="22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최고차항</a:t>
                </a:r>
                <a:r>
                  <a:rPr lang="ko-KR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 </a:t>
                </a:r>
                <a:r>
                  <a:rPr lang="ko-KR" altLang="en-US" sz="2200" dirty="0">
                    <a:solidFill>
                      <a:srgbClr val="5F2CC6"/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계수 무시 </a:t>
                </a:r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&amp; </a:t>
                </a:r>
                <a:r>
                  <a:rPr lang="ko-KR" altLang="en-US" sz="22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최고차항의</a:t>
                </a:r>
                <a:r>
                  <a:rPr lang="ko-KR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 </a:t>
                </a:r>
                <a:r>
                  <a:rPr lang="ko-KR" altLang="en-US" sz="2200" dirty="0">
                    <a:solidFill>
                      <a:srgbClr val="5F2CC6"/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차수만 확인</a:t>
                </a:r>
                <a:endParaRPr lang="en-US" altLang="ko-KR" sz="2200" b="0" dirty="0">
                  <a:solidFill>
                    <a:srgbClr val="5F2CC6"/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endParaRPr>
              </a:p>
              <a:p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	</a:t>
                </a:r>
                <a:endParaRPr lang="en-US" altLang="ko-KR" sz="22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950515-5A26-1547-5E5A-7E890FA2B8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37" y="2286358"/>
                <a:ext cx="8924879" cy="31829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그룹 3">
            <a:extLst>
              <a:ext uri="{FF2B5EF4-FFF2-40B4-BE49-F238E27FC236}">
                <a16:creationId xmlns:a16="http://schemas.microsoft.com/office/drawing/2014/main" id="{73EA4D9B-17F1-EC40-D79C-C095756CC0EB}"/>
              </a:ext>
            </a:extLst>
          </p:cNvPr>
          <p:cNvGrpSpPr/>
          <p:nvPr/>
        </p:nvGrpSpPr>
        <p:grpSpPr>
          <a:xfrm>
            <a:off x="722811" y="577310"/>
            <a:ext cx="2595958" cy="750097"/>
            <a:chOff x="1271451" y="2719618"/>
            <a:chExt cx="2595958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E7728C7-17A3-4A87-28D8-1BF68F337D32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32A9BD4-7CC6-BE4C-6C0F-76D37D87EDE6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시간 복잡도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52FD9B4-EA97-14D6-56B8-2AB572B92B78}"/>
                </a:ext>
              </a:extLst>
            </p:cNvPr>
            <p:cNvSpPr txBox="1"/>
            <p:nvPr/>
          </p:nvSpPr>
          <p:spPr>
            <a:xfrm>
              <a:off x="1382177" y="3192716"/>
              <a:ext cx="24852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&lt;Time Complexity&gt;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점근 표기법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6195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26C70-440A-6FDD-2DC4-EC6F36729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6DFF89DC-A8C6-A083-7AD9-14B808C1D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2BA95AA-3628-1904-EAB6-5CE183C5C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561796-1C8F-9105-5B49-4A981801A84C}"/>
              </a:ext>
            </a:extLst>
          </p:cNvPr>
          <p:cNvSpPr txBox="1"/>
          <p:nvPr/>
        </p:nvSpPr>
        <p:spPr>
          <a:xfrm>
            <a:off x="833537" y="4579804"/>
            <a:ext cx="6299634" cy="832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Big-O Notation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의 의미는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f(x)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가 아무리 빨리 증가해도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“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최대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” g(x)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에 비례하는 수준으로 증가한다는 것입니다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따라서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f(n)=n+1 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역시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O(n^2)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이라 쓸 수 있어요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!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FBD21303-65BC-7E23-3262-193E4783C5D9}"/>
              </a:ext>
            </a:extLst>
          </p:cNvPr>
          <p:cNvGrpSpPr/>
          <p:nvPr/>
        </p:nvGrpSpPr>
        <p:grpSpPr>
          <a:xfrm>
            <a:off x="722811" y="577310"/>
            <a:ext cx="2595958" cy="750097"/>
            <a:chOff x="1271451" y="2719618"/>
            <a:chExt cx="2595958" cy="75009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CB356D0A-5169-2B0A-6EE6-7C5DA16AAAC6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337DC12-B101-B2D4-94F0-007208BE75F3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시간 복잡도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9EB16E8-2E3A-F0D4-B7D5-F7A6771CB46F}"/>
                </a:ext>
              </a:extLst>
            </p:cNvPr>
            <p:cNvSpPr txBox="1"/>
            <p:nvPr/>
          </p:nvSpPr>
          <p:spPr>
            <a:xfrm>
              <a:off x="1382177" y="3192716"/>
              <a:ext cx="24852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&lt;Time Complexity&gt;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점근 표기법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C8042B-2887-BE2A-B4DD-5555C1630593}"/>
                  </a:ext>
                </a:extLst>
              </p:cNvPr>
              <p:cNvSpPr txBox="1"/>
              <p:nvPr/>
            </p:nvSpPr>
            <p:spPr>
              <a:xfrm>
                <a:off x="833537" y="2126040"/>
                <a:ext cx="8573110" cy="1723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ko-KR" sz="2000" b="0" dirty="0"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𝑓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𝑛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=2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𝑛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+3,  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𝑔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𝑛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𝑛</m:t>
                    </m:r>
                  </m:oMath>
                </a14:m>
                <a:endParaRPr lang="en-US" altLang="ko-KR" sz="2000" b="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600" dirty="0"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𝑛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0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=3,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𝑐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=3</m:t>
                    </m:r>
                  </m:oMath>
                </a14:m>
                <a:r>
                  <a:rPr lang="ko-KR" altLang="en-US" sz="1600" dirty="0"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이면</a:t>
                </a:r>
                <a:r>
                  <a:rPr lang="en-US" altLang="ko-KR" sz="1600" dirty="0"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2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𝑛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+3≤3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𝑛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 :2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𝑛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+3 ∈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6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endParaRP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ko-KR" sz="2000" dirty="0"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𝑓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𝑛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=</m:t>
                    </m:r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𝑛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2</m:t>
                        </m:r>
                      </m:sup>
                    </m:sSup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+4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𝑛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+3,  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𝑔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𝑛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=</m:t>
                    </m:r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𝑛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2</m:t>
                        </m:r>
                      </m:sup>
                    </m:sSup>
                  </m:oMath>
                </a14:m>
                <a:endPara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600" dirty="0"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𝑛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0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=5,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𝑐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=2</m:t>
                    </m:r>
                  </m:oMath>
                </a14:m>
                <a:r>
                  <a:rPr lang="ko-KR" altLang="en-US" sz="1600" dirty="0"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이면</a:t>
                </a:r>
                <a:r>
                  <a:rPr lang="en-US" altLang="ko-KR" sz="1600" dirty="0"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𝑛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2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+4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𝑛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+3≤2</m:t>
                    </m:r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𝑛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2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 :</m:t>
                    </m:r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𝑛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2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+4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𝑛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+3 ∈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6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C8042B-2887-BE2A-B4DD-5555C1630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37" y="2126040"/>
                <a:ext cx="8573110" cy="1723549"/>
              </a:xfrm>
              <a:prstGeom prst="rect">
                <a:avLst/>
              </a:prstGeom>
              <a:blipFill>
                <a:blip r:embed="rId2"/>
                <a:stretch>
                  <a:fillRect l="-996" b="-461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337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B077F-F249-9BA8-D05D-D2644B6CF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C4109A79-9758-6279-E08C-27B15DBF4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8553526-366D-CEEF-50C8-BC63D6777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F821A7-8F54-2C0C-D561-16A905FE3C6A}"/>
              </a:ext>
            </a:extLst>
          </p:cNvPr>
          <p:cNvSpPr txBox="1"/>
          <p:nvPr/>
        </p:nvSpPr>
        <p:spPr>
          <a:xfrm>
            <a:off x="833537" y="2286358"/>
            <a:ext cx="8007320" cy="27084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간단한 연산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(+, = </a:t>
            </a:r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등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)</a:t>
            </a:r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은 </a:t>
            </a:r>
            <a:r>
              <a:rPr lang="en-US" altLang="ko-KR" sz="22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1</a:t>
            </a:r>
            <a:r>
              <a:rPr lang="ko-KR" altLang="en-US" sz="22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초에 </a:t>
            </a:r>
            <a:r>
              <a:rPr lang="en-US" altLang="ko-KR" sz="22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10</a:t>
            </a:r>
            <a:r>
              <a:rPr lang="ko-KR" altLang="en-US" sz="22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억 번 </a:t>
            </a:r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정도 실행되고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,</a:t>
            </a:r>
          </a:p>
          <a:p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복잡한 연산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(%, sqrt()</a:t>
            </a:r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등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)</a:t>
            </a:r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은 </a:t>
            </a:r>
            <a:r>
              <a:rPr lang="en-US" altLang="ko-KR" sz="22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1</a:t>
            </a:r>
            <a:r>
              <a:rPr lang="ko-KR" altLang="en-US" sz="22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초에 </a:t>
            </a:r>
            <a:r>
              <a:rPr lang="en-US" altLang="ko-KR" sz="22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1</a:t>
            </a:r>
            <a:r>
              <a:rPr lang="ko-KR" altLang="en-US" sz="22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억 번 </a:t>
            </a:r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정도 실행됨</a:t>
            </a:r>
            <a:endParaRPr lang="en-US" altLang="ko-KR" sz="2200" dirty="0">
              <a:solidFill>
                <a:schemeClr val="tx1">
                  <a:lumMod val="85000"/>
                  <a:lumOff val="15000"/>
                </a:schemeClr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	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- Online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Judge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시스템 기준으로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,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사용 환경에 따라 크게 다를 수 있음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	-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대부분의 상황에선 연산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억 번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= 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초 라고 기억해도 일반적으로 무방함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endParaRPr lang="en-US" altLang="ko-KR" sz="2200" dirty="0">
              <a:solidFill>
                <a:schemeClr val="tx1">
                  <a:lumMod val="85000"/>
                  <a:lumOff val="15000"/>
                </a:schemeClr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문제 조건이 주어질 때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, </a:t>
            </a:r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주어진 시간 안에 프로그램이 실행되려면</a:t>
            </a:r>
            <a:endParaRPr lang="en-US" altLang="ko-KR" sz="2200" dirty="0">
              <a:solidFill>
                <a:schemeClr val="tx1">
                  <a:lumMod val="85000"/>
                  <a:lumOff val="15000"/>
                </a:schemeClr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어떤 시간 복잡도가 필요한지 </a:t>
            </a:r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가늠할 수 있음</a:t>
            </a:r>
            <a:endParaRPr lang="en-US" altLang="ko-KR" sz="2200" dirty="0">
              <a:solidFill>
                <a:schemeClr val="tx1">
                  <a:lumMod val="85000"/>
                  <a:lumOff val="15000"/>
                </a:schemeClr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	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-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문제 조건이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N=10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만이라면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? O(N)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이나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O(</a:t>
            </a:r>
            <a:r>
              <a:rPr lang="en-US" altLang="ko-KR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NlogN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)</a:t>
            </a:r>
            <a:endParaRPr lang="en-US" altLang="ko-KR" sz="2200" dirty="0">
              <a:solidFill>
                <a:schemeClr val="tx1">
                  <a:lumMod val="85000"/>
                  <a:lumOff val="15000"/>
                </a:schemeClr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652996F-6448-B3AD-455D-DE8B956328DD}"/>
              </a:ext>
            </a:extLst>
          </p:cNvPr>
          <p:cNvGrpSpPr/>
          <p:nvPr/>
        </p:nvGrpSpPr>
        <p:grpSpPr>
          <a:xfrm>
            <a:off x="722811" y="577310"/>
            <a:ext cx="2676108" cy="750097"/>
            <a:chOff x="1271451" y="2719618"/>
            <a:chExt cx="2676108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E1E8FDE-2315-E2F5-A6FD-B5CFE4EC9DDD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750FC2F-1CCE-E913-4494-38E4618981D3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시간 복잡도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80F6039-2F11-AA33-8F5C-A326B187A90E}"/>
                </a:ext>
              </a:extLst>
            </p:cNvPr>
            <p:cNvSpPr txBox="1"/>
            <p:nvPr/>
          </p:nvSpPr>
          <p:spPr>
            <a:xfrm>
              <a:off x="1382177" y="3192716"/>
              <a:ext cx="25653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&lt;Time Complexity&gt;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왜 중요한가</a:t>
              </a:r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?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9729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92CA2F0A-C8BC-A769-2469-45845132C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C903904-3149-CA42-C2CD-D76D22F85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15</a:t>
            </a:fld>
            <a:endParaRPr lang="ko-KR" altLang="en-US" dirty="0"/>
          </a:p>
        </p:txBody>
      </p:sp>
      <p:pic>
        <p:nvPicPr>
          <p:cNvPr id="4" name="Picture 2" descr="알고리즘] 시간복잡도(Time Complexity)와 Big-O표기법(Big-O Notation)">
            <a:extLst>
              <a:ext uri="{FF2B5EF4-FFF2-40B4-BE49-F238E27FC236}">
                <a16:creationId xmlns:a16="http://schemas.microsoft.com/office/drawing/2014/main" id="{A5B347ED-91BA-98C4-C69C-ED7B95E35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9212" y="2695143"/>
            <a:ext cx="4693576" cy="3523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E61D5B-E4F0-2392-BFE9-16FEF24D2867}"/>
                  </a:ext>
                </a:extLst>
              </p:cNvPr>
              <p:cNvSpPr txBox="1"/>
              <p:nvPr/>
            </p:nvSpPr>
            <p:spPr>
              <a:xfrm>
                <a:off x="833537" y="1994973"/>
                <a:ext cx="10274672" cy="495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2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마루 부리OTF 중간" panose="020B0600000101010101" pitchFamily="34" charset="-127"/>
                        </a:rPr>
                        <m:t>𝑂</m:t>
                      </m:r>
                      <m:d>
                        <m:dPr>
                          <m:ctrlPr>
                            <a:rPr lang="en-US" altLang="ko-KR" sz="22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마루 부리OTF 중간" panose="020B0600000101010101" pitchFamily="34" charset="-127"/>
                            </a:rPr>
                          </m:ctrlPr>
                        </m:dPr>
                        <m:e>
                          <m:r>
                            <a:rPr lang="en-US" altLang="ko-KR" sz="22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마루 부리OTF 중간" panose="020B0600000101010101" pitchFamily="34" charset="-127"/>
                            </a:rPr>
                            <m:t>1</m:t>
                          </m:r>
                        </m:e>
                      </m:d>
                      <m:r>
                        <a:rPr lang="en-US" altLang="ko-KR" sz="22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마루 부리OTF 중간" panose="020B0600000101010101" pitchFamily="34" charset="-127"/>
                        </a:rPr>
                        <m:t>&lt;</m:t>
                      </m:r>
                      <m:r>
                        <a:rPr lang="en-US" altLang="ko-KR" sz="22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마루 부리OTF 중간" panose="020B0600000101010101" pitchFamily="34" charset="-127"/>
                        </a:rPr>
                        <m:t>𝑂</m:t>
                      </m:r>
                      <m:d>
                        <m:dPr>
                          <m:ctrlPr>
                            <a:rPr lang="en-US" altLang="ko-KR" sz="22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마루 부리OTF 중간" panose="020B0600000101010101" pitchFamily="34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2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마루 부리OTF 중간" panose="020B0600000101010101" pitchFamily="34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200" b="0" i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마루 부리OTF 중간" panose="020B0600000101010101" pitchFamily="34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2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마루 부리OTF 중간" panose="020B0600000101010101" pitchFamily="34" charset="-127"/>
                                </a:rPr>
                                <m:t>𝑁</m:t>
                              </m:r>
                            </m:e>
                          </m:func>
                        </m:e>
                      </m:d>
                      <m:r>
                        <a:rPr lang="en-US" altLang="ko-KR" sz="22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마루 부리OTF 중간" panose="020B0600000101010101" pitchFamily="34" charset="-127"/>
                        </a:rPr>
                        <m:t>&lt;</m:t>
                      </m:r>
                      <m:r>
                        <a:rPr lang="en-US" altLang="ko-KR" sz="22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마루 부리OTF 중간" panose="020B0600000101010101" pitchFamily="34" charset="-127"/>
                        </a:rPr>
                        <m:t>𝑂</m:t>
                      </m:r>
                      <m:d>
                        <m:dPr>
                          <m:ctrlPr>
                            <a:rPr lang="en-US" altLang="ko-KR" sz="22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마루 부리OTF 중간" panose="020B0600000101010101" pitchFamily="34" charset="-127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altLang="ko-KR" sz="22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22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e>
                      </m:d>
                      <m:r>
                        <a:rPr lang="en-US" altLang="ko-KR" sz="22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altLang="ko-KR" sz="22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ko-KR" sz="22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2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altLang="ko-KR" sz="22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altLang="ko-KR" sz="22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ko-KR" sz="22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2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func>
                            <m:funcPr>
                              <m:ctrlPr>
                                <a:rPr lang="en-US" altLang="ko-KR" sz="22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200" b="0" i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ko-KR" sz="22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</m:func>
                        </m:e>
                      </m:d>
                      <m:r>
                        <a:rPr lang="en-US" altLang="ko-KR" sz="22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altLang="ko-KR" sz="22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ko-KR" sz="22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22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2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altLang="ko-KR" sz="22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ko-KR" sz="22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 …&lt;</m:t>
                      </m:r>
                      <m:r>
                        <a:rPr lang="en-US" altLang="ko-KR" sz="22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ko-KR" sz="22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22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2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ko-KR" sz="22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e>
                      </m:d>
                      <m:r>
                        <a:rPr lang="en-US" altLang="ko-KR" sz="22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altLang="ko-KR" sz="22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r>
                        <a:rPr lang="en-US" altLang="ko-KR" sz="22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sz="22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altLang="ko-KR" sz="22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!) </m:t>
                      </m:r>
                    </m:oMath>
                  </m:oMathPara>
                </a14:m>
                <a:endParaRPr lang="en-US" altLang="ko-KR" sz="2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E61D5B-E4F0-2392-BFE9-16FEF24D2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37" y="1994973"/>
                <a:ext cx="10274672" cy="495777"/>
              </a:xfrm>
              <a:prstGeom prst="rect">
                <a:avLst/>
              </a:prstGeom>
              <a:blipFill>
                <a:blip r:embed="rId3"/>
                <a:stretch>
                  <a:fillRect b="-85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그룹 6">
            <a:extLst>
              <a:ext uri="{FF2B5EF4-FFF2-40B4-BE49-F238E27FC236}">
                <a16:creationId xmlns:a16="http://schemas.microsoft.com/office/drawing/2014/main" id="{9F3AFD77-04A3-66B2-E6A4-E70631CAA062}"/>
              </a:ext>
            </a:extLst>
          </p:cNvPr>
          <p:cNvGrpSpPr/>
          <p:nvPr/>
        </p:nvGrpSpPr>
        <p:grpSpPr>
          <a:xfrm>
            <a:off x="722811" y="577310"/>
            <a:ext cx="1787788" cy="750097"/>
            <a:chOff x="1271451" y="2719618"/>
            <a:chExt cx="1787788" cy="750097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B71E12F-B3CC-6EAF-19BE-7A36240D03E6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848CC96-92B4-1E3D-EB82-45F4EB464AD4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시간 복잡도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CF8A6D3-27D5-2ABD-5DCB-838CDDE53017}"/>
                </a:ext>
              </a:extLst>
            </p:cNvPr>
            <p:cNvSpPr txBox="1"/>
            <p:nvPr/>
          </p:nvSpPr>
          <p:spPr>
            <a:xfrm>
              <a:off x="1382177" y="3192716"/>
              <a:ext cx="154587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&lt;Time Complexity&gt;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5905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06251-1959-14CF-F46F-A322C362D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C3D7DF51-FD26-2870-71DA-7A6F0F9C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E866EC3-0109-83CF-5047-C25CF1EFF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16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F7E4015-00C9-5D17-5CF5-58F7A6649E6D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AB03A58-A6B8-E049-2B60-37911162F68D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748E475-476A-F685-3D5F-93250B3DC080}"/>
                </a:ext>
              </a:extLst>
            </p:cNvPr>
            <p:cNvSpPr txBox="1"/>
            <p:nvPr/>
          </p:nvSpPr>
          <p:spPr>
            <a:xfrm>
              <a:off x="1382177" y="2853329"/>
              <a:ext cx="11801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누적 합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5DF991B-3C75-6EB2-2EC6-363CB6B0871F}"/>
                </a:ext>
              </a:extLst>
            </p:cNvPr>
            <p:cNvSpPr txBox="1"/>
            <p:nvPr/>
          </p:nvSpPr>
          <p:spPr>
            <a:xfrm>
              <a:off x="1382177" y="3192716"/>
              <a:ext cx="11603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&lt;Prefix Sum&gt;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0BB07D8-2BB6-022F-1BFC-59D387B72612}"/>
              </a:ext>
            </a:extLst>
          </p:cNvPr>
          <p:cNvGrpSpPr/>
          <p:nvPr/>
        </p:nvGrpSpPr>
        <p:grpSpPr>
          <a:xfrm>
            <a:off x="4716543" y="1536579"/>
            <a:ext cx="2758914" cy="430887"/>
            <a:chOff x="1097620" y="1639465"/>
            <a:chExt cx="2758914" cy="430887"/>
          </a:xfrm>
        </p:grpSpPr>
        <p:pic>
          <p:nvPicPr>
            <p:cNvPr id="10" name="그래픽 9">
              <a:extLst>
                <a:ext uri="{FF2B5EF4-FFF2-40B4-BE49-F238E27FC236}">
                  <a16:creationId xmlns:a16="http://schemas.microsoft.com/office/drawing/2014/main" id="{4FA9A0FC-8A34-9755-BCE6-E0736E2FD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97620" y="1740314"/>
              <a:ext cx="257842" cy="330037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2CC752A-943E-9354-16B9-A29E17DC8A87}"/>
                </a:ext>
              </a:extLst>
            </p:cNvPr>
            <p:cNvSpPr txBox="1"/>
            <p:nvPr/>
          </p:nvSpPr>
          <p:spPr>
            <a:xfrm>
              <a:off x="1355462" y="1639465"/>
              <a:ext cx="250107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구간</a:t>
              </a: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 </a:t>
              </a: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합 구하기 </a:t>
              </a: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(BOJ #11659)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DB4A2AC-8E8A-F365-40B6-239A2AEDCC3A}"/>
              </a:ext>
            </a:extLst>
          </p:cNvPr>
          <p:cNvSpPr txBox="1"/>
          <p:nvPr/>
        </p:nvSpPr>
        <p:spPr>
          <a:xfrm>
            <a:off x="1406100" y="2691344"/>
            <a:ext cx="43063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문제 설명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010F2A-083C-F4CD-744B-30D5AEC911AB}"/>
              </a:ext>
            </a:extLst>
          </p:cNvPr>
          <p:cNvSpPr txBox="1"/>
          <p:nvPr/>
        </p:nvSpPr>
        <p:spPr>
          <a:xfrm>
            <a:off x="1406099" y="3107445"/>
            <a:ext cx="516455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수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개가 주어짐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i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번째 수부터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j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번째 수까지 합을 구하기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합을 구하는 연산은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M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번 들어옴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E5B54F-00FC-9658-2C0B-05F69ECE7EC2}"/>
              </a:ext>
            </a:extLst>
          </p:cNvPr>
          <p:cNvSpPr txBox="1"/>
          <p:nvPr/>
        </p:nvSpPr>
        <p:spPr>
          <a:xfrm>
            <a:off x="7736971" y="2691344"/>
            <a:ext cx="34718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제약 조건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66C4EF-471B-6792-891A-C9B4B1BF6491}"/>
                  </a:ext>
                </a:extLst>
              </p:cNvPr>
              <p:cNvSpPr txBox="1"/>
              <p:nvPr/>
            </p:nvSpPr>
            <p:spPr>
              <a:xfrm>
                <a:off x="7736970" y="3107445"/>
                <a:ext cx="3471804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1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N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100,000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1</a:t>
                </a:r>
                <a:r>
                  <a:rPr lang="en-US" altLang="ko-KR" sz="16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마루 부리OTF 가는" panose="020B0600000101010101" pitchFamily="34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M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마루 부리OTF 가는" panose="020B0600000101010101" pitchFamily="34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100,000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1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i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j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N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66C4EF-471B-6792-891A-C9B4B1BF6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6970" y="3107445"/>
                <a:ext cx="3471804" cy="1169551"/>
              </a:xfrm>
              <a:prstGeom prst="rect">
                <a:avLst/>
              </a:prstGeom>
              <a:blipFill>
                <a:blip r:embed="rId4"/>
                <a:stretch>
                  <a:fillRect l="-702" b="-6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2411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69F20-06C2-04FA-086F-09ECE64B0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6B80A82B-E922-4525-A421-6B1FD5ADB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10A1001-E03F-D4E7-4221-066067797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17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7EAC54-BDB8-2E16-4DB9-3ED0CB493A74}"/>
              </a:ext>
            </a:extLst>
          </p:cNvPr>
          <p:cNvSpPr txBox="1"/>
          <p:nvPr/>
        </p:nvSpPr>
        <p:spPr>
          <a:xfrm>
            <a:off x="1406100" y="2691344"/>
            <a:ext cx="43063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문제 설명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CAD0B2-95CF-99EA-C632-DA52D431FB4D}"/>
              </a:ext>
            </a:extLst>
          </p:cNvPr>
          <p:cNvSpPr txBox="1"/>
          <p:nvPr/>
        </p:nvSpPr>
        <p:spPr>
          <a:xfrm>
            <a:off x="1406100" y="3107445"/>
            <a:ext cx="39246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수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개가 주어짐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i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번째 수부터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j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번째 수까지 합을 구하기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합을 구하는 연산은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M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번 들어옴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2A610D-DD2E-0907-EABD-038B2CFDA4AA}"/>
              </a:ext>
            </a:extLst>
          </p:cNvPr>
          <p:cNvSpPr txBox="1"/>
          <p:nvPr/>
        </p:nvSpPr>
        <p:spPr>
          <a:xfrm>
            <a:off x="1406101" y="4276996"/>
            <a:ext cx="34718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제약 조건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EB60DFD-B9C1-A2F5-5D03-B82F6A907A1F}"/>
                  </a:ext>
                </a:extLst>
              </p:cNvPr>
              <p:cNvSpPr txBox="1"/>
              <p:nvPr/>
            </p:nvSpPr>
            <p:spPr>
              <a:xfrm>
                <a:off x="1406100" y="4693097"/>
                <a:ext cx="3471804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1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N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100,000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1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마루 부리OTF 가는" panose="020B0600000101010101" pitchFamily="34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M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마루 부리OTF 가는" panose="020B0600000101010101" pitchFamily="34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100,000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1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i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j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N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EB60DFD-B9C1-A2F5-5D03-B82F6A907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100" y="4693097"/>
                <a:ext cx="3471804" cy="1169551"/>
              </a:xfrm>
              <a:prstGeom prst="rect">
                <a:avLst/>
              </a:prstGeom>
              <a:blipFill>
                <a:blip r:embed="rId2"/>
                <a:stretch>
                  <a:fillRect l="-703" b="-6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그룹 26">
            <a:extLst>
              <a:ext uri="{FF2B5EF4-FFF2-40B4-BE49-F238E27FC236}">
                <a16:creationId xmlns:a16="http://schemas.microsoft.com/office/drawing/2014/main" id="{B672A883-36EA-4E5E-2B08-421B50F1A353}"/>
              </a:ext>
            </a:extLst>
          </p:cNvPr>
          <p:cNvGrpSpPr/>
          <p:nvPr/>
        </p:nvGrpSpPr>
        <p:grpSpPr>
          <a:xfrm>
            <a:off x="5965496" y="2200047"/>
            <a:ext cx="252549" cy="3932343"/>
            <a:chOff x="5266200" y="2270759"/>
            <a:chExt cx="252549" cy="3932343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E61B529F-2FC5-E176-1B82-1A013C8934AF}"/>
                </a:ext>
              </a:extLst>
            </p:cNvPr>
            <p:cNvGrpSpPr/>
            <p:nvPr/>
          </p:nvGrpSpPr>
          <p:grpSpPr>
            <a:xfrm>
              <a:off x="5266200" y="2270759"/>
              <a:ext cx="252549" cy="3932343"/>
              <a:chOff x="6803262" y="1384440"/>
              <a:chExt cx="252549" cy="4676726"/>
            </a:xfrm>
          </p:grpSpPr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2549CEF8-E052-A5D4-D433-C705ADE25D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3EE7953E-9372-A095-4B52-2B2743232E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5EC34A5B-8ECB-310A-B3A3-6C7AE63FB9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6200" y="2470256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6D62AC46-276E-F14E-08F8-85269B2DAFA8}"/>
              </a:ext>
            </a:extLst>
          </p:cNvPr>
          <p:cNvGrpSpPr/>
          <p:nvPr/>
        </p:nvGrpSpPr>
        <p:grpSpPr>
          <a:xfrm>
            <a:off x="4716543" y="1536579"/>
            <a:ext cx="2758914" cy="430887"/>
            <a:chOff x="1097620" y="1639465"/>
            <a:chExt cx="2758914" cy="430887"/>
          </a:xfrm>
        </p:grpSpPr>
        <p:pic>
          <p:nvPicPr>
            <p:cNvPr id="6" name="그래픽 5">
              <a:extLst>
                <a:ext uri="{FF2B5EF4-FFF2-40B4-BE49-F238E27FC236}">
                  <a16:creationId xmlns:a16="http://schemas.microsoft.com/office/drawing/2014/main" id="{B85DA10F-D5DB-F05B-23B6-7D88A4A6A0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097620" y="1740314"/>
              <a:ext cx="257842" cy="33003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1184912-DF0D-D4A6-EDF3-F29FE256A882}"/>
                </a:ext>
              </a:extLst>
            </p:cNvPr>
            <p:cNvSpPr txBox="1"/>
            <p:nvPr/>
          </p:nvSpPr>
          <p:spPr>
            <a:xfrm>
              <a:off x="1355462" y="1639465"/>
              <a:ext cx="250107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구간</a:t>
              </a: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 </a:t>
              </a: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합 구하기 </a:t>
              </a: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(BOJ #11659)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F6B73D-FA94-AC62-016D-F0FBD5F381CB}"/>
                  </a:ext>
                </a:extLst>
              </p:cNvPr>
              <p:cNvSpPr txBox="1"/>
              <p:nvPr/>
            </p:nvSpPr>
            <p:spPr>
              <a:xfrm>
                <a:off x="6479515" y="2691344"/>
                <a:ext cx="4306385" cy="3051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&lt;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시간 복잡도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&gt;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연산 횟수 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M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이 최대 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10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만이기 때문에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,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합을 구할 때 연산을 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1,000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번 이내로 해야 함</a:t>
                </a:r>
                <a:endPara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N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이 최대 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10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만이기에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,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연산 당 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O(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ko-KR" sz="16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ko-KR" sz="16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altLang="ko-KR" sz="16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) 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이하의 시간 복잡도가 필요</a:t>
                </a:r>
                <a:endPara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-&gt; 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누적 합을 이용하면 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O(1)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에 가능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!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F6B73D-FA94-AC62-016D-F0FBD5F38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515" y="2691344"/>
                <a:ext cx="4306385" cy="3051028"/>
              </a:xfrm>
              <a:prstGeom prst="rect">
                <a:avLst/>
              </a:prstGeom>
              <a:blipFill>
                <a:blip r:embed="rId5"/>
                <a:stretch>
                  <a:fillRect l="-850" b="-15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그룹 12">
            <a:extLst>
              <a:ext uri="{FF2B5EF4-FFF2-40B4-BE49-F238E27FC236}">
                <a16:creationId xmlns:a16="http://schemas.microsoft.com/office/drawing/2014/main" id="{89596972-02F0-B067-13B7-25E361CEDF17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F69E150-FACD-C62D-1626-41E2CC10507B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E4ADD5B-E841-764C-CE56-277D20EC7CAE}"/>
                </a:ext>
              </a:extLst>
            </p:cNvPr>
            <p:cNvSpPr txBox="1"/>
            <p:nvPr/>
          </p:nvSpPr>
          <p:spPr>
            <a:xfrm>
              <a:off x="1382177" y="2853329"/>
              <a:ext cx="11801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누적 합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7AE142B-89DA-707D-E308-4B397CD6D4BB}"/>
                </a:ext>
              </a:extLst>
            </p:cNvPr>
            <p:cNvSpPr txBox="1"/>
            <p:nvPr/>
          </p:nvSpPr>
          <p:spPr>
            <a:xfrm>
              <a:off x="1382177" y="3192716"/>
              <a:ext cx="11603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&lt;Prefix Sum&gt;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6157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4BB1B5E9-C08A-4344-0E4D-DD5084486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F41D85-1E0D-D1BF-1998-1D8D9EE22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18</a:t>
            </a:fld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229BE19-CD8F-AB60-66E0-9DD98824E72E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081B2A6-887B-6E9C-4E67-442197393F96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5AEA8E4-5C00-C22D-F720-39523DCF1F87}"/>
                </a:ext>
              </a:extLst>
            </p:cNvPr>
            <p:cNvSpPr txBox="1"/>
            <p:nvPr/>
          </p:nvSpPr>
          <p:spPr>
            <a:xfrm>
              <a:off x="1382177" y="2853329"/>
              <a:ext cx="11801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누적 합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DDEEC71-D942-028B-7798-FB57C6E8AA43}"/>
                </a:ext>
              </a:extLst>
            </p:cNvPr>
            <p:cNvSpPr txBox="1"/>
            <p:nvPr/>
          </p:nvSpPr>
          <p:spPr>
            <a:xfrm>
              <a:off x="1382177" y="3192716"/>
              <a:ext cx="11603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&lt;Prefix Sum&gt;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68198D01-FF00-52C1-8304-F7514D0F6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426768"/>
              </p:ext>
            </p:extLst>
          </p:nvPr>
        </p:nvGraphicFramePr>
        <p:xfrm>
          <a:off x="2032000" y="2522627"/>
          <a:ext cx="8128000" cy="7416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4681706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5318247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5887328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84563989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83847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53891491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65917626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08305033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8980822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0732678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err="1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i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275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A[</a:t>
                      </a:r>
                      <a:r>
                        <a:rPr lang="en-US" altLang="ko-KR" dirty="0" err="1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i</a:t>
                      </a:r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]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-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3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1</a:t>
                      </a:r>
                      <a:endParaRPr lang="ko-KR" altLang="en-US" b="1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4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1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5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9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2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6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39494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DBA81D1C-C054-EF0E-35AD-31BD75E39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975683"/>
              </p:ext>
            </p:extLst>
          </p:nvPr>
        </p:nvGraphicFramePr>
        <p:xfrm>
          <a:off x="2032000" y="4191777"/>
          <a:ext cx="8128000" cy="73660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4681706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5318247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5887328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84563989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83847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53891491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65917626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08305033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8980822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0732678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err="1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i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275265"/>
                  </a:ext>
                </a:extLst>
              </a:tr>
              <a:tr h="305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P[</a:t>
                      </a:r>
                      <a:r>
                        <a:rPr lang="en-US" altLang="ko-KR" dirty="0" err="1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i</a:t>
                      </a:r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]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0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3</a:t>
                      </a:r>
                      <a:endParaRPr lang="ko-KR" altLang="en-US" b="1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4</a:t>
                      </a:r>
                      <a:endParaRPr lang="ko-KR" altLang="en-US" dirty="0">
                        <a:solidFill>
                          <a:schemeClr val="bg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81E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39494"/>
                  </a:ext>
                </a:extLst>
              </a:tr>
            </a:tbl>
          </a:graphicData>
        </a:graphic>
      </p:graphicFrame>
      <p:sp>
        <p:nvSpPr>
          <p:cNvPr id="10" name="화살표: 위로 구부러짐 9">
            <a:extLst>
              <a:ext uri="{FF2B5EF4-FFF2-40B4-BE49-F238E27FC236}">
                <a16:creationId xmlns:a16="http://schemas.microsoft.com/office/drawing/2014/main" id="{40DF689A-8C23-23ED-C494-923D777A648D}"/>
              </a:ext>
            </a:extLst>
          </p:cNvPr>
          <p:cNvSpPr/>
          <p:nvPr/>
        </p:nvSpPr>
        <p:spPr>
          <a:xfrm>
            <a:off x="3929974" y="5068111"/>
            <a:ext cx="1108954" cy="736600"/>
          </a:xfrm>
          <a:prstGeom prst="curvedUpArrow">
            <a:avLst/>
          </a:prstGeom>
          <a:solidFill>
            <a:srgbClr val="5F2CC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83D70525-E6E8-F372-73EC-EBE3A3F2A712}"/>
              </a:ext>
            </a:extLst>
          </p:cNvPr>
          <p:cNvSpPr/>
          <p:nvPr/>
        </p:nvSpPr>
        <p:spPr>
          <a:xfrm>
            <a:off x="4698459" y="3365093"/>
            <a:ext cx="418290" cy="686949"/>
          </a:xfrm>
          <a:prstGeom prst="downArrow">
            <a:avLst/>
          </a:prstGeom>
          <a:solidFill>
            <a:srgbClr val="5F2CC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96A0E5C-29D6-BE1D-A768-D4B33636FC4A}"/>
                  </a:ext>
                </a:extLst>
              </p:cNvPr>
              <p:cNvSpPr txBox="1"/>
              <p:nvPr/>
            </p:nvSpPr>
            <p:spPr>
              <a:xfrm>
                <a:off x="833537" y="1908289"/>
                <a:ext cx="4887813" cy="4320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배열 </a:t>
                </a:r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P</a:t>
                </a:r>
                <a:r>
                  <a:rPr lang="ko-KR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를 생각해보자</a:t>
                </a:r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dPr>
                      <m:e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𝑛</m:t>
                        </m:r>
                      </m:e>
                    </m:d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= 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𝑖</m:t>
                        </m:r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=1</m:t>
                        </m:r>
                      </m:sub>
                      <m:sup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𝑛</m:t>
                        </m:r>
                      </m:sup>
                      <m:e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𝐴</m:t>
                        </m:r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[</m:t>
                        </m:r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𝑖</m:t>
                        </m:r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]</m:t>
                        </m:r>
                      </m:e>
                    </m:nary>
                  </m:oMath>
                </a14:m>
                <a:endParaRPr lang="en-US" altLang="ko-KR" sz="2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96A0E5C-29D6-BE1D-A768-D4B33636F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37" y="1908289"/>
                <a:ext cx="4887813" cy="432041"/>
              </a:xfrm>
              <a:prstGeom prst="rect">
                <a:avLst/>
              </a:prstGeom>
              <a:blipFill>
                <a:blip r:embed="rId2"/>
                <a:stretch>
                  <a:fillRect l="-1621" t="-129577" r="-873" b="-1859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B37FF60C-07CC-0010-7B9D-A5AD267FE8B9}"/>
              </a:ext>
            </a:extLst>
          </p:cNvPr>
          <p:cNvSpPr txBox="1"/>
          <p:nvPr/>
        </p:nvSpPr>
        <p:spPr>
          <a:xfrm>
            <a:off x="6387154" y="3268605"/>
            <a:ext cx="3772846" cy="32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누적 합을 구현할 때는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1-base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로 사용하는 게 구현이 편해요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2249082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14082-1680-208B-F52A-0B432B90D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94A0EFFD-69A9-8E7F-EBD0-187EAC549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C1F0FB0-209D-BD5D-9985-41ADAF640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19</a:t>
            </a:fld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888FB3C-8F65-57A5-EF83-04584B4A5F06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9796662-BC4B-7A8F-8C91-3DB34C43BE94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D4CBDF9-999F-409E-D514-EEC47C22A502}"/>
                </a:ext>
              </a:extLst>
            </p:cNvPr>
            <p:cNvSpPr txBox="1"/>
            <p:nvPr/>
          </p:nvSpPr>
          <p:spPr>
            <a:xfrm>
              <a:off x="1382177" y="2853329"/>
              <a:ext cx="11801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누적 합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99B4BCC-2CC7-88C3-03B6-F8D5F38AFE86}"/>
                </a:ext>
              </a:extLst>
            </p:cNvPr>
            <p:cNvSpPr txBox="1"/>
            <p:nvPr/>
          </p:nvSpPr>
          <p:spPr>
            <a:xfrm>
              <a:off x="1382177" y="3192716"/>
              <a:ext cx="11603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&lt;Prefix Sum&gt;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7331A8A-121A-04AE-5C45-7EFB8FC36A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781138"/>
              </p:ext>
            </p:extLst>
          </p:nvPr>
        </p:nvGraphicFramePr>
        <p:xfrm>
          <a:off x="2032000" y="2522627"/>
          <a:ext cx="8128000" cy="1102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4681706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5318247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5887328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84563989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83847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53891491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65917626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08305033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8980822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0732678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err="1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i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27526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A[</a:t>
                      </a:r>
                      <a:r>
                        <a:rPr lang="en-US" altLang="ko-KR" dirty="0" err="1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i</a:t>
                      </a:r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]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-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3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1</a:t>
                      </a:r>
                      <a:endParaRPr lang="ko-KR" altLang="en-US" b="0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4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1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5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9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2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6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39494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P[</a:t>
                      </a:r>
                      <a:r>
                        <a:rPr lang="en-US" altLang="ko-KR" dirty="0" err="1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i</a:t>
                      </a:r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]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0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3</a:t>
                      </a:r>
                      <a:endParaRPr lang="ko-KR" altLang="en-US" b="0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4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8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9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14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23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25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31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87027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E47545F-03B3-5E39-F42A-0B0910BFA765}"/>
                  </a:ext>
                </a:extLst>
              </p:cNvPr>
              <p:cNvSpPr txBox="1"/>
              <p:nvPr/>
            </p:nvSpPr>
            <p:spPr>
              <a:xfrm>
                <a:off x="833537" y="1908289"/>
                <a:ext cx="6415474" cy="4320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배열 </a:t>
                </a:r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P</a:t>
                </a:r>
                <a:r>
                  <a:rPr lang="ko-KR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를 다음과 같이 생각해보면</a:t>
                </a:r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dPr>
                      <m:e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𝑛</m:t>
                        </m:r>
                      </m:e>
                    </m:d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= 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𝑖</m:t>
                        </m:r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=1</m:t>
                        </m:r>
                      </m:sub>
                      <m:sup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𝑛</m:t>
                        </m:r>
                      </m:sup>
                      <m:e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𝐴</m:t>
                        </m:r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[</m:t>
                        </m:r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𝑖</m:t>
                        </m:r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]</m:t>
                        </m:r>
                      </m:e>
                    </m:nary>
                  </m:oMath>
                </a14:m>
                <a:endParaRPr lang="en-US" altLang="ko-KR" sz="2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E47545F-03B3-5E39-F42A-0B0910BFA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37" y="1908289"/>
                <a:ext cx="6415474" cy="432041"/>
              </a:xfrm>
              <a:prstGeom prst="rect">
                <a:avLst/>
              </a:prstGeom>
              <a:blipFill>
                <a:blip r:embed="rId2"/>
                <a:stretch>
                  <a:fillRect l="-1236" t="-129577" r="-475" b="-1859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1BBA5B67-ADB1-687C-A7EF-A9C8634146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941758"/>
              </p:ext>
            </p:extLst>
          </p:nvPr>
        </p:nvGraphicFramePr>
        <p:xfrm>
          <a:off x="2032000" y="4520512"/>
          <a:ext cx="8128000" cy="73660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4681706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5318247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5887328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84563989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83847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53891491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65917626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08305033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8980822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0732678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err="1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i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275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P[</a:t>
                      </a:r>
                      <a:r>
                        <a:rPr lang="en-US" altLang="ko-KR" dirty="0" err="1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i</a:t>
                      </a:r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]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0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3</a:t>
                      </a:r>
                      <a:endParaRPr lang="ko-KR" altLang="en-US" b="0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4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8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9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14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23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25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마루 부리OTF 중간" panose="020B0600000101010101" pitchFamily="34" charset="-127"/>
                          <a:ea typeface="마루 부리OTF 중간" panose="020B0600000101010101" pitchFamily="34" charset="-127"/>
                        </a:rPr>
                        <a:t>31</a:t>
                      </a:r>
                      <a:endParaRPr lang="ko-KR" altLang="en-US" dirty="0">
                        <a:latin typeface="마루 부리OTF 중간" panose="020B0600000101010101" pitchFamily="34" charset="-127"/>
                        <a:ea typeface="마루 부리OTF 중간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3949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A15AF5C-0557-2D8D-5F17-F29DD1A55B65}"/>
                  </a:ext>
                </a:extLst>
              </p:cNvPr>
              <p:cNvSpPr txBox="1"/>
              <p:nvPr/>
            </p:nvSpPr>
            <p:spPr>
              <a:xfrm>
                <a:off x="833537" y="3906174"/>
                <a:ext cx="826771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𝑖</m:t>
                    </m:r>
                  </m:oMath>
                </a14:m>
                <a:r>
                  <a:rPr lang="ko-KR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번째 원소부터 </a:t>
                </a:r>
                <a14:m>
                  <m:oMath xmlns:m="http://schemas.openxmlformats.org/officeDocument/2006/math"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𝑗</m:t>
                    </m:r>
                  </m:oMath>
                </a14:m>
                <a:r>
                  <a:rPr lang="ko-KR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번째 원소까지의 합은</a:t>
                </a:r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dPr>
                      <m:e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𝑗</m:t>
                        </m:r>
                      </m:e>
                    </m:d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−</m:t>
                    </m:r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𝑃</m:t>
                    </m:r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[</m:t>
                    </m:r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𝑖</m:t>
                    </m:r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−1]</m:t>
                    </m:r>
                  </m:oMath>
                </a14:m>
                <a:r>
                  <a:rPr lang="ko-KR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과</a:t>
                </a:r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 </a:t>
                </a:r>
                <a:r>
                  <a:rPr lang="ko-KR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같습니다</a:t>
                </a:r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A15AF5C-0557-2D8D-5F17-F29DD1A55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37" y="3906174"/>
                <a:ext cx="8267713" cy="430887"/>
              </a:xfrm>
              <a:prstGeom prst="rect">
                <a:avLst/>
              </a:prstGeom>
              <a:blipFill>
                <a:blip r:embed="rId3"/>
                <a:stretch>
                  <a:fillRect l="-74" t="-8571" r="-147" b="-3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직사각형 15">
            <a:extLst>
              <a:ext uri="{FF2B5EF4-FFF2-40B4-BE49-F238E27FC236}">
                <a16:creationId xmlns:a16="http://schemas.microsoft.com/office/drawing/2014/main" id="{FEBD580D-8504-6DB6-AAA4-630F320C045A}"/>
              </a:ext>
            </a:extLst>
          </p:cNvPr>
          <p:cNvSpPr/>
          <p:nvPr/>
        </p:nvSpPr>
        <p:spPr>
          <a:xfrm>
            <a:off x="3665220" y="4897670"/>
            <a:ext cx="5698236" cy="151850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7260A78-D125-0716-A4AE-2E9649587FF4}"/>
              </a:ext>
            </a:extLst>
          </p:cNvPr>
          <p:cNvSpPr/>
          <p:nvPr/>
        </p:nvSpPr>
        <p:spPr>
          <a:xfrm>
            <a:off x="3665220" y="5059921"/>
            <a:ext cx="2430780" cy="172665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F36209-47AD-D376-BA4A-1067BA70A7E6}"/>
              </a:ext>
            </a:extLst>
          </p:cNvPr>
          <p:cNvSpPr txBox="1"/>
          <p:nvPr/>
        </p:nvSpPr>
        <p:spPr>
          <a:xfrm>
            <a:off x="6096000" y="5280543"/>
            <a:ext cx="4152830" cy="32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4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번째 수부터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7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번째 수까지 합은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P[7]-P[4-1]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으로 구할 수 있어요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795090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B1574-264A-9E65-B248-2F0700BEC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E868F926-6B53-DE4C-0F2F-C49F2BBC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32578EA-2829-936E-63A6-0F8F07764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20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0F502E-22A6-8D82-6B3E-AA2313440153}"/>
              </a:ext>
            </a:extLst>
          </p:cNvPr>
          <p:cNvSpPr txBox="1"/>
          <p:nvPr/>
        </p:nvSpPr>
        <p:spPr>
          <a:xfrm>
            <a:off x="1406100" y="2691344"/>
            <a:ext cx="43063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문제 설명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3C0CC3-8932-EF5F-919B-706F7FB2DAD9}"/>
              </a:ext>
            </a:extLst>
          </p:cNvPr>
          <p:cNvSpPr txBox="1"/>
          <p:nvPr/>
        </p:nvSpPr>
        <p:spPr>
          <a:xfrm>
            <a:off x="1406100" y="3107445"/>
            <a:ext cx="39246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수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개가 주어짐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i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번째 수부터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j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번째 수까지 합을 구하기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합을 구하는 연산은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M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번 들어옴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8CDD7A-11D5-FBB1-160B-EB7E482C4C13}"/>
              </a:ext>
            </a:extLst>
          </p:cNvPr>
          <p:cNvSpPr txBox="1"/>
          <p:nvPr/>
        </p:nvSpPr>
        <p:spPr>
          <a:xfrm>
            <a:off x="1406101" y="4276996"/>
            <a:ext cx="34718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제약 조건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5B58E5F-70E3-89DB-B860-0EB87FA55049}"/>
                  </a:ext>
                </a:extLst>
              </p:cNvPr>
              <p:cNvSpPr txBox="1"/>
              <p:nvPr/>
            </p:nvSpPr>
            <p:spPr>
              <a:xfrm>
                <a:off x="1406100" y="4693097"/>
                <a:ext cx="3471804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1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N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100,000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1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마루 부리OTF 가는" panose="020B0600000101010101" pitchFamily="34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M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마루 부리OTF 가는" panose="020B0600000101010101" pitchFamily="34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100,000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1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i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j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N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5B58E5F-70E3-89DB-B860-0EB87FA55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100" y="4693097"/>
                <a:ext cx="3471804" cy="1169551"/>
              </a:xfrm>
              <a:prstGeom prst="rect">
                <a:avLst/>
              </a:prstGeom>
              <a:blipFill>
                <a:blip r:embed="rId2"/>
                <a:stretch>
                  <a:fillRect l="-703" b="-6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그룹 26">
            <a:extLst>
              <a:ext uri="{FF2B5EF4-FFF2-40B4-BE49-F238E27FC236}">
                <a16:creationId xmlns:a16="http://schemas.microsoft.com/office/drawing/2014/main" id="{3EA58052-2F87-3869-BFBD-2A8A77DC6086}"/>
              </a:ext>
            </a:extLst>
          </p:cNvPr>
          <p:cNvGrpSpPr/>
          <p:nvPr/>
        </p:nvGrpSpPr>
        <p:grpSpPr>
          <a:xfrm>
            <a:off x="5965496" y="2200047"/>
            <a:ext cx="252549" cy="3932343"/>
            <a:chOff x="5266200" y="2270759"/>
            <a:chExt cx="252549" cy="3932343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25704D1E-871C-171E-49CE-EDA624B09DC8}"/>
                </a:ext>
              </a:extLst>
            </p:cNvPr>
            <p:cNvGrpSpPr/>
            <p:nvPr/>
          </p:nvGrpSpPr>
          <p:grpSpPr>
            <a:xfrm>
              <a:off x="5266200" y="2270759"/>
              <a:ext cx="252549" cy="3932343"/>
              <a:chOff x="6803262" y="1384440"/>
              <a:chExt cx="252549" cy="4676726"/>
            </a:xfrm>
          </p:grpSpPr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DAE207C1-B34D-C3D9-32A1-9BAD8BCE6C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59D0063D-F8C8-E591-942B-1EC36882C8C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74308E7B-7412-5189-5347-73BAE9B30D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6200" y="2470256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6FDBDE66-C3F4-2C81-3985-2907E8D667D8}"/>
              </a:ext>
            </a:extLst>
          </p:cNvPr>
          <p:cNvGrpSpPr/>
          <p:nvPr/>
        </p:nvGrpSpPr>
        <p:grpSpPr>
          <a:xfrm>
            <a:off x="4716543" y="1536579"/>
            <a:ext cx="2758914" cy="430887"/>
            <a:chOff x="1097620" y="1639465"/>
            <a:chExt cx="2758914" cy="430887"/>
          </a:xfrm>
        </p:grpSpPr>
        <p:pic>
          <p:nvPicPr>
            <p:cNvPr id="6" name="그래픽 5">
              <a:extLst>
                <a:ext uri="{FF2B5EF4-FFF2-40B4-BE49-F238E27FC236}">
                  <a16:creationId xmlns:a16="http://schemas.microsoft.com/office/drawing/2014/main" id="{AA3ED4CD-55B0-8F08-B55E-2259E2A526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097620" y="1740314"/>
              <a:ext cx="257842" cy="33003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A72F04F-09BB-ACAC-9072-276D1A28DFD5}"/>
                </a:ext>
              </a:extLst>
            </p:cNvPr>
            <p:cNvSpPr txBox="1"/>
            <p:nvPr/>
          </p:nvSpPr>
          <p:spPr>
            <a:xfrm>
              <a:off x="1355462" y="1639465"/>
              <a:ext cx="250107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구간</a:t>
              </a: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 </a:t>
              </a: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합 구하기 </a:t>
              </a: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(BOJ #11659)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2F9C914-624D-16E4-A4F7-CF4A73C39484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E50320C-4285-B8F1-D0C8-BA4BB20A2344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2800A91-4A23-99EC-C16B-DD004B93F6C7}"/>
                </a:ext>
              </a:extLst>
            </p:cNvPr>
            <p:cNvSpPr txBox="1"/>
            <p:nvPr/>
          </p:nvSpPr>
          <p:spPr>
            <a:xfrm>
              <a:off x="1382177" y="2853329"/>
              <a:ext cx="11801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누적 합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E3A0BC3-B69E-A769-61FD-FFBC52807354}"/>
                </a:ext>
              </a:extLst>
            </p:cNvPr>
            <p:cNvSpPr txBox="1"/>
            <p:nvPr/>
          </p:nvSpPr>
          <p:spPr>
            <a:xfrm>
              <a:off x="1382177" y="3192716"/>
              <a:ext cx="11603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&lt;Prefix Sum&gt;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FA654F4-E5C1-3DEF-E5BC-26C89E1E8552}"/>
              </a:ext>
            </a:extLst>
          </p:cNvPr>
          <p:cNvSpPr txBox="1"/>
          <p:nvPr/>
        </p:nvSpPr>
        <p:spPr>
          <a:xfrm>
            <a:off x="6673251" y="2719668"/>
            <a:ext cx="462801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400" b="0" i="0" dirty="0">
                <a:solidFill>
                  <a:srgbClr val="6F42C1"/>
                </a:solidFill>
                <a:effectLst/>
                <a:latin typeface="Lucida Console" panose="020B0609040504020204" pitchFamily="49" charset="0"/>
              </a:rPr>
              <a:t>main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() {</a:t>
            </a:r>
            <a:endParaRPr lang="en-US" altLang="ko-KR" sz="1400" b="0" i="0" dirty="0">
              <a:solidFill>
                <a:srgbClr val="D73A49"/>
              </a:solidFill>
              <a:effectLst/>
              <a:latin typeface="Lucida Console" panose="020B0609040504020204" pitchFamily="49" charset="0"/>
            </a:endParaRPr>
          </a:p>
          <a:p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    int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N, M, L, R; </a:t>
            </a:r>
          </a:p>
          <a:p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  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cin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&gt;&gt; N &gt;&gt; M; </a:t>
            </a:r>
          </a:p>
          <a:p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   vector&lt;</a:t>
            </a:r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&gt; </a:t>
            </a:r>
            <a:r>
              <a:rPr lang="en-US" altLang="ko-KR" sz="1400" b="0" i="0" dirty="0">
                <a:solidFill>
                  <a:srgbClr val="6F42C1"/>
                </a:solidFill>
                <a:effectLst/>
                <a:latin typeface="Lucida Console" panose="020B0609040504020204" pitchFamily="49" charset="0"/>
              </a:rPr>
              <a:t>A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(N+</a:t>
            </a:r>
            <a:r>
              <a:rPr lang="en-US" altLang="ko-KR" sz="14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1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), </a:t>
            </a:r>
            <a:r>
              <a:rPr lang="en-US" altLang="ko-KR" sz="1400" b="0" i="0" dirty="0">
                <a:solidFill>
                  <a:srgbClr val="6F42C1"/>
                </a:solidFill>
                <a:effectLst/>
                <a:latin typeface="Lucida Console" panose="020B0609040504020204" pitchFamily="49" charset="0"/>
              </a:rPr>
              <a:t>P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(N+</a:t>
            </a:r>
            <a:r>
              <a:rPr lang="en-US" altLang="ko-KR" sz="14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1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); </a:t>
            </a:r>
          </a:p>
          <a:p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    for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=</a:t>
            </a:r>
            <a:r>
              <a:rPr lang="en-US" altLang="ko-KR" sz="14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1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;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&lt;= N;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++){ </a:t>
            </a:r>
          </a:p>
          <a:p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      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cin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&gt;&gt; A[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]; </a:t>
            </a:r>
          </a:p>
          <a:p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       P[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] += P[i</a:t>
            </a:r>
            <a:r>
              <a:rPr lang="en-US" altLang="ko-KR" sz="14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-1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]+A[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]; </a:t>
            </a:r>
          </a:p>
          <a:p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   } </a:t>
            </a:r>
          </a:p>
          <a:p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    while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(M--){ </a:t>
            </a:r>
          </a:p>
          <a:p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      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cin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&gt;&gt; L &gt;&gt; R; </a:t>
            </a:r>
          </a:p>
          <a:p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      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cout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&lt;&lt;P[R]-P[L</a:t>
            </a:r>
            <a:r>
              <a:rPr lang="en-US" altLang="ko-KR" sz="14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-1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]&lt;&lt;</a:t>
            </a:r>
            <a:r>
              <a:rPr lang="en-US" altLang="ko-KR" sz="1400" b="0" i="0" dirty="0">
                <a:solidFill>
                  <a:srgbClr val="032F62"/>
                </a:solidFill>
                <a:effectLst/>
                <a:latin typeface="Lucida Console" panose="020B0609040504020204" pitchFamily="49" charset="0"/>
              </a:rPr>
              <a:t>'\n’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; </a:t>
            </a:r>
          </a:p>
          <a:p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   } </a:t>
            </a:r>
          </a:p>
          <a:p>
            <a:r>
              <a:rPr lang="en-US" altLang="ko-KR" sz="1400" dirty="0">
                <a:solidFill>
                  <a:srgbClr val="24292E"/>
                </a:solidFill>
                <a:latin typeface="Lucida Console" panose="020B0609040504020204" pitchFamily="49" charset="0"/>
              </a:rPr>
              <a:t>}</a:t>
            </a:r>
            <a:endParaRPr lang="en-US" altLang="ko-KR" sz="1400" b="0" i="0" dirty="0">
              <a:solidFill>
                <a:srgbClr val="24292E"/>
              </a:solidFill>
              <a:effectLst/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7894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F0569-A21D-95FB-52E8-2BDE2CFEB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C2E640C2-3321-466B-BAB3-68B011A50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12DFADE-9355-4AFF-FCF0-A5B4B11BF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21</a:t>
            </a:fld>
            <a:endParaRPr lang="ko-KR" altLang="en-US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9F8E430-0856-3DB2-D5BE-1D495D4D7AF7}"/>
              </a:ext>
            </a:extLst>
          </p:cNvPr>
          <p:cNvGrpSpPr/>
          <p:nvPr/>
        </p:nvGrpSpPr>
        <p:grpSpPr>
          <a:xfrm>
            <a:off x="5965496" y="2200047"/>
            <a:ext cx="252549" cy="3932343"/>
            <a:chOff x="5266200" y="2270759"/>
            <a:chExt cx="252549" cy="3932343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01F1ACE5-6961-ED7C-1E5A-25EA50695AB6}"/>
                </a:ext>
              </a:extLst>
            </p:cNvPr>
            <p:cNvGrpSpPr/>
            <p:nvPr/>
          </p:nvGrpSpPr>
          <p:grpSpPr>
            <a:xfrm>
              <a:off x="5266200" y="2270759"/>
              <a:ext cx="252549" cy="3932343"/>
              <a:chOff x="6803262" y="1384440"/>
              <a:chExt cx="252549" cy="4676726"/>
            </a:xfrm>
          </p:grpSpPr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9678E28B-55B4-B699-C907-2659FB0098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A5E92AE6-F93D-F139-6C51-71D67F27558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457E5FA-CB64-4202-F9DF-2BAA81DEF6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6200" y="2470256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54BA49C5-DEBE-C427-4563-72EAAEE5AA7F}"/>
              </a:ext>
            </a:extLst>
          </p:cNvPr>
          <p:cNvGrpSpPr/>
          <p:nvPr/>
        </p:nvGrpSpPr>
        <p:grpSpPr>
          <a:xfrm>
            <a:off x="4716543" y="1536579"/>
            <a:ext cx="2758914" cy="430887"/>
            <a:chOff x="1097620" y="1639465"/>
            <a:chExt cx="2758914" cy="430887"/>
          </a:xfrm>
        </p:grpSpPr>
        <p:pic>
          <p:nvPicPr>
            <p:cNvPr id="6" name="그래픽 5">
              <a:extLst>
                <a:ext uri="{FF2B5EF4-FFF2-40B4-BE49-F238E27FC236}">
                  <a16:creationId xmlns:a16="http://schemas.microsoft.com/office/drawing/2014/main" id="{BC1509AE-B4CA-4F03-33A1-BDB34F63FB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97620" y="1740314"/>
              <a:ext cx="257842" cy="33003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C829564-5812-384D-29C2-6DAEB7E807D6}"/>
                </a:ext>
              </a:extLst>
            </p:cNvPr>
            <p:cNvSpPr txBox="1"/>
            <p:nvPr/>
          </p:nvSpPr>
          <p:spPr>
            <a:xfrm>
              <a:off x="1355462" y="1639465"/>
              <a:ext cx="250107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구간</a:t>
              </a: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 </a:t>
              </a: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합 구하기 </a:t>
              </a: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(BOJ #11659)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5CC07BA-DE8C-07B8-24AD-1F5600E5DF4E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7482E70-C2B4-4FA3-CDEE-636D3ED8D939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4D229B2-55B9-A872-E386-11AE51F2FB63}"/>
                </a:ext>
              </a:extLst>
            </p:cNvPr>
            <p:cNvSpPr txBox="1"/>
            <p:nvPr/>
          </p:nvSpPr>
          <p:spPr>
            <a:xfrm>
              <a:off x="1382177" y="2853329"/>
              <a:ext cx="11801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누적 합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241EDB4-4FA7-B63E-0F12-58BBBADC337F}"/>
                </a:ext>
              </a:extLst>
            </p:cNvPr>
            <p:cNvSpPr txBox="1"/>
            <p:nvPr/>
          </p:nvSpPr>
          <p:spPr>
            <a:xfrm>
              <a:off x="1382177" y="3192716"/>
              <a:ext cx="11603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&lt;Prefix Sum&gt;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D5AAD18-32AA-2B28-B810-6A6E130EE622}"/>
              </a:ext>
            </a:extLst>
          </p:cNvPr>
          <p:cNvSpPr txBox="1"/>
          <p:nvPr/>
        </p:nvSpPr>
        <p:spPr>
          <a:xfrm>
            <a:off x="833537" y="2900677"/>
            <a:ext cx="43063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시간복잡도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계산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19B972-A90F-38F8-BBEA-06C1BD367F19}"/>
              </a:ext>
            </a:extLst>
          </p:cNvPr>
          <p:cNvSpPr txBox="1"/>
          <p:nvPr/>
        </p:nvSpPr>
        <p:spPr>
          <a:xfrm>
            <a:off x="833536" y="3316778"/>
            <a:ext cx="516455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누적 합을 저장하는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P[]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전처리에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O(N)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구간 합을 구하는 연산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O(1)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구간 합을 구하는 횟수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M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번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시간 복잡도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: O(N+M)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973A7-C08A-EFC0-D502-9C6FA822431C}"/>
              </a:ext>
            </a:extLst>
          </p:cNvPr>
          <p:cNvSpPr txBox="1"/>
          <p:nvPr/>
        </p:nvSpPr>
        <p:spPr>
          <a:xfrm>
            <a:off x="6673251" y="2719668"/>
            <a:ext cx="462801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400" b="0" i="0" dirty="0">
                <a:solidFill>
                  <a:srgbClr val="6F42C1"/>
                </a:solidFill>
                <a:effectLst/>
                <a:latin typeface="Lucida Console" panose="020B0609040504020204" pitchFamily="49" charset="0"/>
              </a:rPr>
              <a:t>main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() {</a:t>
            </a:r>
            <a:endParaRPr lang="en-US" altLang="ko-KR" sz="1400" b="0" i="0" dirty="0">
              <a:solidFill>
                <a:srgbClr val="D73A49"/>
              </a:solidFill>
              <a:effectLst/>
              <a:latin typeface="Lucida Console" panose="020B0609040504020204" pitchFamily="49" charset="0"/>
            </a:endParaRPr>
          </a:p>
          <a:p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    int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N, M, L, R; </a:t>
            </a:r>
          </a:p>
          <a:p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  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cin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&gt;&gt; N &gt;&gt; M; </a:t>
            </a:r>
          </a:p>
          <a:p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   vector&lt;</a:t>
            </a:r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&gt; </a:t>
            </a:r>
            <a:r>
              <a:rPr lang="en-US" altLang="ko-KR" sz="1400" b="0" i="0" dirty="0">
                <a:solidFill>
                  <a:srgbClr val="6F42C1"/>
                </a:solidFill>
                <a:effectLst/>
                <a:latin typeface="Lucida Console" panose="020B0609040504020204" pitchFamily="49" charset="0"/>
              </a:rPr>
              <a:t>A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(N+</a:t>
            </a:r>
            <a:r>
              <a:rPr lang="en-US" altLang="ko-KR" sz="14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1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), </a:t>
            </a:r>
            <a:r>
              <a:rPr lang="en-US" altLang="ko-KR" sz="1400" b="0" i="0" dirty="0">
                <a:solidFill>
                  <a:srgbClr val="6F42C1"/>
                </a:solidFill>
                <a:effectLst/>
                <a:latin typeface="Lucida Console" panose="020B0609040504020204" pitchFamily="49" charset="0"/>
              </a:rPr>
              <a:t>P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(N+</a:t>
            </a:r>
            <a:r>
              <a:rPr lang="en-US" altLang="ko-KR" sz="14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1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); </a:t>
            </a:r>
          </a:p>
          <a:p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    for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=</a:t>
            </a:r>
            <a:r>
              <a:rPr lang="en-US" altLang="ko-KR" sz="14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1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;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&lt;= N;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++){ </a:t>
            </a:r>
          </a:p>
          <a:p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      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cin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&gt;&gt; A[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]; </a:t>
            </a:r>
          </a:p>
          <a:p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       P[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] += P[i</a:t>
            </a:r>
            <a:r>
              <a:rPr lang="en-US" altLang="ko-KR" sz="14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-1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]+A[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]; </a:t>
            </a:r>
          </a:p>
          <a:p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   } </a:t>
            </a:r>
          </a:p>
          <a:p>
            <a:r>
              <a:rPr lang="en-US" altLang="ko-KR" sz="1400" b="0" i="0" dirty="0">
                <a:solidFill>
                  <a:srgbClr val="D73A49"/>
                </a:solidFill>
                <a:effectLst/>
                <a:latin typeface="Lucida Console" panose="020B0609040504020204" pitchFamily="49" charset="0"/>
              </a:rPr>
              <a:t>    while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(M--){ </a:t>
            </a:r>
          </a:p>
          <a:p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      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cin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&gt;&gt; L &gt;&gt; R; </a:t>
            </a:r>
          </a:p>
          <a:p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       </a:t>
            </a:r>
            <a:r>
              <a:rPr lang="en-US" altLang="ko-KR" sz="1400" b="0" i="0" dirty="0" err="1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cout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&lt;&lt;P[R]-P[L</a:t>
            </a:r>
            <a:r>
              <a:rPr lang="en-US" altLang="ko-KR" sz="1400" b="0" i="0" dirty="0">
                <a:solidFill>
                  <a:srgbClr val="005CC5"/>
                </a:solidFill>
                <a:effectLst/>
                <a:latin typeface="Lucida Console" panose="020B0609040504020204" pitchFamily="49" charset="0"/>
              </a:rPr>
              <a:t>-1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]&lt;&lt;</a:t>
            </a:r>
            <a:r>
              <a:rPr lang="en-US" altLang="ko-KR" sz="1400" b="0" i="0" dirty="0">
                <a:solidFill>
                  <a:srgbClr val="032F62"/>
                </a:solidFill>
                <a:effectLst/>
                <a:latin typeface="Lucida Console" panose="020B0609040504020204" pitchFamily="49" charset="0"/>
              </a:rPr>
              <a:t>'\n’</a:t>
            </a:r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; </a:t>
            </a:r>
          </a:p>
          <a:p>
            <a:r>
              <a:rPr lang="en-US" altLang="ko-KR" sz="1400" b="0" i="0" dirty="0">
                <a:solidFill>
                  <a:srgbClr val="24292E"/>
                </a:solidFill>
                <a:effectLst/>
                <a:latin typeface="Lucida Console" panose="020B0609040504020204" pitchFamily="49" charset="0"/>
              </a:rPr>
              <a:t>    } </a:t>
            </a:r>
          </a:p>
          <a:p>
            <a:r>
              <a:rPr lang="en-US" altLang="ko-KR" sz="1400" dirty="0">
                <a:solidFill>
                  <a:srgbClr val="24292E"/>
                </a:solidFill>
                <a:latin typeface="Lucida Console" panose="020B0609040504020204" pitchFamily="49" charset="0"/>
              </a:rPr>
              <a:t>}</a:t>
            </a:r>
            <a:endParaRPr lang="en-US" altLang="ko-KR" sz="1400" b="0" i="0" dirty="0">
              <a:solidFill>
                <a:srgbClr val="24292E"/>
              </a:solidFill>
              <a:effectLst/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348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A39F1-F6FE-AAC4-A4B0-42583B7FF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6CBA327-BCEE-7E1D-B473-EE9923294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D12FC88-B859-167B-E213-DA72ED198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22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2542B32-B860-0CBF-321D-B4639245C1DA}"/>
              </a:ext>
            </a:extLst>
          </p:cNvPr>
          <p:cNvGrpSpPr/>
          <p:nvPr/>
        </p:nvGrpSpPr>
        <p:grpSpPr>
          <a:xfrm>
            <a:off x="722811" y="577310"/>
            <a:ext cx="2300172" cy="750097"/>
            <a:chOff x="1271451" y="2719618"/>
            <a:chExt cx="2300172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611399E-4F17-DE3B-C2E2-6166760CE3BA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438A566-8A70-9D4F-8794-9CDDFCAB50E3}"/>
                </a:ext>
              </a:extLst>
            </p:cNvPr>
            <p:cNvSpPr txBox="1"/>
            <p:nvPr/>
          </p:nvSpPr>
          <p:spPr>
            <a:xfrm>
              <a:off x="1382177" y="2853329"/>
              <a:ext cx="11801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누적 합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F002EFA-4F25-313A-EFB7-07DF82AC117A}"/>
                </a:ext>
              </a:extLst>
            </p:cNvPr>
            <p:cNvSpPr txBox="1"/>
            <p:nvPr/>
          </p:nvSpPr>
          <p:spPr>
            <a:xfrm>
              <a:off x="1382177" y="3192716"/>
              <a:ext cx="21894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&lt;Prefix Sum&gt; - 2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차원 누적 합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307C3CE-8236-8EB4-2899-CAC34E41EC05}"/>
              </a:ext>
            </a:extLst>
          </p:cNvPr>
          <p:cNvGrpSpPr/>
          <p:nvPr/>
        </p:nvGrpSpPr>
        <p:grpSpPr>
          <a:xfrm>
            <a:off x="4716543" y="1536579"/>
            <a:ext cx="2758914" cy="430887"/>
            <a:chOff x="1097620" y="1639465"/>
            <a:chExt cx="2758914" cy="430887"/>
          </a:xfrm>
        </p:grpSpPr>
        <p:pic>
          <p:nvPicPr>
            <p:cNvPr id="10" name="그래픽 9">
              <a:extLst>
                <a:ext uri="{FF2B5EF4-FFF2-40B4-BE49-F238E27FC236}">
                  <a16:creationId xmlns:a16="http://schemas.microsoft.com/office/drawing/2014/main" id="{1F46A6A8-B5F1-C825-2967-E555C7D09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97620" y="1740314"/>
              <a:ext cx="257841" cy="330037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453A1EE-30ED-7A31-3151-EA4287772463}"/>
                </a:ext>
              </a:extLst>
            </p:cNvPr>
            <p:cNvSpPr txBox="1"/>
            <p:nvPr/>
          </p:nvSpPr>
          <p:spPr>
            <a:xfrm>
              <a:off x="1355462" y="1639465"/>
              <a:ext cx="250107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구간</a:t>
              </a: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 </a:t>
              </a: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합 구하기 </a:t>
              </a: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5</a:t>
              </a: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(BOJ #11660)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FE60206-B9CE-DA2A-BE65-A90A6EE4F04D}"/>
              </a:ext>
            </a:extLst>
          </p:cNvPr>
          <p:cNvSpPr txBox="1"/>
          <p:nvPr/>
        </p:nvSpPr>
        <p:spPr>
          <a:xfrm>
            <a:off x="1406100" y="2691344"/>
            <a:ext cx="43063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문제 설명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DB6D96-A4A2-0922-A1B1-2E9A18D40851}"/>
              </a:ext>
            </a:extLst>
          </p:cNvPr>
          <p:cNvSpPr txBox="1"/>
          <p:nvPr/>
        </p:nvSpPr>
        <p:spPr>
          <a:xfrm>
            <a:off x="1406099" y="3107445"/>
            <a:ext cx="5164559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en-US" altLang="ko-KR" sz="1600" b="0" i="0" dirty="0">
                <a:solidFill>
                  <a:srgbClr val="555555"/>
                </a:solidFill>
                <a:effectLst/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×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개의 수가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en-US" altLang="ko-KR" sz="1600" b="0" i="0" dirty="0">
                <a:solidFill>
                  <a:srgbClr val="555555"/>
                </a:solidFill>
                <a:effectLst/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×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크기의 표에 채워져 있음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(x1, y1)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부터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(x2,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y2)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까지 합을 구하기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(x, y)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x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행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y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열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합을 구하는 연산은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M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번 들어옴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E74B57-6749-DA50-098B-1CF54F780CA1}"/>
              </a:ext>
            </a:extLst>
          </p:cNvPr>
          <p:cNvSpPr txBox="1"/>
          <p:nvPr/>
        </p:nvSpPr>
        <p:spPr>
          <a:xfrm>
            <a:off x="7736971" y="2691344"/>
            <a:ext cx="34718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제약 조건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DC3DE8F-CFDB-805D-57EB-8F5184F0DBF7}"/>
                  </a:ext>
                </a:extLst>
              </p:cNvPr>
              <p:cNvSpPr txBox="1"/>
              <p:nvPr/>
            </p:nvSpPr>
            <p:spPr>
              <a:xfrm>
                <a:off x="7736970" y="3107445"/>
                <a:ext cx="3683302" cy="1908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1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N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1,024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1</a:t>
                </a:r>
                <a:r>
                  <a:rPr lang="en-US" altLang="ko-KR" sz="16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마루 부리OTF 가는" panose="020B0600000101010101" pitchFamily="34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M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마루 부리OTF 가는" panose="020B0600000101010101" pitchFamily="34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100,000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1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x1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x2 </a:t>
                </a:r>
                <a14:m>
                  <m:oMath xmlns:m="http://schemas.openxmlformats.org/officeDocument/2006/math">
                    <m:r>
                      <a:rPr lang="en-US" altLang="ko-KR" sz="160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N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1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y1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y2 </a:t>
                </a:r>
                <a14:m>
                  <m:oMath xmlns:m="http://schemas.openxmlformats.org/officeDocument/2006/math">
                    <m:r>
                      <a:rPr lang="en-US" altLang="ko-KR" sz="160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N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표에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채워진 수는 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1000 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이하 자연수</a:t>
                </a:r>
                <a:endPara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가는" panose="020B0600000101010101" pitchFamily="34" charset="-127"/>
                  <a:ea typeface="마루 부리OTF 가는" panose="020B0600000101010101" pitchFamily="34" charset="-127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DC3DE8F-CFDB-805D-57EB-8F5184F0D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6970" y="3107445"/>
                <a:ext cx="3683302" cy="1908215"/>
              </a:xfrm>
              <a:prstGeom prst="rect">
                <a:avLst/>
              </a:prstGeom>
              <a:blipFill>
                <a:blip r:embed="rId4"/>
                <a:stretch>
                  <a:fillRect l="-662" b="-35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52510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D5C75-8DB7-7AD6-4D7D-F57B6F811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928F5192-5712-8374-EA52-56C089743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97522D1-7C40-F026-7089-C6A0E6C1D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C1D009C-5718-EF9F-8A2E-B2E4D3F563FC}"/>
              </a:ext>
            </a:extLst>
          </p:cNvPr>
          <p:cNvGrpSpPr/>
          <p:nvPr/>
        </p:nvGrpSpPr>
        <p:grpSpPr>
          <a:xfrm>
            <a:off x="722811" y="577310"/>
            <a:ext cx="2300172" cy="750097"/>
            <a:chOff x="1271451" y="2719618"/>
            <a:chExt cx="2300172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3ADF355-4E91-7165-36FD-FACB68CCB7CF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295C13C-B30D-672F-5E99-46A99440482D}"/>
                </a:ext>
              </a:extLst>
            </p:cNvPr>
            <p:cNvSpPr txBox="1"/>
            <p:nvPr/>
          </p:nvSpPr>
          <p:spPr>
            <a:xfrm>
              <a:off x="1382177" y="2853329"/>
              <a:ext cx="11801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누적 합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4F47658-7C58-0478-7835-8264741FD95F}"/>
                </a:ext>
              </a:extLst>
            </p:cNvPr>
            <p:cNvSpPr txBox="1"/>
            <p:nvPr/>
          </p:nvSpPr>
          <p:spPr>
            <a:xfrm>
              <a:off x="1382177" y="3192716"/>
              <a:ext cx="21894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&lt;Prefix Sum&gt; - 2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차원 누적 합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A1EF59B-1EFE-08DD-B3FB-6659F38D3983}"/>
                  </a:ext>
                </a:extLst>
              </p:cNvPr>
              <p:cNvSpPr txBox="1"/>
              <p:nvPr/>
            </p:nvSpPr>
            <p:spPr>
              <a:xfrm>
                <a:off x="833537" y="1908289"/>
                <a:ext cx="6532237" cy="4946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배열 </a:t>
                </a:r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P</a:t>
                </a:r>
                <a:r>
                  <a:rPr lang="ko-KR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를 생각해보자</a:t>
                </a:r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dPr>
                      <m:e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𝑛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dPr>
                      <m:e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𝑚</m:t>
                        </m:r>
                      </m:e>
                    </m:d>
                    <m:r>
                      <a:rPr lang="en-US" altLang="ko-KR" sz="2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중간" panose="020B0600000101010101" pitchFamily="34" charset="-127"/>
                      </a:rPr>
                      <m:t>= 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𝑖</m:t>
                        </m:r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=1</m:t>
                        </m:r>
                      </m:sub>
                      <m:sup>
                        <m:r>
                          <a:rPr lang="en-US" altLang="ko-KR" sz="2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중간" panose="020B0600000101010101" pitchFamily="34" charset="-127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n-US" altLang="ko-KR" sz="22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마루 부리OTF 중간" panose="020B0600000101010101" pitchFamily="34" charset="-127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sz="2200" b="0" i="1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마루 부리OTF 중간" panose="020B0600000101010101" pitchFamily="34" charset="-127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altLang="ko-KR" sz="2200" b="0" i="1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마루 부리OTF 중간" panose="020B0600000101010101" pitchFamily="34" charset="-127"/>
                                  </a:rPr>
                                  <m:t>𝑗</m:t>
                                </m:r>
                                <m:r>
                                  <a:rPr lang="en-US" altLang="ko-KR" sz="2200" b="0" i="1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마루 부리OTF 중간" panose="020B0600000101010101" pitchFamily="34" charset="-127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2200" b="0" i="1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마루 부리OTF 중간" panose="020B0600000101010101" pitchFamily="34" charset="-127"/>
                                  </a:rPr>
                                  <m:t>𝑚</m:t>
                                </m:r>
                              </m:sup>
                              <m:e>
                                <m:r>
                                  <a:rPr lang="en-US" altLang="ko-KR" sz="2200" b="0" i="1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마루 부리OTF 중간" panose="020B0600000101010101" pitchFamily="34" charset="-127"/>
                                  </a:rPr>
                                  <m:t>𝐴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22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마루 부리OTF 중간" panose="020B0600000101010101" pitchFamily="34" charset="-127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2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마루 부리OTF 중간" panose="020B0600000101010101" pitchFamily="34" charset="-127"/>
                                      </a:rPr>
                                      <m:t>𝑖</m:t>
                                    </m:r>
                                  </m:e>
                                </m:d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22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마루 부리OTF 중간" panose="020B0600000101010101" pitchFamily="34" charset="-127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2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마루 부리OTF 중간" panose="020B0600000101010101" pitchFamily="34" charset="-127"/>
                                      </a:rPr>
                                      <m:t>𝑗</m:t>
                                    </m:r>
                                  </m:e>
                                </m:d>
                              </m:e>
                            </m:nary>
                          </m:e>
                        </m:d>
                      </m:e>
                    </m:nary>
                  </m:oMath>
                </a14:m>
                <a:r>
                  <a:rPr lang="en-US" altLang="ko-KR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A1EF59B-1EFE-08DD-B3FB-6659F38D39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37" y="1908289"/>
                <a:ext cx="6532237" cy="494623"/>
              </a:xfrm>
              <a:prstGeom prst="rect">
                <a:avLst/>
              </a:prstGeom>
              <a:blipFill>
                <a:blip r:embed="rId2"/>
                <a:stretch>
                  <a:fillRect l="-1214" t="-106173" b="-1580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5F4FC1EA-5C8C-5207-0DD0-B945527E3C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613611"/>
              </p:ext>
            </p:extLst>
          </p:nvPr>
        </p:nvGraphicFramePr>
        <p:xfrm>
          <a:off x="2558375" y="3342418"/>
          <a:ext cx="2244948" cy="2074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237">
                  <a:extLst>
                    <a:ext uri="{9D8B030D-6E8A-4147-A177-3AD203B41FA5}">
                      <a16:colId xmlns:a16="http://schemas.microsoft.com/office/drawing/2014/main" val="2601622573"/>
                    </a:ext>
                  </a:extLst>
                </a:gridCol>
                <a:gridCol w="561237">
                  <a:extLst>
                    <a:ext uri="{9D8B030D-6E8A-4147-A177-3AD203B41FA5}">
                      <a16:colId xmlns:a16="http://schemas.microsoft.com/office/drawing/2014/main" val="2617636211"/>
                    </a:ext>
                  </a:extLst>
                </a:gridCol>
                <a:gridCol w="561237">
                  <a:extLst>
                    <a:ext uri="{9D8B030D-6E8A-4147-A177-3AD203B41FA5}">
                      <a16:colId xmlns:a16="http://schemas.microsoft.com/office/drawing/2014/main" val="2605203801"/>
                    </a:ext>
                  </a:extLst>
                </a:gridCol>
                <a:gridCol w="561237">
                  <a:extLst>
                    <a:ext uri="{9D8B030D-6E8A-4147-A177-3AD203B41FA5}">
                      <a16:colId xmlns:a16="http://schemas.microsoft.com/office/drawing/2014/main" val="400699880"/>
                    </a:ext>
                  </a:extLst>
                </a:gridCol>
              </a:tblGrid>
              <a:tr h="5186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801003"/>
                  </a:ext>
                </a:extLst>
              </a:tr>
              <a:tr h="5186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570289"/>
                  </a:ext>
                </a:extLst>
              </a:tr>
              <a:tr h="5186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193755"/>
                  </a:ext>
                </a:extLst>
              </a:tr>
              <a:tr h="5186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371647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865D09BB-B840-1101-4B5E-323FCD7FBC86}"/>
              </a:ext>
            </a:extLst>
          </p:cNvPr>
          <p:cNvSpPr txBox="1"/>
          <p:nvPr/>
        </p:nvSpPr>
        <p:spPr>
          <a:xfrm>
            <a:off x="2558375" y="2934793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A</a:t>
            </a:r>
            <a:endParaRPr lang="ko-KR" altLang="en-US" dirty="0"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44EBD466-3A22-B19F-F337-9BD17314C6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989503"/>
              </p:ext>
            </p:extLst>
          </p:nvPr>
        </p:nvGraphicFramePr>
        <p:xfrm>
          <a:off x="7388679" y="3342418"/>
          <a:ext cx="2244948" cy="2074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237">
                  <a:extLst>
                    <a:ext uri="{9D8B030D-6E8A-4147-A177-3AD203B41FA5}">
                      <a16:colId xmlns:a16="http://schemas.microsoft.com/office/drawing/2014/main" val="2601622573"/>
                    </a:ext>
                  </a:extLst>
                </a:gridCol>
                <a:gridCol w="561237">
                  <a:extLst>
                    <a:ext uri="{9D8B030D-6E8A-4147-A177-3AD203B41FA5}">
                      <a16:colId xmlns:a16="http://schemas.microsoft.com/office/drawing/2014/main" val="2617636211"/>
                    </a:ext>
                  </a:extLst>
                </a:gridCol>
                <a:gridCol w="561237">
                  <a:extLst>
                    <a:ext uri="{9D8B030D-6E8A-4147-A177-3AD203B41FA5}">
                      <a16:colId xmlns:a16="http://schemas.microsoft.com/office/drawing/2014/main" val="2605203801"/>
                    </a:ext>
                  </a:extLst>
                </a:gridCol>
                <a:gridCol w="561237">
                  <a:extLst>
                    <a:ext uri="{9D8B030D-6E8A-4147-A177-3AD203B41FA5}">
                      <a16:colId xmlns:a16="http://schemas.microsoft.com/office/drawing/2014/main" val="400699880"/>
                    </a:ext>
                  </a:extLst>
                </a:gridCol>
              </a:tblGrid>
              <a:tr h="5186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10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801003"/>
                  </a:ext>
                </a:extLst>
              </a:tr>
              <a:tr h="5186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15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24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570289"/>
                  </a:ext>
                </a:extLst>
              </a:tr>
              <a:tr h="5186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15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27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42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193755"/>
                  </a:ext>
                </a:extLst>
              </a:tr>
              <a:tr h="5186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10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24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42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64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371647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7002A8A-2043-49EF-3234-FEF41DD6C307}"/>
              </a:ext>
            </a:extLst>
          </p:cNvPr>
          <p:cNvSpPr txBox="1"/>
          <p:nvPr/>
        </p:nvSpPr>
        <p:spPr>
          <a:xfrm>
            <a:off x="7388679" y="2934793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P</a:t>
            </a:r>
            <a:endParaRPr lang="ko-KR" altLang="en-US" dirty="0"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41B130EB-CE1D-6B59-416C-5B8F6A5336CF}"/>
              </a:ext>
            </a:extLst>
          </p:cNvPr>
          <p:cNvSpPr/>
          <p:nvPr/>
        </p:nvSpPr>
        <p:spPr>
          <a:xfrm>
            <a:off x="5518749" y="4065982"/>
            <a:ext cx="1154502" cy="632298"/>
          </a:xfrm>
          <a:prstGeom prst="rightArrow">
            <a:avLst/>
          </a:prstGeom>
          <a:solidFill>
            <a:srgbClr val="ECE4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34745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24FA4-699B-02DB-C640-3E91E3099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D981EDDC-0321-E8D8-612C-96BECC6ED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57BEF7D-357C-D990-7D28-2BC749FA4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CD55507D-461A-0C51-05F9-4158AACE49D8}"/>
              </a:ext>
            </a:extLst>
          </p:cNvPr>
          <p:cNvGrpSpPr/>
          <p:nvPr/>
        </p:nvGrpSpPr>
        <p:grpSpPr>
          <a:xfrm>
            <a:off x="722811" y="577310"/>
            <a:ext cx="2300172" cy="750097"/>
            <a:chOff x="1271451" y="2719618"/>
            <a:chExt cx="2300172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32BEB25-5BA0-AED1-B210-CDF76E14F11C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515AB32-3853-E070-59CA-4F9CBBE169B7}"/>
                </a:ext>
              </a:extLst>
            </p:cNvPr>
            <p:cNvSpPr txBox="1"/>
            <p:nvPr/>
          </p:nvSpPr>
          <p:spPr>
            <a:xfrm>
              <a:off x="1382177" y="2853329"/>
              <a:ext cx="11801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누적 합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B35A34F-1978-B283-BA17-C7FA80A6C852}"/>
                </a:ext>
              </a:extLst>
            </p:cNvPr>
            <p:cNvSpPr txBox="1"/>
            <p:nvPr/>
          </p:nvSpPr>
          <p:spPr>
            <a:xfrm>
              <a:off x="1382177" y="3192716"/>
              <a:ext cx="21894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&lt;Prefix Sum&gt; - 2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차원 누적 합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4875396-5196-D38E-FBC0-9AC45D5FE296}"/>
              </a:ext>
            </a:extLst>
          </p:cNvPr>
          <p:cNvSpPr txBox="1"/>
          <p:nvPr/>
        </p:nvSpPr>
        <p:spPr>
          <a:xfrm>
            <a:off x="833537" y="1908289"/>
            <a:ext cx="1012264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(x1, y1)</a:t>
            </a:r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부터 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(x2,</a:t>
            </a:r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y2)</a:t>
            </a:r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까지의 합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: P[x2][y2] - P[x1-1][y2] - P[x2][y1-1] + P[x1-1][y1-1]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27BEC866-44BC-C0D3-51F2-C86B9214F4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322260"/>
              </p:ext>
            </p:extLst>
          </p:nvPr>
        </p:nvGraphicFramePr>
        <p:xfrm>
          <a:off x="7388679" y="3347758"/>
          <a:ext cx="2244948" cy="2074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237">
                  <a:extLst>
                    <a:ext uri="{9D8B030D-6E8A-4147-A177-3AD203B41FA5}">
                      <a16:colId xmlns:a16="http://schemas.microsoft.com/office/drawing/2014/main" val="2601622573"/>
                    </a:ext>
                  </a:extLst>
                </a:gridCol>
                <a:gridCol w="561237">
                  <a:extLst>
                    <a:ext uri="{9D8B030D-6E8A-4147-A177-3AD203B41FA5}">
                      <a16:colId xmlns:a16="http://schemas.microsoft.com/office/drawing/2014/main" val="2617636211"/>
                    </a:ext>
                  </a:extLst>
                </a:gridCol>
                <a:gridCol w="561237">
                  <a:extLst>
                    <a:ext uri="{9D8B030D-6E8A-4147-A177-3AD203B41FA5}">
                      <a16:colId xmlns:a16="http://schemas.microsoft.com/office/drawing/2014/main" val="2605203801"/>
                    </a:ext>
                  </a:extLst>
                </a:gridCol>
                <a:gridCol w="561237">
                  <a:extLst>
                    <a:ext uri="{9D8B030D-6E8A-4147-A177-3AD203B41FA5}">
                      <a16:colId xmlns:a16="http://schemas.microsoft.com/office/drawing/2014/main" val="400699880"/>
                    </a:ext>
                  </a:extLst>
                </a:gridCol>
              </a:tblGrid>
              <a:tr h="5186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bg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bg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2CC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bg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bg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2CC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bg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6</a:t>
                      </a:r>
                      <a:endParaRPr lang="ko-KR" altLang="en-US" b="0" dirty="0">
                        <a:solidFill>
                          <a:schemeClr val="bg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81E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bg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10</a:t>
                      </a:r>
                      <a:endParaRPr lang="ko-KR" altLang="en-US" b="0" dirty="0">
                        <a:solidFill>
                          <a:schemeClr val="bg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8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8801003"/>
                  </a:ext>
                </a:extLst>
              </a:tr>
              <a:tr h="5186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bg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bg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81E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bg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8</a:t>
                      </a:r>
                      <a:endParaRPr lang="ko-KR" altLang="en-US" b="0" dirty="0">
                        <a:solidFill>
                          <a:schemeClr val="bg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81E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15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24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570289"/>
                  </a:ext>
                </a:extLst>
              </a:tr>
              <a:tr h="5186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bg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6</a:t>
                      </a:r>
                      <a:endParaRPr lang="ko-KR" altLang="en-US" b="0" dirty="0">
                        <a:solidFill>
                          <a:schemeClr val="bg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81E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bg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15</a:t>
                      </a:r>
                      <a:endParaRPr lang="ko-KR" altLang="en-US" b="0" dirty="0">
                        <a:solidFill>
                          <a:schemeClr val="bg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81E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27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42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193755"/>
                  </a:ext>
                </a:extLst>
              </a:tr>
              <a:tr h="5186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bg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10</a:t>
                      </a:r>
                      <a:endParaRPr lang="ko-KR" altLang="en-US" b="0" dirty="0">
                        <a:solidFill>
                          <a:schemeClr val="bg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81E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bg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24</a:t>
                      </a:r>
                      <a:endParaRPr lang="ko-KR" altLang="en-US" b="0" dirty="0">
                        <a:solidFill>
                          <a:schemeClr val="bg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81E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42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64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716479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045EE1A-50EA-0ABD-26E1-3E3ED2F6D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746485"/>
              </p:ext>
            </p:extLst>
          </p:nvPr>
        </p:nvGraphicFramePr>
        <p:xfrm>
          <a:off x="2558375" y="3342418"/>
          <a:ext cx="2244948" cy="2074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237">
                  <a:extLst>
                    <a:ext uri="{9D8B030D-6E8A-4147-A177-3AD203B41FA5}">
                      <a16:colId xmlns:a16="http://schemas.microsoft.com/office/drawing/2014/main" val="2601622573"/>
                    </a:ext>
                  </a:extLst>
                </a:gridCol>
                <a:gridCol w="561237">
                  <a:extLst>
                    <a:ext uri="{9D8B030D-6E8A-4147-A177-3AD203B41FA5}">
                      <a16:colId xmlns:a16="http://schemas.microsoft.com/office/drawing/2014/main" val="2617636211"/>
                    </a:ext>
                  </a:extLst>
                </a:gridCol>
                <a:gridCol w="561237">
                  <a:extLst>
                    <a:ext uri="{9D8B030D-6E8A-4147-A177-3AD203B41FA5}">
                      <a16:colId xmlns:a16="http://schemas.microsoft.com/office/drawing/2014/main" val="2605203801"/>
                    </a:ext>
                  </a:extLst>
                </a:gridCol>
                <a:gridCol w="561237">
                  <a:extLst>
                    <a:ext uri="{9D8B030D-6E8A-4147-A177-3AD203B41FA5}">
                      <a16:colId xmlns:a16="http://schemas.microsoft.com/office/drawing/2014/main" val="400699880"/>
                    </a:ext>
                  </a:extLst>
                </a:gridCol>
              </a:tblGrid>
              <a:tr h="5186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801003"/>
                  </a:ext>
                </a:extLst>
              </a:tr>
              <a:tr h="5186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570289"/>
                  </a:ext>
                </a:extLst>
              </a:tr>
              <a:tr h="5186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193755"/>
                  </a:ext>
                </a:extLst>
              </a:tr>
              <a:tr h="5186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37164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1A58823-6E6D-7891-870F-071451973F92}"/>
              </a:ext>
            </a:extLst>
          </p:cNvPr>
          <p:cNvSpPr txBox="1"/>
          <p:nvPr/>
        </p:nvSpPr>
        <p:spPr>
          <a:xfrm>
            <a:off x="2558375" y="2934793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A</a:t>
            </a:r>
            <a:endParaRPr lang="ko-KR" altLang="en-US" dirty="0"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3F1F11-2279-D2A2-4A76-69BC87F4CA17}"/>
              </a:ext>
            </a:extLst>
          </p:cNvPr>
          <p:cNvSpPr txBox="1"/>
          <p:nvPr/>
        </p:nvSpPr>
        <p:spPr>
          <a:xfrm>
            <a:off x="7388679" y="2934793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P</a:t>
            </a:r>
            <a:endParaRPr lang="ko-KR" altLang="en-US" dirty="0"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02981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2035A-CF0C-DB57-5799-E76EBB696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9E323B71-FD00-D9BF-70E4-4D946B9E8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B6DEAF0-DD0E-F114-008C-9F1803775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B00A86C-ADA8-01B1-6A9D-B4005FDE0167}"/>
              </a:ext>
            </a:extLst>
          </p:cNvPr>
          <p:cNvGrpSpPr/>
          <p:nvPr/>
        </p:nvGrpSpPr>
        <p:grpSpPr>
          <a:xfrm>
            <a:off x="722811" y="577310"/>
            <a:ext cx="2300172" cy="750097"/>
            <a:chOff x="1271451" y="2719618"/>
            <a:chExt cx="2300172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B601012-BB2C-D4D2-7E44-547B29A3179E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46DB224-DB3B-6FC8-C17F-729D198A7A4D}"/>
                </a:ext>
              </a:extLst>
            </p:cNvPr>
            <p:cNvSpPr txBox="1"/>
            <p:nvPr/>
          </p:nvSpPr>
          <p:spPr>
            <a:xfrm>
              <a:off x="1382177" y="2853329"/>
              <a:ext cx="11801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누적 합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AD08A54-A6BD-B2F7-9847-18F7F43F395E}"/>
                </a:ext>
              </a:extLst>
            </p:cNvPr>
            <p:cNvSpPr txBox="1"/>
            <p:nvPr/>
          </p:nvSpPr>
          <p:spPr>
            <a:xfrm>
              <a:off x="1382177" y="3192716"/>
              <a:ext cx="21894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&lt;Prefix Sum&gt; - 2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차원 누적 합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0C67595-4360-FE93-32DD-3B0F1887B50D}"/>
              </a:ext>
            </a:extLst>
          </p:cNvPr>
          <p:cNvSpPr txBox="1"/>
          <p:nvPr/>
        </p:nvSpPr>
        <p:spPr>
          <a:xfrm>
            <a:off x="833537" y="1908289"/>
            <a:ext cx="1012264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(x1, y1)</a:t>
            </a:r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부터 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(x2,</a:t>
            </a:r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y2)</a:t>
            </a:r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까지의 합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: P[x2][y2] - P[x1-1][y2] - P[x2][y1-1] + P[x1-1][y1-1]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66A3A612-8969-E5AC-E5CC-D2259A6157EC}"/>
              </a:ext>
            </a:extLst>
          </p:cNvPr>
          <p:cNvGrpSpPr/>
          <p:nvPr/>
        </p:nvGrpSpPr>
        <p:grpSpPr>
          <a:xfrm>
            <a:off x="1147415" y="3495190"/>
            <a:ext cx="9897169" cy="1705145"/>
            <a:chOff x="1795476" y="1584960"/>
            <a:chExt cx="9131840" cy="1964986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AA6D43BB-6674-4077-C25C-BC0D7C1F55FB}"/>
                </a:ext>
              </a:extLst>
            </p:cNvPr>
            <p:cNvGrpSpPr/>
            <p:nvPr/>
          </p:nvGrpSpPr>
          <p:grpSpPr>
            <a:xfrm>
              <a:off x="1795476" y="1584960"/>
              <a:ext cx="1329327" cy="1964986"/>
              <a:chOff x="1795476" y="1584960"/>
              <a:chExt cx="1329327" cy="1964986"/>
            </a:xfrm>
          </p:grpSpPr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F8C5BB40-FAA8-27FD-DF25-69F34BAF6640}"/>
                  </a:ext>
                </a:extLst>
              </p:cNvPr>
              <p:cNvSpPr/>
              <p:nvPr/>
            </p:nvSpPr>
            <p:spPr>
              <a:xfrm>
                <a:off x="1795476" y="1584960"/>
                <a:ext cx="621783" cy="47637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FB6F67F2-6FF8-EE7B-EC4F-484FA9AF6F74}"/>
                  </a:ext>
                </a:extLst>
              </p:cNvPr>
              <p:cNvSpPr/>
              <p:nvPr/>
            </p:nvSpPr>
            <p:spPr>
              <a:xfrm>
                <a:off x="2417259" y="1584960"/>
                <a:ext cx="707544" cy="47637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2BA31A4A-B8DE-839D-228E-DDF390E9D064}"/>
                  </a:ext>
                </a:extLst>
              </p:cNvPr>
              <p:cNvSpPr/>
              <p:nvPr/>
            </p:nvSpPr>
            <p:spPr>
              <a:xfrm>
                <a:off x="1795476" y="2061330"/>
                <a:ext cx="621783" cy="148861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AC7C476A-B617-6D02-5D35-D9457275DE91}"/>
                  </a:ext>
                </a:extLst>
              </p:cNvPr>
              <p:cNvSpPr/>
              <p:nvPr/>
            </p:nvSpPr>
            <p:spPr>
              <a:xfrm>
                <a:off x="2417259" y="2061330"/>
                <a:ext cx="707544" cy="1488616"/>
              </a:xfrm>
              <a:prstGeom prst="rect">
                <a:avLst/>
              </a:prstGeom>
              <a:solidFill>
                <a:srgbClr val="ECE4F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5A6E386-7AEB-404D-D434-22CB9D8BDA59}"/>
                </a:ext>
              </a:extLst>
            </p:cNvPr>
            <p:cNvSpPr/>
            <p:nvPr/>
          </p:nvSpPr>
          <p:spPr>
            <a:xfrm>
              <a:off x="3746586" y="1584960"/>
              <a:ext cx="621783" cy="476370"/>
            </a:xfrm>
            <a:prstGeom prst="rect">
              <a:avLst/>
            </a:prstGeom>
            <a:solidFill>
              <a:srgbClr val="5F2CC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6468FA5-3091-329D-3864-3042F3C34C32}"/>
                </a:ext>
              </a:extLst>
            </p:cNvPr>
            <p:cNvSpPr/>
            <p:nvPr/>
          </p:nvSpPr>
          <p:spPr>
            <a:xfrm>
              <a:off x="4368369" y="1584960"/>
              <a:ext cx="707544" cy="476370"/>
            </a:xfrm>
            <a:prstGeom prst="rect">
              <a:avLst/>
            </a:prstGeom>
            <a:solidFill>
              <a:srgbClr val="A281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2834044-78DB-C1E1-1F8A-9EAEBAA96EB4}"/>
                </a:ext>
              </a:extLst>
            </p:cNvPr>
            <p:cNvSpPr/>
            <p:nvPr/>
          </p:nvSpPr>
          <p:spPr>
            <a:xfrm>
              <a:off x="3746586" y="2061330"/>
              <a:ext cx="621783" cy="1488616"/>
            </a:xfrm>
            <a:prstGeom prst="rect">
              <a:avLst/>
            </a:prstGeom>
            <a:solidFill>
              <a:srgbClr val="A281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353F2B9-DAB2-8206-36C7-25CD72B00755}"/>
                </a:ext>
              </a:extLst>
            </p:cNvPr>
            <p:cNvSpPr/>
            <p:nvPr/>
          </p:nvSpPr>
          <p:spPr>
            <a:xfrm>
              <a:off x="4368369" y="2061330"/>
              <a:ext cx="707544" cy="1488616"/>
            </a:xfrm>
            <a:prstGeom prst="rect">
              <a:avLst/>
            </a:prstGeom>
            <a:solidFill>
              <a:srgbClr val="ECE4F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90AD593-62B1-CA48-B7C3-69148D108FA5}"/>
                </a:ext>
              </a:extLst>
            </p:cNvPr>
            <p:cNvSpPr/>
            <p:nvPr/>
          </p:nvSpPr>
          <p:spPr>
            <a:xfrm>
              <a:off x="5697696" y="1584960"/>
              <a:ext cx="621783" cy="476370"/>
            </a:xfrm>
            <a:prstGeom prst="rect">
              <a:avLst/>
            </a:prstGeom>
            <a:solidFill>
              <a:srgbClr val="5F2CC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A5CA794-79C2-F2A6-592B-6FD84D7F8374}"/>
                </a:ext>
              </a:extLst>
            </p:cNvPr>
            <p:cNvSpPr/>
            <p:nvPr/>
          </p:nvSpPr>
          <p:spPr>
            <a:xfrm>
              <a:off x="6319479" y="1584960"/>
              <a:ext cx="707544" cy="47637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4741475-3835-B9D6-8F89-574AFBE76D61}"/>
                </a:ext>
              </a:extLst>
            </p:cNvPr>
            <p:cNvSpPr/>
            <p:nvPr/>
          </p:nvSpPr>
          <p:spPr>
            <a:xfrm>
              <a:off x="5697696" y="2061330"/>
              <a:ext cx="621783" cy="1488616"/>
            </a:xfrm>
            <a:prstGeom prst="rect">
              <a:avLst/>
            </a:prstGeom>
            <a:solidFill>
              <a:srgbClr val="A281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E8B4048D-6E52-D190-2A3B-C5DA5F229297}"/>
                </a:ext>
              </a:extLst>
            </p:cNvPr>
            <p:cNvSpPr/>
            <p:nvPr/>
          </p:nvSpPr>
          <p:spPr>
            <a:xfrm>
              <a:off x="6319479" y="2061330"/>
              <a:ext cx="707544" cy="14886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E783E280-6803-D3D8-FF20-8113E7A08DA9}"/>
                </a:ext>
              </a:extLst>
            </p:cNvPr>
            <p:cNvSpPr/>
            <p:nvPr/>
          </p:nvSpPr>
          <p:spPr>
            <a:xfrm>
              <a:off x="7648805" y="1584960"/>
              <a:ext cx="621783" cy="476370"/>
            </a:xfrm>
            <a:prstGeom prst="rect">
              <a:avLst/>
            </a:prstGeom>
            <a:solidFill>
              <a:srgbClr val="5F2CC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6C20CB4-8A33-0686-4CC9-8ABB8723C25B}"/>
                </a:ext>
              </a:extLst>
            </p:cNvPr>
            <p:cNvSpPr/>
            <p:nvPr/>
          </p:nvSpPr>
          <p:spPr>
            <a:xfrm>
              <a:off x="8270588" y="1584960"/>
              <a:ext cx="707544" cy="476370"/>
            </a:xfrm>
            <a:prstGeom prst="rect">
              <a:avLst/>
            </a:prstGeom>
            <a:solidFill>
              <a:srgbClr val="A281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E60912FF-4BFB-37C7-D556-A682A0F84EBD}"/>
                </a:ext>
              </a:extLst>
            </p:cNvPr>
            <p:cNvSpPr/>
            <p:nvPr/>
          </p:nvSpPr>
          <p:spPr>
            <a:xfrm>
              <a:off x="7648805" y="2061330"/>
              <a:ext cx="621783" cy="14886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254C7CA0-CAD3-8C8E-6127-DD2D60379BE2}"/>
                </a:ext>
              </a:extLst>
            </p:cNvPr>
            <p:cNvSpPr/>
            <p:nvPr/>
          </p:nvSpPr>
          <p:spPr>
            <a:xfrm>
              <a:off x="8270588" y="2061330"/>
              <a:ext cx="707544" cy="14886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9A629867-E05C-D5A1-C625-DBC060DE1856}"/>
                </a:ext>
              </a:extLst>
            </p:cNvPr>
            <p:cNvSpPr/>
            <p:nvPr/>
          </p:nvSpPr>
          <p:spPr>
            <a:xfrm>
              <a:off x="9597989" y="1584960"/>
              <a:ext cx="621783" cy="476370"/>
            </a:xfrm>
            <a:prstGeom prst="rect">
              <a:avLst/>
            </a:prstGeom>
            <a:solidFill>
              <a:srgbClr val="5F2CC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18C466A8-CCD2-9DAF-F458-85C2EDCBE51C}"/>
                </a:ext>
              </a:extLst>
            </p:cNvPr>
            <p:cNvSpPr/>
            <p:nvPr/>
          </p:nvSpPr>
          <p:spPr>
            <a:xfrm>
              <a:off x="10219772" y="1584960"/>
              <a:ext cx="707544" cy="47637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86303703-C1D7-586E-AE4C-104FC29E1901}"/>
                </a:ext>
              </a:extLst>
            </p:cNvPr>
            <p:cNvSpPr/>
            <p:nvPr/>
          </p:nvSpPr>
          <p:spPr>
            <a:xfrm>
              <a:off x="9597989" y="2061330"/>
              <a:ext cx="621783" cy="14886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46B623CE-D828-7234-1782-89DB8850360C}"/>
                </a:ext>
              </a:extLst>
            </p:cNvPr>
            <p:cNvSpPr/>
            <p:nvPr/>
          </p:nvSpPr>
          <p:spPr>
            <a:xfrm>
              <a:off x="10219772" y="2061330"/>
              <a:ext cx="707544" cy="14886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75C49B1-2801-F106-55B9-9A823610A0FD}"/>
                </a:ext>
              </a:extLst>
            </p:cNvPr>
            <p:cNvSpPr txBox="1"/>
            <p:nvPr/>
          </p:nvSpPr>
          <p:spPr>
            <a:xfrm>
              <a:off x="3251027" y="2282418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800" dirty="0">
                  <a:latin typeface="마루 부리OTF 가는" panose="020B0600000101010101" pitchFamily="34" charset="-127"/>
                  <a:ea typeface="마루 부리OTF 가는" panose="020B0600000101010101" pitchFamily="34" charset="-127"/>
                </a:rPr>
                <a:t>=</a:t>
              </a:r>
              <a:endParaRPr lang="ko-KR" altLang="en-US" sz="2800" dirty="0">
                <a:latin typeface="마루 부리OTF 가는" panose="020B0600000101010101" pitchFamily="34" charset="-127"/>
                <a:ea typeface="마루 부리OTF 가는" panose="020B0600000101010101" pitchFamily="34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384F425-32EC-D108-EFB9-279DEF6EA0A2}"/>
                </a:ext>
              </a:extLst>
            </p:cNvPr>
            <p:cNvSpPr txBox="1"/>
            <p:nvPr/>
          </p:nvSpPr>
          <p:spPr>
            <a:xfrm>
              <a:off x="5216479" y="2282418"/>
              <a:ext cx="3353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800" dirty="0">
                  <a:latin typeface="마루 부리OTF 가는" panose="020B0600000101010101" pitchFamily="34" charset="-127"/>
                  <a:ea typeface="마루 부리OTF 가는" panose="020B0600000101010101" pitchFamily="34" charset="-127"/>
                </a:rPr>
                <a:t>-</a:t>
              </a:r>
              <a:endParaRPr lang="ko-KR" altLang="en-US" sz="2800" dirty="0">
                <a:latin typeface="마루 부리OTF 가는" panose="020B0600000101010101" pitchFamily="34" charset="-127"/>
                <a:ea typeface="마루 부리OTF 가는" panose="020B0600000101010101" pitchFamily="34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85560ED-7F5F-6DB3-442D-669EFEAF025A}"/>
                </a:ext>
              </a:extLst>
            </p:cNvPr>
            <p:cNvSpPr txBox="1"/>
            <p:nvPr/>
          </p:nvSpPr>
          <p:spPr>
            <a:xfrm>
              <a:off x="7169277" y="2282418"/>
              <a:ext cx="3353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800" dirty="0">
                  <a:latin typeface="마루 부리OTF 가는" panose="020B0600000101010101" pitchFamily="34" charset="-127"/>
                  <a:ea typeface="마루 부리OTF 가는" panose="020B0600000101010101" pitchFamily="34" charset="-127"/>
                </a:rPr>
                <a:t>-</a:t>
              </a:r>
              <a:endParaRPr lang="ko-KR" altLang="en-US" sz="2800" dirty="0">
                <a:latin typeface="마루 부리OTF 가는" panose="020B0600000101010101" pitchFamily="34" charset="-127"/>
                <a:ea typeface="마루 부리OTF 가는" panose="020B0600000101010101" pitchFamily="34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16EC292-842F-E80D-3706-72DF8CDECA5D}"/>
                </a:ext>
              </a:extLst>
            </p:cNvPr>
            <p:cNvSpPr txBox="1"/>
            <p:nvPr/>
          </p:nvSpPr>
          <p:spPr>
            <a:xfrm>
              <a:off x="9103394" y="2282418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800" dirty="0">
                  <a:latin typeface="마루 부리OTF 가는" panose="020B0600000101010101" pitchFamily="34" charset="-127"/>
                  <a:ea typeface="마루 부리OTF 가는" panose="020B0600000101010101" pitchFamily="34" charset="-127"/>
                </a:rPr>
                <a:t>+</a:t>
              </a:r>
              <a:endParaRPr lang="ko-KR" altLang="en-US" sz="2800" dirty="0">
                <a:latin typeface="마루 부리OTF 가는" panose="020B0600000101010101" pitchFamily="34" charset="-127"/>
                <a:ea typeface="마루 부리OTF 가는" panose="020B0600000101010101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12119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E1D79-B577-4460-0E27-8294A18D7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7928D552-22F4-87AA-34D0-19A0EFCC7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27E239B-E743-A231-5AAF-4346B3DBF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3FAC7C50-A92C-334C-819D-B52156B7B64A}"/>
              </a:ext>
            </a:extLst>
          </p:cNvPr>
          <p:cNvGrpSpPr/>
          <p:nvPr/>
        </p:nvGrpSpPr>
        <p:grpSpPr>
          <a:xfrm>
            <a:off x="722811" y="577310"/>
            <a:ext cx="2300172" cy="750097"/>
            <a:chOff x="1271451" y="2719618"/>
            <a:chExt cx="2300172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359FB5A-0EFA-FD9E-3360-60A0D8163365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89BCE96-15AE-7E4B-C6CC-35BE9D718978}"/>
                </a:ext>
              </a:extLst>
            </p:cNvPr>
            <p:cNvSpPr txBox="1"/>
            <p:nvPr/>
          </p:nvSpPr>
          <p:spPr>
            <a:xfrm>
              <a:off x="1382177" y="2853329"/>
              <a:ext cx="11801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누적 합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854038D-099F-23CB-E4FD-48B32EC0A164}"/>
                </a:ext>
              </a:extLst>
            </p:cNvPr>
            <p:cNvSpPr txBox="1"/>
            <p:nvPr/>
          </p:nvSpPr>
          <p:spPr>
            <a:xfrm>
              <a:off x="1382177" y="3192716"/>
              <a:ext cx="21894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&lt;Prefix Sum&gt; - 2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차원 누적 합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DFDA488-2B53-AA6A-4A03-0632BCD20061}"/>
              </a:ext>
            </a:extLst>
          </p:cNvPr>
          <p:cNvSpPr txBox="1"/>
          <p:nvPr/>
        </p:nvSpPr>
        <p:spPr>
          <a:xfrm>
            <a:off x="833537" y="1908289"/>
            <a:ext cx="7619394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Q: </a:t>
            </a:r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그럼 배열 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P</a:t>
            </a:r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는 어떤 방법으로 초기 값을 설정하나요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?</a:t>
            </a:r>
          </a:p>
          <a:p>
            <a:endParaRPr lang="en-US" altLang="ko-KR" sz="2200" dirty="0">
              <a:solidFill>
                <a:schemeClr val="tx1">
                  <a:lumMod val="85000"/>
                  <a:lumOff val="15000"/>
                </a:schemeClr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A: </a:t>
            </a:r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전 슬라이드 식 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(x1, y1), (x2, y2)</a:t>
            </a:r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에 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(N, M)</a:t>
            </a:r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을 넣어봅시다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!</a:t>
            </a:r>
          </a:p>
          <a:p>
            <a:endParaRPr lang="en-US" altLang="ko-KR" sz="2200" dirty="0">
              <a:solidFill>
                <a:schemeClr val="tx1">
                  <a:lumMod val="85000"/>
                  <a:lumOff val="15000"/>
                </a:schemeClr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A[N][M] = P[N][M] – P[N-1][M] – P[N][M-1] + P[N-1][M-1]</a:t>
            </a:r>
          </a:p>
          <a:p>
            <a:endParaRPr lang="ko-KR" altLang="en-US" sz="22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정리하면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…</a:t>
            </a:r>
          </a:p>
          <a:p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P[N][M] = A[N][M] + P[N-1][M] + P[N][M-1] - P[N-1][M-1]</a:t>
            </a:r>
          </a:p>
        </p:txBody>
      </p:sp>
    </p:spTree>
    <p:extLst>
      <p:ext uri="{BB962C8B-B14F-4D97-AF65-F5344CB8AC3E}">
        <p14:creationId xmlns:p14="http://schemas.microsoft.com/office/powerpoint/2010/main" val="14328388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E623B-D3BE-C68A-DB13-9C590E5B5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F7DC067A-E048-8919-C543-ECBF52AC5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092D394-FD76-6CFE-CA8C-AA29C12F1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27</a:t>
            </a:fld>
            <a:endParaRPr lang="ko-KR" altLang="en-US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AAE4ECE7-268A-BEBD-595D-68C7900068CB}"/>
              </a:ext>
            </a:extLst>
          </p:cNvPr>
          <p:cNvGrpSpPr/>
          <p:nvPr/>
        </p:nvGrpSpPr>
        <p:grpSpPr>
          <a:xfrm>
            <a:off x="4786419" y="2195736"/>
            <a:ext cx="252549" cy="3932343"/>
            <a:chOff x="5266200" y="2270759"/>
            <a:chExt cx="252549" cy="3932343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A5FA733F-EB46-449D-32E4-8A171CB6FDD0}"/>
                </a:ext>
              </a:extLst>
            </p:cNvPr>
            <p:cNvGrpSpPr/>
            <p:nvPr/>
          </p:nvGrpSpPr>
          <p:grpSpPr>
            <a:xfrm>
              <a:off x="5266200" y="2270759"/>
              <a:ext cx="252549" cy="3932343"/>
              <a:chOff x="6803262" y="1384440"/>
              <a:chExt cx="252549" cy="4676726"/>
            </a:xfrm>
          </p:grpSpPr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E85C4296-4615-4A03-81F7-3053D340FB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76872FD2-BED2-1D94-CEDE-522DD8DEBC9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E545700C-4EBB-A182-557D-0DF1E8318B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6200" y="2470256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4A1A516-D628-5DAC-D865-3F1703D9A66B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66D856B-AD31-3075-057B-EEC4323B0AA4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35C6449-73D1-D6FE-CDE2-74A45D346130}"/>
                </a:ext>
              </a:extLst>
            </p:cNvPr>
            <p:cNvSpPr txBox="1"/>
            <p:nvPr/>
          </p:nvSpPr>
          <p:spPr>
            <a:xfrm>
              <a:off x="1382177" y="2853329"/>
              <a:ext cx="11801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누적 합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02EA536-1B86-634E-3FFA-E5DE7EAA8B2B}"/>
                </a:ext>
              </a:extLst>
            </p:cNvPr>
            <p:cNvSpPr txBox="1"/>
            <p:nvPr/>
          </p:nvSpPr>
          <p:spPr>
            <a:xfrm>
              <a:off x="1382177" y="3192716"/>
              <a:ext cx="11603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&lt;Prefix Sum&gt;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D7B17B1-366B-380F-DC18-F598C2A63B97}"/>
              </a:ext>
            </a:extLst>
          </p:cNvPr>
          <p:cNvSpPr txBox="1"/>
          <p:nvPr/>
        </p:nvSpPr>
        <p:spPr>
          <a:xfrm>
            <a:off x="5165243" y="2395233"/>
            <a:ext cx="6533662" cy="3504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ios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sync_with_stdio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tie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빠른 입출력</a:t>
            </a:r>
            <a:endParaRPr lang="en-US" altLang="ko-KR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1025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1025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,},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1025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1025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,};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y1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x2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y2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y1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x2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y2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x2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y2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y2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x2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endParaRPr lang="en-US" altLang="ko-KR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109032-112C-28E6-E865-E7DE2528519C}"/>
              </a:ext>
            </a:extLst>
          </p:cNvPr>
          <p:cNvSpPr txBox="1"/>
          <p:nvPr/>
        </p:nvSpPr>
        <p:spPr>
          <a:xfrm>
            <a:off x="480034" y="2935552"/>
            <a:ext cx="43063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문제 설명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6CBFED-AE3A-FC5B-6EE7-08C482BAD159}"/>
              </a:ext>
            </a:extLst>
          </p:cNvPr>
          <p:cNvSpPr txBox="1"/>
          <p:nvPr/>
        </p:nvSpPr>
        <p:spPr>
          <a:xfrm>
            <a:off x="480034" y="3351653"/>
            <a:ext cx="4403788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en-US" altLang="ko-KR" sz="1600" b="0" i="0" dirty="0">
                <a:solidFill>
                  <a:srgbClr val="555555"/>
                </a:solidFill>
                <a:effectLst/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×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개의 수가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en-US" altLang="ko-KR" sz="1600" b="0" i="0" dirty="0">
                <a:solidFill>
                  <a:srgbClr val="555555"/>
                </a:solidFill>
                <a:effectLst/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×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크기의 표에 채워져 있음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(x1, y1)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부터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(x2,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y2)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까지 합을 구하기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(x, y)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x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행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y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열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합을 구하는 연산은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M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번 들어옴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8B44CEE-CBE8-F19B-85FC-6EAC83F912E9}"/>
              </a:ext>
            </a:extLst>
          </p:cNvPr>
          <p:cNvGrpSpPr/>
          <p:nvPr/>
        </p:nvGrpSpPr>
        <p:grpSpPr>
          <a:xfrm>
            <a:off x="4716543" y="1536579"/>
            <a:ext cx="2758914" cy="430887"/>
            <a:chOff x="1097620" y="1639465"/>
            <a:chExt cx="2758914" cy="430887"/>
          </a:xfrm>
        </p:grpSpPr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CF81BF6B-D5BA-9945-E266-FDE8FA6F34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97620" y="1740314"/>
              <a:ext cx="257841" cy="330037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ABF3C3A-BE27-5ADD-0354-8D4BAB4BF8C6}"/>
                </a:ext>
              </a:extLst>
            </p:cNvPr>
            <p:cNvSpPr txBox="1"/>
            <p:nvPr/>
          </p:nvSpPr>
          <p:spPr>
            <a:xfrm>
              <a:off x="1355462" y="1639465"/>
              <a:ext cx="250107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구간</a:t>
              </a: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 </a:t>
              </a: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합 구하기 </a:t>
              </a: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5</a:t>
              </a: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(BOJ #11660)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16632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9FB83-A4BB-6C5C-C686-3BF07B5D6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A6DE1AD5-4AD6-D8D3-618D-D687AF2B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C21FFF2-9A1B-8B13-14AE-591F8E13B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28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B799821-1C92-6E73-FD6C-CAEEBE7F7206}"/>
              </a:ext>
            </a:extLst>
          </p:cNvPr>
          <p:cNvGrpSpPr/>
          <p:nvPr/>
        </p:nvGrpSpPr>
        <p:grpSpPr>
          <a:xfrm>
            <a:off x="722811" y="577310"/>
            <a:ext cx="1540609" cy="533821"/>
            <a:chOff x="1271451" y="2719618"/>
            <a:chExt cx="1540609" cy="53382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AF46371-1DC2-7F10-0ABC-B05BD836D61A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2C2535D-DD6C-13BF-8C6C-FE9FEE0B82ED}"/>
                </a:ext>
              </a:extLst>
            </p:cNvPr>
            <p:cNvSpPr txBox="1"/>
            <p:nvPr/>
          </p:nvSpPr>
          <p:spPr>
            <a:xfrm>
              <a:off x="1382177" y="2853329"/>
              <a:ext cx="14285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필수 문제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2253729-98CE-48AD-E93C-F3DFE37DE833}"/>
              </a:ext>
            </a:extLst>
          </p:cNvPr>
          <p:cNvGrpSpPr/>
          <p:nvPr/>
        </p:nvGrpSpPr>
        <p:grpSpPr>
          <a:xfrm>
            <a:off x="833537" y="1761511"/>
            <a:ext cx="4407057" cy="790584"/>
            <a:chOff x="833537" y="1761511"/>
            <a:chExt cx="4407057" cy="790584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01DCFE62-01A4-6EDE-7853-27CB00191A64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10" name="그래픽 9">
                <a:extLst>
                  <a:ext uri="{FF2B5EF4-FFF2-40B4-BE49-F238E27FC236}">
                    <a16:creationId xmlns:a16="http://schemas.microsoft.com/office/drawing/2014/main" id="{1A332ACA-DA69-A9F6-0B3C-C25659D2FE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1" cy="330037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8F9204-8C58-8839-961E-45443E612E8A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구간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 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합 구하기 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4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(BOJ #11659)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4A5C6B8-FE19-994A-9CFA-13B28364BF67}"/>
                </a:ext>
              </a:extLst>
            </p:cNvPr>
            <p:cNvSpPr txBox="1"/>
            <p:nvPr/>
          </p:nvSpPr>
          <p:spPr>
            <a:xfrm>
              <a:off x="1091379" y="2227006"/>
              <a:ext cx="2401276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1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차원 누적합을 구현해보아요</a:t>
              </a:r>
              <a:endPara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095D2DC-33CE-D291-A4BC-CBC95415F5D4}"/>
              </a:ext>
            </a:extLst>
          </p:cNvPr>
          <p:cNvGrpSpPr/>
          <p:nvPr/>
        </p:nvGrpSpPr>
        <p:grpSpPr>
          <a:xfrm>
            <a:off x="833537" y="3033708"/>
            <a:ext cx="4407057" cy="790584"/>
            <a:chOff x="833537" y="1761511"/>
            <a:chExt cx="4407057" cy="790584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2DD2A62F-FD53-C6D2-1B08-791952F88FC3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20" name="그래픽 19">
                <a:extLst>
                  <a:ext uri="{FF2B5EF4-FFF2-40B4-BE49-F238E27FC236}">
                    <a16:creationId xmlns:a16="http://schemas.microsoft.com/office/drawing/2014/main" id="{DA264D8A-EC5C-8AEC-438A-AC1B257299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1" cy="330036"/>
              </a:xfrm>
              <a:prstGeom prst="rect">
                <a:avLst/>
              </a:prstGeom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DEB2E18-C124-7848-40A0-16189C0F3FC2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구간 합 구하기 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5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(BOJ #11660)</a:t>
                </a: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A7953DD-EF26-A1AC-9342-556C19C9DCA5}"/>
                </a:ext>
              </a:extLst>
            </p:cNvPr>
            <p:cNvSpPr txBox="1"/>
            <p:nvPr/>
          </p:nvSpPr>
          <p:spPr>
            <a:xfrm>
              <a:off x="1091379" y="2227006"/>
              <a:ext cx="2401276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2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차원 누적합을 구현해보아요</a:t>
              </a:r>
              <a:endPara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31774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0B7CC59-84C9-2748-2E2B-35FB175E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B6E928-A89E-1AED-3811-F5F5BEA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29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E72617A-0684-D6D5-BB9C-31CCE7B434CD}"/>
              </a:ext>
            </a:extLst>
          </p:cNvPr>
          <p:cNvGrpSpPr/>
          <p:nvPr/>
        </p:nvGrpSpPr>
        <p:grpSpPr>
          <a:xfrm>
            <a:off x="722811" y="577310"/>
            <a:ext cx="2108389" cy="533821"/>
            <a:chOff x="1271451" y="2719618"/>
            <a:chExt cx="2108389" cy="53382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142C132-BEF2-02D3-6F81-30206456B364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383A93D-F4E0-E683-C473-2AD0E7A50B52}"/>
                </a:ext>
              </a:extLst>
            </p:cNvPr>
            <p:cNvSpPr txBox="1"/>
            <p:nvPr/>
          </p:nvSpPr>
          <p:spPr>
            <a:xfrm>
              <a:off x="1382177" y="2853329"/>
              <a:ext cx="199766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연습 문제 도전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341961C-51C8-AD09-6FA4-6D0313682DC7}"/>
              </a:ext>
            </a:extLst>
          </p:cNvPr>
          <p:cNvGrpSpPr/>
          <p:nvPr/>
        </p:nvGrpSpPr>
        <p:grpSpPr>
          <a:xfrm>
            <a:off x="833537" y="1761511"/>
            <a:ext cx="4407057" cy="790584"/>
            <a:chOff x="833537" y="1761511"/>
            <a:chExt cx="4407057" cy="790584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3F12F775-532B-3A5C-6513-23CDFA918780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10" name="그래픽 9">
                <a:extLst>
                  <a:ext uri="{FF2B5EF4-FFF2-40B4-BE49-F238E27FC236}">
                    <a16:creationId xmlns:a16="http://schemas.microsoft.com/office/drawing/2014/main" id="{A7BE940B-E6D3-53BC-717F-055402626E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1" cy="330037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47AF04-800F-CF98-2ED6-27C83E4530FE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인간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-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컴퓨터 상호작용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(BOJ #16139)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5DDAAB-1D20-DCB5-EE2A-4CEE275E3B91}"/>
                </a:ext>
              </a:extLst>
            </p:cNvPr>
            <p:cNvSpPr txBox="1"/>
            <p:nvPr/>
          </p:nvSpPr>
          <p:spPr>
            <a:xfrm>
              <a:off x="1091378" y="2227006"/>
              <a:ext cx="2739841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여러 가지 누적 합을 미리 전처리하기</a:t>
              </a:r>
              <a:endPara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80816266-DCD5-8A4C-A62A-45E0E84BBA7F}"/>
              </a:ext>
            </a:extLst>
          </p:cNvPr>
          <p:cNvGrpSpPr/>
          <p:nvPr/>
        </p:nvGrpSpPr>
        <p:grpSpPr>
          <a:xfrm>
            <a:off x="833537" y="3033708"/>
            <a:ext cx="4407057" cy="790584"/>
            <a:chOff x="833537" y="1761511"/>
            <a:chExt cx="4407057" cy="790584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5D5D57EA-215C-9B08-1744-B17B4A98963A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20" name="그래픽 19">
                <a:extLst>
                  <a:ext uri="{FF2B5EF4-FFF2-40B4-BE49-F238E27FC236}">
                    <a16:creationId xmlns:a16="http://schemas.microsoft.com/office/drawing/2014/main" id="{5ABFB785-0693-76F8-5F2F-96C60DB27D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1" cy="330036"/>
              </a:xfrm>
              <a:prstGeom prst="rect">
                <a:avLst/>
              </a:prstGeom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278B6DF-292F-62DF-3714-F9A4617FAEBB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체스판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 다시 칠하기 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2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(BOJ #25682)</a:t>
                </a: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C55F67-6F0F-618D-4DD9-B0592E3B20E8}"/>
                </a:ext>
              </a:extLst>
            </p:cNvPr>
            <p:cNvSpPr txBox="1"/>
            <p:nvPr/>
          </p:nvSpPr>
          <p:spPr>
            <a:xfrm>
              <a:off x="1091379" y="2227006"/>
              <a:ext cx="2401276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배열에 어떤 정보를 저장해야 할까요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?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3726B822-8D07-494E-D51C-23B33077616B}"/>
              </a:ext>
            </a:extLst>
          </p:cNvPr>
          <p:cNvGrpSpPr/>
          <p:nvPr/>
        </p:nvGrpSpPr>
        <p:grpSpPr>
          <a:xfrm>
            <a:off x="833537" y="4341499"/>
            <a:ext cx="4407057" cy="790584"/>
            <a:chOff x="833537" y="1761511"/>
            <a:chExt cx="4407057" cy="790584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0BBBB05C-5EBD-7019-F748-4BE98DA5879D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35" name="그래픽 34">
                <a:extLst>
                  <a:ext uri="{FF2B5EF4-FFF2-40B4-BE49-F238E27FC236}">
                    <a16:creationId xmlns:a16="http://schemas.microsoft.com/office/drawing/2014/main" id="{31C961CA-52D6-3EF0-ADF3-ED9F37AEEC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1" cy="330036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91424FA-4107-D1F2-BD99-1538D7F11479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부분합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(BOJ #1806)</a:t>
                </a: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62886CA-81A1-AAF7-DE7B-51AAAD5D6F13}"/>
                </a:ext>
              </a:extLst>
            </p:cNvPr>
            <p:cNvSpPr txBox="1"/>
            <p:nvPr/>
          </p:nvSpPr>
          <p:spPr>
            <a:xfrm>
              <a:off x="1091379" y="2227006"/>
              <a:ext cx="2401276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배울 것이 많은 좋은 문제</a:t>
              </a:r>
              <a:endPara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09B881D0-0D3E-2900-7089-66A29F56E436}"/>
              </a:ext>
            </a:extLst>
          </p:cNvPr>
          <p:cNvGrpSpPr/>
          <p:nvPr/>
        </p:nvGrpSpPr>
        <p:grpSpPr>
          <a:xfrm>
            <a:off x="6886356" y="4341499"/>
            <a:ext cx="4407057" cy="790584"/>
            <a:chOff x="833537" y="1761511"/>
            <a:chExt cx="4407057" cy="790584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A561F1D2-699D-8BE1-AFD5-8C50D93384C8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40" name="그래픽 39">
                <a:extLst>
                  <a:ext uri="{FF2B5EF4-FFF2-40B4-BE49-F238E27FC236}">
                    <a16:creationId xmlns:a16="http://schemas.microsoft.com/office/drawing/2014/main" id="{E5C0FA43-F596-3BCE-ADAB-B48F7FF518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0" cy="330036"/>
              </a:xfrm>
              <a:prstGeom prst="rect">
                <a:avLst/>
              </a:prstGeom>
            </p:spPr>
          </p:pic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33AADE3-E9AE-DDC3-A52E-CA0DA4DE8075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나머지 합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(BOJ #10986)</a:t>
                </a:r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B22A60C-EB8A-18B8-34D1-DA1240F9DEFD}"/>
                </a:ext>
              </a:extLst>
            </p:cNvPr>
            <p:cNvSpPr txBox="1"/>
            <p:nvPr/>
          </p:nvSpPr>
          <p:spPr>
            <a:xfrm>
              <a:off x="1091379" y="2227006"/>
              <a:ext cx="2401276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특정 조건을 만족하는 구간의 개수는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?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475989C8-9D58-8AA9-BA64-B5022BA95555}"/>
              </a:ext>
            </a:extLst>
          </p:cNvPr>
          <p:cNvGrpSpPr/>
          <p:nvPr/>
        </p:nvGrpSpPr>
        <p:grpSpPr>
          <a:xfrm>
            <a:off x="6886356" y="3032742"/>
            <a:ext cx="4407057" cy="790584"/>
            <a:chOff x="833537" y="1761511"/>
            <a:chExt cx="4407057" cy="790584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40635532-512A-C2A8-0833-C686884C580A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13" name="그래픽 12">
                <a:extLst>
                  <a:ext uri="{FF2B5EF4-FFF2-40B4-BE49-F238E27FC236}">
                    <a16:creationId xmlns:a16="http://schemas.microsoft.com/office/drawing/2014/main" id="{EB058A1C-91BE-B244-41DC-489B5831E3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1" cy="330036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2D32A7F-1FE9-5E05-7DE3-8CC7B09AB830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직사각형과 쿼리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(BOJ #14846)</a:t>
                </a: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458E137-04B7-0639-614D-C8E7613E270E}"/>
                </a:ext>
              </a:extLst>
            </p:cNvPr>
            <p:cNvSpPr txBox="1"/>
            <p:nvPr/>
          </p:nvSpPr>
          <p:spPr>
            <a:xfrm>
              <a:off x="1091379" y="2227006"/>
              <a:ext cx="2401276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문제의 조건에 주목해 봅시다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.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9256A7C9-112E-91F4-C7C9-94E9C7BFA794}"/>
              </a:ext>
            </a:extLst>
          </p:cNvPr>
          <p:cNvGrpSpPr/>
          <p:nvPr/>
        </p:nvGrpSpPr>
        <p:grpSpPr>
          <a:xfrm>
            <a:off x="6886356" y="1759578"/>
            <a:ext cx="4407057" cy="790584"/>
            <a:chOff x="833537" y="1761511"/>
            <a:chExt cx="4407057" cy="790584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8F862031-2D00-1AA6-2A17-EC70611FF926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25" name="그래픽 24">
                <a:extLst>
                  <a:ext uri="{FF2B5EF4-FFF2-40B4-BE49-F238E27FC236}">
                    <a16:creationId xmlns:a16="http://schemas.microsoft.com/office/drawing/2014/main" id="{2AF44FB4-AFA2-493A-A59D-63F343FBB4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0" cy="330035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9BD4879-B056-C428-491D-712DDF2B1A92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문자열 일치도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(BOJ #34837)</a:t>
                </a: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9B5BE6E-732B-574E-6735-0CCDC7146E45}"/>
                </a:ext>
              </a:extLst>
            </p:cNvPr>
            <p:cNvSpPr txBox="1"/>
            <p:nvPr/>
          </p:nvSpPr>
          <p:spPr>
            <a:xfrm>
              <a:off x="1091378" y="2227006"/>
              <a:ext cx="3956423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2025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HCPC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Beginner Div. E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번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| Advanced Div. C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번</a:t>
              </a:r>
              <a:endPara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97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8E9EB40E-D536-0E90-07DF-0DE34EE85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58C5F1-CE31-55E5-10B5-AC7A5C466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30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1584C8-89A9-9FD2-CEB5-3FF5C9C06CF2}"/>
              </a:ext>
            </a:extLst>
          </p:cNvPr>
          <p:cNvSpPr txBox="1"/>
          <p:nvPr/>
        </p:nvSpPr>
        <p:spPr>
          <a:xfrm>
            <a:off x="833537" y="2278196"/>
            <a:ext cx="984275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시간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복잡도는 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Big-</a:t>
            </a:r>
            <a:r>
              <a:rPr lang="el-GR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Ω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표기법과 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Big-</a:t>
            </a:r>
            <a:r>
              <a:rPr lang="el-GR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θ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표기법으로도 표현할 수 있습니다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endParaRPr lang="en-US" altLang="ko-KR" sz="2200" b="0" dirty="0">
              <a:solidFill>
                <a:schemeClr val="tx1">
                  <a:lumMod val="85000"/>
                  <a:lumOff val="15000"/>
                </a:schemeClr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r>
              <a:rPr lang="en-US" altLang="ko-KR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Big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-</a:t>
            </a:r>
            <a:r>
              <a:rPr lang="el-GR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Ω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표기법은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f(x)</a:t>
            </a:r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가 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“</a:t>
            </a:r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최소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” g(x)</a:t>
            </a:r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에 비례하는 수준으로 증가할 때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,</a:t>
            </a:r>
          </a:p>
          <a:p>
            <a:r>
              <a:rPr lang="en-US" altLang="ko-KR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Big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-</a:t>
            </a:r>
            <a:r>
              <a:rPr lang="el-GR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θ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표기법은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f(x)</a:t>
            </a:r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가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g(x)</a:t>
            </a:r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에 비례하는 수준으로 증가할 때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사용할 수 있습니다</a:t>
            </a:r>
            <a: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endParaRPr lang="en-US" altLang="ko-KR" sz="2200" b="0" dirty="0">
              <a:solidFill>
                <a:schemeClr val="tx1">
                  <a:lumMod val="85000"/>
                  <a:lumOff val="15000"/>
                </a:schemeClr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endParaRPr lang="en-US" altLang="ko-KR" sz="2200" b="0" dirty="0">
              <a:solidFill>
                <a:schemeClr val="tx1">
                  <a:lumMod val="85000"/>
                  <a:lumOff val="15000"/>
                </a:schemeClr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C41D2F8-99F9-BCC4-22DE-6681D7CDB51A}"/>
              </a:ext>
            </a:extLst>
          </p:cNvPr>
          <p:cNvGrpSpPr/>
          <p:nvPr/>
        </p:nvGrpSpPr>
        <p:grpSpPr>
          <a:xfrm>
            <a:off x="722811" y="577310"/>
            <a:ext cx="2422834" cy="750097"/>
            <a:chOff x="1271451" y="2719618"/>
            <a:chExt cx="2422834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9EF855A-6307-1256-0791-D0E63B6D5961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8EB42C1-F3DC-6CC2-B794-46F54C39BD4F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시간 복잡도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0257CF2-6CCB-6CC9-01FA-721F26DAD9E3}"/>
                </a:ext>
              </a:extLst>
            </p:cNvPr>
            <p:cNvSpPr txBox="1"/>
            <p:nvPr/>
          </p:nvSpPr>
          <p:spPr>
            <a:xfrm>
              <a:off x="1382177" y="3192716"/>
              <a:ext cx="23121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&lt;Time Complexity&gt; - TMI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 모음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26017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AA048-5B90-C0B9-1B97-660A1ABBD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F8C4951C-10C9-F20B-5113-3D3FC7AB9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A447151-CE70-4585-F21F-42699602A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31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E9B1243-D6A9-810C-8791-EB0D22F82CC3}"/>
              </a:ext>
            </a:extLst>
          </p:cNvPr>
          <p:cNvGrpSpPr/>
          <p:nvPr/>
        </p:nvGrpSpPr>
        <p:grpSpPr>
          <a:xfrm>
            <a:off x="722811" y="577310"/>
            <a:ext cx="2422834" cy="750097"/>
            <a:chOff x="1271451" y="2719618"/>
            <a:chExt cx="2422834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6664321-DCA2-DBF3-16C9-DF00BF0161E2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F1AC3F-9DF4-BDAC-AD33-BC3A5F66ADE7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시간 복잡도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6A2F33E-E52B-1711-A522-8979C9EB34DD}"/>
                </a:ext>
              </a:extLst>
            </p:cNvPr>
            <p:cNvSpPr txBox="1"/>
            <p:nvPr/>
          </p:nvSpPr>
          <p:spPr>
            <a:xfrm>
              <a:off x="1382177" y="3192716"/>
              <a:ext cx="23121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&lt;Time Complexity&gt; - TMI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 모음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88F0E0-530D-1C03-AA80-B661556ED1A8}"/>
                  </a:ext>
                </a:extLst>
              </p:cNvPr>
              <p:cNvSpPr txBox="1"/>
              <p:nvPr/>
            </p:nvSpPr>
            <p:spPr>
              <a:xfrm>
                <a:off x="833537" y="2067262"/>
                <a:ext cx="2479397" cy="11308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den>
                          </m:f>
                        </m:e>
                      </m:nary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func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88F0E0-530D-1C03-AA80-B661556ED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37" y="2067262"/>
                <a:ext cx="2479397" cy="11308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7566EB-AFEF-5EB7-0B77-3EC4863D88FB}"/>
                  </a:ext>
                </a:extLst>
              </p:cNvPr>
              <p:cNvSpPr txBox="1"/>
              <p:nvPr/>
            </p:nvSpPr>
            <p:spPr>
              <a:xfrm>
                <a:off x="833537" y="3198084"/>
                <a:ext cx="2606291" cy="11308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40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7566EB-AFEF-5EB7-0B77-3EC4863D8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37" y="3198084"/>
                <a:ext cx="2606291" cy="11308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8A0C57F-C353-749D-C297-3F1FC394B34C}"/>
                  </a:ext>
                </a:extLst>
              </p:cNvPr>
              <p:cNvSpPr txBox="1"/>
              <p:nvPr/>
            </p:nvSpPr>
            <p:spPr>
              <a:xfrm>
                <a:off x="833537" y="4328906"/>
                <a:ext cx="33164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40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!)=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func>
                        <m:func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d>
                        </m:e>
                      </m:func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8A0C57F-C353-749D-C297-3F1FC394B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37" y="4328906"/>
                <a:ext cx="3316485" cy="461665"/>
              </a:xfrm>
              <a:prstGeom prst="rect">
                <a:avLst/>
              </a:prstGeom>
              <a:blipFill>
                <a:blip r:embed="rId4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56992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9DADD5D3-D80A-B325-031A-24B03E6F6B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849" y="859251"/>
            <a:ext cx="5164301" cy="5139497"/>
          </a:xfrm>
          <a:prstGeom prst="rect">
            <a:avLst/>
          </a:prstGeom>
        </p:spPr>
      </p:pic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D30E43B8-2951-E15D-BD76-7F35D61508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9DEC1C4-6E65-763D-88C9-C9873240F4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sp>
        <p:nvSpPr>
          <p:cNvPr id="18" name="바닥글 개체 틀 4">
            <a:extLst>
              <a:ext uri="{FF2B5EF4-FFF2-40B4-BE49-F238E27FC236}">
                <a16:creationId xmlns:a16="http://schemas.microsoft.com/office/drawing/2014/main" id="{EB4CC88C-A23F-C22E-F092-68A9A8DEA023}"/>
              </a:ext>
            </a:extLst>
          </p:cNvPr>
          <p:cNvSpPr txBox="1">
            <a:spLocks/>
          </p:cNvSpPr>
          <p:nvPr/>
        </p:nvSpPr>
        <p:spPr>
          <a:xfrm>
            <a:off x="9387697" y="385042"/>
            <a:ext cx="20681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2026 ALOHA 1</a:t>
            </a:r>
            <a:r>
              <a:rPr lang="ko-KR" altLang="en-US" dirty="0"/>
              <a:t>학기 멘토링</a:t>
            </a:r>
          </a:p>
        </p:txBody>
      </p:sp>
    </p:spTree>
    <p:extLst>
      <p:ext uri="{BB962C8B-B14F-4D97-AF65-F5344CB8AC3E}">
        <p14:creationId xmlns:p14="http://schemas.microsoft.com/office/powerpoint/2010/main" val="2258968274"/>
      </p:ext>
    </p:extLst>
  </p:cSld>
  <p:clrMapOvr>
    <a:masterClrMapping/>
  </p:clrMapOvr>
</p:sld>
</file>

<file path=ppt/theme/theme1.xml><?xml version="1.0" encoding="utf-8"?>
<a:theme xmlns:a="http://schemas.openxmlformats.org/drawingml/2006/main" name="내용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890</TotalTime>
  <Words>3111</Words>
  <Application>Microsoft Office PowerPoint</Application>
  <PresentationFormat>와이드스크린</PresentationFormat>
  <Paragraphs>607</Paragraphs>
  <Slides>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2" baseType="lpstr">
      <vt:lpstr>Cambria Math</vt:lpstr>
      <vt:lpstr>Consolas</vt:lpstr>
      <vt:lpstr>마루 부리OTF 가는</vt:lpstr>
      <vt:lpstr>마루 부리OTF 아주가는</vt:lpstr>
      <vt:lpstr>마루 부리OTF 중간</vt:lpstr>
      <vt:lpstr>맑은 고딕</vt:lpstr>
      <vt:lpstr>Lucida Console</vt:lpstr>
      <vt:lpstr>마루 부리OTF 굵은</vt:lpstr>
      <vt:lpstr>Arial</vt:lpstr>
      <vt:lpstr>내용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최철민</dc:creator>
  <cp:lastModifiedBy>김태우</cp:lastModifiedBy>
  <cp:revision>144</cp:revision>
  <dcterms:created xsi:type="dcterms:W3CDTF">2023-01-29T15:02:12Z</dcterms:created>
  <dcterms:modified xsi:type="dcterms:W3CDTF">2026-03-16T09:44:29Z</dcterms:modified>
</cp:coreProperties>
</file>